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eg" ContentType="image/jpeg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_rels/.rels" ContentType="application/vnd.openxmlformats-package.relationships+xml"/>
  <Override PartName="/ppt/presentation.xml" ContentType="application/vnd.openxmlformats-officedocument.presentationml.presentation.main+xml"/>
  <Override PartName="/ppt/presProps.xml" ContentType="application/vnd.openxmlformats-officedocument.presentationml.presProps+xml"/>
  <Override PartName="/ppt/theme/theme1.xml" ContentType="application/vnd.openxmlformats-officedocument.theme+xml"/>
  <Override PartName="/ppt/theme/theme2.xml" ContentType="application/vnd.openxmlformats-officedocument.theme+xml"/>
  <Override PartName="/ppt/notesMasters/_rels/notesMaster1.xml.rels" ContentType="application/vnd.openxmlformats-package.relationships+xml"/>
  <Override PartName="/ppt/notesMasters/notesMaster1.xml" ContentType="application/vnd.openxmlformats-officedocument.presentationml.notesMaster+xml"/>
  <Override PartName="/ppt/slideMasters/_rels/slideMaster1.xml.rels" ContentType="application/vnd.openxmlformats-package.relationships+xml"/>
  <Override PartName="/ppt/slideMasters/slideMaster1.xml" ContentType="application/vnd.openxmlformats-officedocument.presentationml.slideMaster+xml"/>
  <Override PartName="/ppt/_rels/presentation.xml.rels" ContentType="application/vnd.openxmlformats-package.relationships+xml"/>
  <Override PartName="/ppt/slideLayouts/_rels/slideLayout1.xml.rels" ContentType="application/vnd.openxmlformats-package.relationships+xml"/>
  <Override PartName="/ppt/slideLayouts/slideLayout1.xml" ContentType="application/vnd.openxmlformats-officedocument.presentationml.slideLayout+xml"/>
  <Override PartName="/ppt/media/image1.png" ContentType="image/png"/>
  <Override PartName="/ppt/media/image4.png" ContentType="image/png"/>
  <Override PartName="/ppt/media/image12.png" ContentType="image/png"/>
  <Override PartName="/ppt/media/image5.png" ContentType="image/png"/>
  <Override PartName="/ppt/media/image13.png" ContentType="image/png"/>
  <Override PartName="/ppt/media/image6.png" ContentType="image/png"/>
  <Override PartName="/ppt/media/image14.png" ContentType="image/png"/>
  <Override PartName="/ppt/media/image7.png" ContentType="image/png"/>
  <Override PartName="/ppt/media/image15.png" ContentType="image/png"/>
  <Override PartName="/ppt/media/image16.png" ContentType="image/png"/>
  <Override PartName="/ppt/media/image8.png" ContentType="image/png"/>
  <Override PartName="/ppt/media/image10.png" ContentType="image/png"/>
  <Override PartName="/ppt/media/image2.png" ContentType="image/png"/>
  <Override PartName="/ppt/media/image17.png" ContentType="image/png"/>
  <Override PartName="/ppt/media/image9.png" ContentType="image/png"/>
  <Override PartName="/ppt/media/image11.png" ContentType="image/png"/>
  <Override PartName="/ppt/media/image3.png" ContentType="image/png"/>
  <Override PartName="/ppt/media/image18.png" ContentType="image/png"/>
  <Override PartName="/ppt/media/image19.png" ContentType="image/png"/>
  <Override PartName="/ppt/media/image20.png" ContentType="image/png"/>
  <Override PartName="/ppt/slides/slide1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17.xml" ContentType="application/vnd.openxmlformats-officedocument.presentationml.slide+xml"/>
  <Override PartName="/ppt/slides/slide10.xml" ContentType="application/vnd.openxmlformats-officedocument.presentationml.slide+xml"/>
  <Override PartName="/ppt/slides/slide3.xml" ContentType="application/vnd.openxmlformats-officedocument.presentationml.slide+xml"/>
  <Override PartName="/ppt/slides/slide18.xml" ContentType="application/vnd.openxmlformats-officedocument.presentationml.slide+xml"/>
  <Override PartName="/ppt/slides/slide11.xml" ContentType="application/vnd.openxmlformats-officedocument.presentationml.slide+xml"/>
  <Override PartName="/ppt/slides/slide4.xml" ContentType="application/vnd.openxmlformats-officedocument.presentationml.slide+xml"/>
  <Override PartName="/ppt/slides/slide19.xml" ContentType="application/vnd.openxmlformats-officedocument.presentationml.slide+xml"/>
  <Override PartName="/ppt/slides/slide8.xml" ContentType="application/vnd.openxmlformats-officedocument.presentationml.slide+xml"/>
  <Override PartName="/ppt/slides/slide20.xml" ContentType="application/vnd.openxmlformats-officedocument.presentationml.slide+xml"/>
  <Override PartName="/ppt/slides/slide9.xml" ContentType="application/vnd.openxmlformats-officedocument.presentationml.slide+xml"/>
  <Override PartName="/ppt/slides/slide12.xml" ContentType="application/vnd.openxmlformats-officedocument.presentationml.slide+xml"/>
  <Override PartName="/ppt/slides/slide6.xml" ContentType="application/vnd.openxmlformats-officedocument.presentationml.slide+xml"/>
  <Override PartName="/ppt/slides/slide14.xml" ContentType="application/vnd.openxmlformats-officedocument.presentationml.slide+xml"/>
  <Override PartName="/ppt/slides/slide7.xml" ContentType="application/vnd.openxmlformats-officedocument.presentationml.slide+xml"/>
  <Override PartName="/ppt/slides/slide21.xml" ContentType="application/vnd.openxmlformats-officedocument.presentationml.slide+xml"/>
  <Override PartName="/ppt/slides/slide15.xml" ContentType="application/vnd.openxmlformats-officedocument.presentationml.slide+xml"/>
  <Override PartName="/ppt/slides/slide5.xml" ContentType="application/vnd.openxmlformats-officedocument.presentationml.slide+xml"/>
  <Override PartName="/ppt/slides/_rels/slide13.xml.rels" ContentType="application/vnd.openxmlformats-package.relationships+xml"/>
  <Override PartName="/ppt/slides/_rels/slide15.xml.rels" ContentType="application/vnd.openxmlformats-package.relationships+xml"/>
  <Override PartName="/ppt/slides/_rels/slide21.xml.rels" ContentType="application/vnd.openxmlformats-package.relationships+xml"/>
  <Override PartName="/ppt/slides/_rels/slide4.xml.rels" ContentType="application/vnd.openxmlformats-package.relationships+xml"/>
  <Override PartName="/ppt/slides/_rels/slide14.xml.rels" ContentType="application/vnd.openxmlformats-package.relationships+xml"/>
  <Override PartName="/ppt/slides/_rels/slide20.xml.rels" ContentType="application/vnd.openxmlformats-package.relationships+xml"/>
  <Override PartName="/ppt/slides/_rels/slide3.xml.rels" ContentType="application/vnd.openxmlformats-package.relationships+xml"/>
  <Override PartName="/ppt/slides/_rels/slide12.xml.rels" ContentType="application/vnd.openxmlformats-package.relationships+xml"/>
  <Override PartName="/ppt/slides/_rels/slide9.xml.rels" ContentType="application/vnd.openxmlformats-package.relationships+xml"/>
  <Override PartName="/ppt/slides/_rels/slide8.xml.rels" ContentType="application/vnd.openxmlformats-package.relationships+xml"/>
  <Override PartName="/ppt/slides/_rels/slide6.xml.rels" ContentType="application/vnd.openxmlformats-package.relationships+xml"/>
  <Override PartName="/ppt/slides/_rels/slide5.xml.rels" ContentType="application/vnd.openxmlformats-package.relationships+xml"/>
  <Override PartName="/ppt/slides/_rels/slide19.xml.rels" ContentType="application/vnd.openxmlformats-package.relationships+xml"/>
  <Override PartName="/ppt/slides/_rels/slide11.xml.rels" ContentType="application/vnd.openxmlformats-package.relationships+xml"/>
  <Override PartName="/ppt/slides/_rels/slide18.xml.rels" ContentType="application/vnd.openxmlformats-package.relationships+xml"/>
  <Override PartName="/ppt/slides/_rels/slide17.xml.rels" ContentType="application/vnd.openxmlformats-package.relationships+xml"/>
  <Override PartName="/ppt/slides/_rels/slide2.xml.rels" ContentType="application/vnd.openxmlformats-package.relationships+xml"/>
  <Override PartName="/ppt/slides/_rels/slide16.xml.rels" ContentType="application/vnd.openxmlformats-package.relationships+xml"/>
  <Override PartName="/ppt/slides/_rels/slide7.xml.rels" ContentType="application/vnd.openxmlformats-package.relationships+xml"/>
  <Override PartName="/ppt/slides/_rels/slide10.xml.rels" ContentType="application/vnd.openxmlformats-package.relationships+xml"/>
  <Override PartName="/ppt/slides/_rels/slide1.xml.rels" ContentType="application/vnd.openxmlformats-package.relationships+xml"/>
  <Override PartName="/ppt/slides/slide13.xml" ContentType="application/vnd.openxmlformats-officedocument.presentationml.slide+xml"/>
  <Override PartName="/ppt/notesSlides/notesSlide1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_rels/notesSlide20.xml.rels" ContentType="application/vnd.openxmlformats-package.relationships+xml"/>
  <Override PartName="/ppt/notesSlides/_rels/notesSlide1.xml.rels" ContentType="application/vnd.openxmlformats-package.relationships+xml"/>
  <Override PartName="/ppt/notesSlides/_rels/notesSlide14.xml.rels" ContentType="application/vnd.openxmlformats-package.relationships+xml"/>
  <Override PartName="/ppt/notesSlides/_rels/notesSlide17.xml.rels" ContentType="application/vnd.openxmlformats-package.relationships+xml"/>
  <Override PartName="/ppt/notesSlides/_rels/notesSlide19.xml.rels" ContentType="application/vnd.openxmlformats-package.relationships+xml"/>
  <Override PartName="/ppt/notesSlides/_rels/notesSlide18.xml.rels" ContentType="application/vnd.openxmlformats-package.relationships+xml"/>
  <Override PartName="/ppt/notesSlides/_rels/notesSlide16.xml.rels" ContentType="application/vnd.openxmlformats-package.relationships+xml"/>
  <Override PartName="/ppt/notesSlides/_rels/notesSlide15.xml.rels" ContentType="application/vnd.openxmlformats-package.relationships+xml"/>
  <Override PartName="/ppt/notesSlides/_rels/notesSlide13.xml.rels" ContentType="application/vnd.openxmlformats-package.relationships+xml"/>
  <Override PartName="/ppt/notesSlides/_rels/notesSlide12.xml.rels" ContentType="application/vnd.openxmlformats-package.relationships+xml"/>
  <Override PartName="/ppt/notesSlides/_rels/notesSlide10.xml.rels" ContentType="application/vnd.openxmlformats-package.relationships+xml"/>
  <Override PartName="/ppt/notesSlides/_rels/notesSlide9.xml.rels" ContentType="application/vnd.openxmlformats-package.relationships+xml"/>
  <Override PartName="/ppt/notesSlides/_rels/notesSlide8.xml.rels" ContentType="application/vnd.openxmlformats-package.relationships+xml"/>
  <Override PartName="/ppt/notesSlides/_rels/notesSlide7.xml.rels" ContentType="application/vnd.openxmlformats-package.relationships+xml"/>
  <Override PartName="/ppt/notesSlides/_rels/notesSlide6.xml.rels" ContentType="application/vnd.openxmlformats-package.relationships+xml"/>
  <Override PartName="/ppt/notesSlides/_rels/notesSlide5.xml.rels" ContentType="application/vnd.openxmlformats-package.relationships+xml"/>
  <Override PartName="/ppt/notesSlides/_rels/notesSlide4.xml.rels" ContentType="application/vnd.openxmlformats-package.relationships+xml"/>
  <Override PartName="/ppt/notesSlides/_rels/notesSlide2.xml.rels" ContentType="application/vnd.openxmlformats-package.relationships+xml"/>
  <Override PartName="/ppt/notesSlides/_rels/notesSlide21.xml.rels" ContentType="application/vnd.openxmlformats-package.relationships+xml"/>
  <Override PartName="/ppt/notesSlides/_rels/notesSlide3.xml.rels" ContentType="application/vnd.openxmlformats-package.relationships+xml"/>
  <Override PartName="/ppt/notesSlides/_rels/notesSlide11.xml.rels" ContentType="application/vnd.openxmlformats-package.relationships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20.xml" ContentType="application/vnd.openxmlformats-officedocument.presentationml.notesSlide+xml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custom-properties" Target="docProps/custom.xml"/><Relationship Id="rId4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sldMasterIdLst>
    <p:sldMasterId id="2147483648" r:id="rId2"/>
  </p:sldMasterIdLst>
  <p:notesMasterIdLst>
    <p:notesMasterId r:id="rId3"/>
  </p:notesMasterIdLst>
  <p:sldIdLst>
    <p:sldId id="256" r:id="rId4"/>
    <p:sldId id="257" r:id="rId5"/>
    <p:sldId id="258" r:id="rId6"/>
    <p:sldId id="259" r:id="rId7"/>
    <p:sldId id="260" r:id="rId8"/>
    <p:sldId id="261" r:id="rId9"/>
    <p:sldId id="262" r:id="rId10"/>
    <p:sldId id="263" r:id="rId11"/>
    <p:sldId id="264" r:id="rId12"/>
    <p:sldId id="265" r:id="rId13"/>
    <p:sldId id="266" r:id="rId14"/>
    <p:sldId id="267" r:id="rId15"/>
    <p:sldId id="268" r:id="rId16"/>
    <p:sldId id="269" r:id="rId17"/>
    <p:sldId id="270" r:id="rId18"/>
    <p:sldId id="271" r:id="rId19"/>
    <p:sldId id="272" r:id="rId20"/>
    <p:sldId id="273" r:id="rId21"/>
    <p:sldId id="274" r:id="rId22"/>
    <p:sldId id="275" r:id="rId23"/>
    <p:sldId id="276" r:id="rId24"/>
  </p:sldIdLst>
  <p:sldSz cx="12192000" cy="6858000"/>
  <p:notesSz cx="6858000" cy="12192000"/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/>
</p:presentationPr>
</file>

<file path=ppt/_rels/presentation.xml.rels><?xml version="1.0" encoding="UTF-8"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notesMaster" Target="notesMasters/notesMaster1.xml"/><Relationship Id="rId4" Type="http://schemas.openxmlformats.org/officeDocument/2006/relationships/slide" Target="slides/slide1.xml"/><Relationship Id="rId5" Type="http://schemas.openxmlformats.org/officeDocument/2006/relationships/slide" Target="slides/slide2.xml"/><Relationship Id="rId6" Type="http://schemas.openxmlformats.org/officeDocument/2006/relationships/slide" Target="slides/slide3.xml"/><Relationship Id="rId7" Type="http://schemas.openxmlformats.org/officeDocument/2006/relationships/slide" Target="slides/slide4.xml"/><Relationship Id="rId8" Type="http://schemas.openxmlformats.org/officeDocument/2006/relationships/slide" Target="slides/slide5.xml"/><Relationship Id="rId9" Type="http://schemas.openxmlformats.org/officeDocument/2006/relationships/slide" Target="slides/slide6.xml"/><Relationship Id="rId10" Type="http://schemas.openxmlformats.org/officeDocument/2006/relationships/slide" Target="slides/slide7.xml"/><Relationship Id="rId11" Type="http://schemas.openxmlformats.org/officeDocument/2006/relationships/slide" Target="slides/slide8.xml"/><Relationship Id="rId12" Type="http://schemas.openxmlformats.org/officeDocument/2006/relationships/slide" Target="slides/slide9.xml"/><Relationship Id="rId13" Type="http://schemas.openxmlformats.org/officeDocument/2006/relationships/slide" Target="slides/slide10.xml"/><Relationship Id="rId14" Type="http://schemas.openxmlformats.org/officeDocument/2006/relationships/slide" Target="slides/slide11.xml"/><Relationship Id="rId15" Type="http://schemas.openxmlformats.org/officeDocument/2006/relationships/slide" Target="slides/slide12.xml"/><Relationship Id="rId16" Type="http://schemas.openxmlformats.org/officeDocument/2006/relationships/slide" Target="slides/slide13.xml"/><Relationship Id="rId17" Type="http://schemas.openxmlformats.org/officeDocument/2006/relationships/slide" Target="slides/slide14.xml"/><Relationship Id="rId18" Type="http://schemas.openxmlformats.org/officeDocument/2006/relationships/slide" Target="slides/slide15.xml"/><Relationship Id="rId19" Type="http://schemas.openxmlformats.org/officeDocument/2006/relationships/slide" Target="slides/slide16.xml"/><Relationship Id="rId20" Type="http://schemas.openxmlformats.org/officeDocument/2006/relationships/slide" Target="slides/slide17.xml"/><Relationship Id="rId21" Type="http://schemas.openxmlformats.org/officeDocument/2006/relationships/slide" Target="slides/slide18.xml"/><Relationship Id="rId22" Type="http://schemas.openxmlformats.org/officeDocument/2006/relationships/slide" Target="slides/slide19.xml"/><Relationship Id="rId23" Type="http://schemas.openxmlformats.org/officeDocument/2006/relationships/slide" Target="slides/slide20.xml"/><Relationship Id="rId24" Type="http://schemas.openxmlformats.org/officeDocument/2006/relationships/slide" Target="slides/slide21.xml"/><Relationship Id="rId25" Type="http://schemas.openxmlformats.org/officeDocument/2006/relationships/presProps" Target="presProps.xml"/>
</Relationships>
</file>

<file path=ppt/notesMasters/_rels/notesMaster1.xml.rels><?xml version="1.0" encoding="UTF-8"?>
<Relationships xmlns="http://schemas.openxmlformats.org/package/2006/relationships"><Relationship Id="rId1" Type="http://schemas.openxmlformats.org/officeDocument/2006/relationships/theme" Target="../theme/theme2.xml"/>
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sldImg"/>
          </p:nvPr>
        </p:nvSpPr>
        <p:spPr>
          <a:xfrm>
            <a:off x="216000" y="812520"/>
            <a:ext cx="7127280" cy="4008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r>
              <a:rPr b="0" lang="en-TR" sz="18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Click to move the slide</a:t>
            </a:r>
            <a:endParaRPr b="0" lang="en-TR" sz="1800" strike="noStrike" u="non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body"/>
          </p:nvPr>
        </p:nvSpPr>
        <p:spPr>
          <a:xfrm>
            <a:off x="756000" y="5078520"/>
            <a:ext cx="6047640" cy="48110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indent="0">
              <a:buNone/>
            </a:pPr>
            <a:r>
              <a:rPr b="0" lang="en-TR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Clic</a:t>
            </a:r>
            <a:r>
              <a:rPr b="0" lang="en-TR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k to </a:t>
            </a:r>
            <a:r>
              <a:rPr b="0" lang="en-TR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edit </a:t>
            </a:r>
            <a:r>
              <a:rPr b="0" lang="en-TR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the </a:t>
            </a:r>
            <a:r>
              <a:rPr b="0" lang="en-TR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note</a:t>
            </a:r>
            <a:r>
              <a:rPr b="0" lang="en-TR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 </a:t>
            </a:r>
            <a:r>
              <a:rPr b="0" lang="en-TR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form</a:t>
            </a:r>
            <a:r>
              <a:rPr b="0" lang="en-TR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at</a:t>
            </a:r>
            <a:endParaRPr b="0" lang="en-TR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hdr"/>
          </p:nvPr>
        </p:nvSpPr>
        <p:spPr>
          <a:xfrm>
            <a:off x="0" y="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indent="0">
              <a:buNone/>
            </a:pPr>
            <a:r>
              <a:rPr b="0" lang="en-TR" sz="1400" strike="noStrike" u="none">
                <a:solidFill>
                  <a:srgbClr val="000000"/>
                </a:solidFill>
                <a:effectLst/>
                <a:uFillTx/>
                <a:latin typeface="Times New Roman"/>
              </a:rPr>
              <a:t> </a:t>
            </a:r>
            <a:endParaRPr b="0" lang="en-TR" sz="1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dt" idx="1"/>
          </p:nvPr>
        </p:nvSpPr>
        <p:spPr>
          <a:xfrm>
            <a:off x="4278960" y="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lstStyle>
            <a:lvl1pPr indent="0" algn="r">
              <a:buNone/>
              <a:defRPr b="0" lang="en-TR" sz="1400" strike="noStrike" u="non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buNone/>
            </a:pPr>
            <a:r>
              <a:rPr b="0" lang="en-TR" sz="1400" strike="noStrike" u="none">
                <a:solidFill>
                  <a:srgbClr val="000000"/>
                </a:solidFill>
                <a:effectLst/>
                <a:uFillTx/>
                <a:latin typeface="Times New Roman"/>
              </a:rPr>
              <a:t> </a:t>
            </a:r>
            <a:endParaRPr b="0" lang="en-TR" sz="1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2"/>
          </p:nvPr>
        </p:nvSpPr>
        <p:spPr>
          <a:xfrm>
            <a:off x="0" y="1015740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 indent="0">
              <a:buNone/>
              <a:defRPr b="0" lang="en-TR" sz="1400" strike="noStrike" u="non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>
              <a:buNone/>
            </a:pPr>
            <a:r>
              <a:rPr b="0" lang="en-TR" sz="1400" strike="noStrike" u="none">
                <a:solidFill>
                  <a:srgbClr val="000000"/>
                </a:solidFill>
                <a:effectLst/>
                <a:uFillTx/>
                <a:latin typeface="Times New Roman"/>
              </a:rPr>
              <a:t> </a:t>
            </a:r>
            <a:endParaRPr b="0" lang="en-TR" sz="1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" name="PlaceHolder 6"/>
          <p:cNvSpPr>
            <a:spLocks noGrp="1"/>
          </p:cNvSpPr>
          <p:nvPr>
            <p:ph type="sldNum" idx="3"/>
          </p:nvPr>
        </p:nvSpPr>
        <p:spPr>
          <a:xfrm>
            <a:off x="4278960" y="1015740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 indent="0" algn="r">
              <a:buNone/>
              <a:defRPr b="0" lang="en-TR" sz="1400" strike="noStrike" u="non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buNone/>
            </a:pPr>
            <a:fld id="{51A4383C-2428-4539-A433-DB647C49D104}" type="slidenum">
              <a:rPr b="0" lang="en-TR" sz="1400" strike="noStrike" u="none">
                <a:solidFill>
                  <a:srgbClr val="000000"/>
                </a:solidFill>
                <a:effectLst/>
                <a:uFillTx/>
                <a:latin typeface="Times New Roman"/>
              </a:rPr>
              <a:t>1</a:t>
            </a:fld>
            <a:endParaRPr b="0" lang="en-TR" sz="1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</p:notesMaster>
</file>

<file path=ppt/notesSlides/_rels/notesSlide1.xml.rels><?xml version="1.0" encoding="UTF-8"?>
<Relationships xmlns="http://schemas.openxmlformats.org/package/2006/relationships"><Relationship Id="rId1" Type="http://schemas.openxmlformats.org/officeDocument/2006/relationships/slide" Target="../slides/slide1.xml"/><Relationship Id="rId2" Type="http://schemas.openxmlformats.org/officeDocument/2006/relationships/notesMaster" Target="../notesMasters/notesMaster1.xml"/>
</Relationships>
</file>

<file path=ppt/notesSlides/_rels/notesSlide2.xml.rels><?xml version="1.0" encoding="UTF-8"?>
<Relationships xmlns="http://schemas.openxmlformats.org/package/2006/relationships"><Relationship Id="rId1" Type="http://schemas.openxmlformats.org/officeDocument/2006/relationships/slide" Target="../slides/slide2.xml"/><Relationship Id="rId2" Type="http://schemas.openxmlformats.org/officeDocument/2006/relationships/notesMaster" Target="../notesMasters/notesMaster1.xml"/>
</Relationships>
</file>

<file path=ppt/notesSlides/_rels/notesSlide3.xml.rels><?xml version="1.0" encoding="UTF-8"?>
<Relationships xmlns="http://schemas.openxmlformats.org/package/2006/relationships"><Relationship Id="rId1" Type="http://schemas.openxmlformats.org/officeDocument/2006/relationships/slide" Target="../slides/slide3.xml"/><Relationship Id="rId2" Type="http://schemas.openxmlformats.org/officeDocument/2006/relationships/notesMaster" Target="../notesMasters/notesMaster1.xml"/>
</Relationships>
</file>

<file path=ppt/notesSlides/_rels/notesSlide4.xml.rels><?xml version="1.0" encoding="UTF-8"?>
<Relationships xmlns="http://schemas.openxmlformats.org/package/2006/relationships"><Relationship Id="rId1" Type="http://schemas.openxmlformats.org/officeDocument/2006/relationships/slide" Target="../slides/slide4.xml"/><Relationship Id="rId2" Type="http://schemas.openxmlformats.org/officeDocument/2006/relationships/notesMaster" Target="../notesMasters/notesMaster1.xml"/>
</Relationships>
</file>

<file path=ppt/notesSlides/_rels/notesSlide5.xml.rels><?xml version="1.0" encoding="UTF-8"?>
<Relationships xmlns="http://schemas.openxmlformats.org/package/2006/relationships"><Relationship Id="rId1" Type="http://schemas.openxmlformats.org/officeDocument/2006/relationships/slide" Target="../slides/slide5.xml"/><Relationship Id="rId2" Type="http://schemas.openxmlformats.org/officeDocument/2006/relationships/notesMaster" Target="../notesMasters/notesMaster1.xml"/>
</Relationships>
</file>

<file path=ppt/notesSlides/_rels/notesSlide6.xml.rels><?xml version="1.0" encoding="UTF-8"?>
<Relationships xmlns="http://schemas.openxmlformats.org/package/2006/relationships"><Relationship Id="rId1" Type="http://schemas.openxmlformats.org/officeDocument/2006/relationships/slide" Target="../slides/slide6.xml"/><Relationship Id="rId2" Type="http://schemas.openxmlformats.org/officeDocument/2006/relationships/notesMaster" Target="../notesMasters/notesMaster1.xml"/>
</Relationships>
</file>

<file path=ppt/notesSlides/_rels/notesSlide7.xml.rels><?xml version="1.0" encoding="UTF-8"?>
<Relationships xmlns="http://schemas.openxmlformats.org/package/2006/relationships"><Relationship Id="rId1" Type="http://schemas.openxmlformats.org/officeDocument/2006/relationships/slide" Target="../slides/slide7.xml"/><Relationship Id="rId2" Type="http://schemas.openxmlformats.org/officeDocument/2006/relationships/notesMaster" Target="../notesMasters/notesMaster1.xml"/>
</Relationships>
</file>

<file path=ppt/notesSlides/_rels/notesSlide8.xml.rels><?xml version="1.0" encoding="UTF-8"?>
<Relationships xmlns="http://schemas.openxmlformats.org/package/2006/relationships"><Relationship Id="rId1" Type="http://schemas.openxmlformats.org/officeDocument/2006/relationships/slide" Target="../slides/slide8.xml"/><Relationship Id="rId2" Type="http://schemas.openxmlformats.org/officeDocument/2006/relationships/notesMaster" Target="../notesMasters/notesMaster1.xml"/>
</Relationships>
</file>

<file path=ppt/notesSlides/_rels/notesSlide9.xml.rels><?xml version="1.0" encoding="UTF-8"?>
<Relationships xmlns="http://schemas.openxmlformats.org/package/2006/relationships"><Relationship Id="rId1" Type="http://schemas.openxmlformats.org/officeDocument/2006/relationships/slide" Target="../slides/slide9.xml"/><Relationship Id="rId2" Type="http://schemas.openxmlformats.org/officeDocument/2006/relationships/notesMaster" Target="../notesMasters/notesMaster1.xml"/>
</Relationships>
</file>

<file path=ppt/notesSlides/_rels/notesSlide10.xml.rels><?xml version="1.0" encoding="UTF-8"?>
<Relationships xmlns="http://schemas.openxmlformats.org/package/2006/relationships"><Relationship Id="rId1" Type="http://schemas.openxmlformats.org/officeDocument/2006/relationships/slide" Target="../slides/slide10.xml"/><Relationship Id="rId2" Type="http://schemas.openxmlformats.org/officeDocument/2006/relationships/notesMaster" Target="../notesMasters/notesMaster1.xml"/>
</Relationships>
</file>

<file path=ppt/notesSlides/_rels/notesSlide11.xml.rels><?xml version="1.0" encoding="UTF-8"?>
<Relationships xmlns="http://schemas.openxmlformats.org/package/2006/relationships"><Relationship Id="rId1" Type="http://schemas.openxmlformats.org/officeDocument/2006/relationships/slide" Target="../slides/slide11.xml"/><Relationship Id="rId2" Type="http://schemas.openxmlformats.org/officeDocument/2006/relationships/notesMaster" Target="../notesMasters/notesMaster1.xml"/>
</Relationships>
</file>

<file path=ppt/notesSlides/_rels/notesSlide12.xml.rels><?xml version="1.0" encoding="UTF-8"?>
<Relationships xmlns="http://schemas.openxmlformats.org/package/2006/relationships"><Relationship Id="rId1" Type="http://schemas.openxmlformats.org/officeDocument/2006/relationships/slide" Target="../slides/slide12.xml"/><Relationship Id="rId2" Type="http://schemas.openxmlformats.org/officeDocument/2006/relationships/notesMaster" Target="../notesMasters/notesMaster1.xml"/>
</Relationships>
</file>

<file path=ppt/notesSlides/_rels/notesSlide13.xml.rels><?xml version="1.0" encoding="UTF-8"?>
<Relationships xmlns="http://schemas.openxmlformats.org/package/2006/relationships"><Relationship Id="rId1" Type="http://schemas.openxmlformats.org/officeDocument/2006/relationships/slide" Target="../slides/slide13.xml"/><Relationship Id="rId2" Type="http://schemas.openxmlformats.org/officeDocument/2006/relationships/notesMaster" Target="../notesMasters/notesMaster1.xml"/>
</Relationships>
</file>

<file path=ppt/notesSlides/_rels/notesSlide14.xml.rels><?xml version="1.0" encoding="UTF-8"?>
<Relationships xmlns="http://schemas.openxmlformats.org/package/2006/relationships"><Relationship Id="rId1" Type="http://schemas.openxmlformats.org/officeDocument/2006/relationships/slide" Target="../slides/slide14.xml"/><Relationship Id="rId2" Type="http://schemas.openxmlformats.org/officeDocument/2006/relationships/notesMaster" Target="../notesMasters/notesMaster1.xml"/>
</Relationships>
</file>

<file path=ppt/notesSlides/_rels/notesSlide15.xml.rels><?xml version="1.0" encoding="UTF-8"?>
<Relationships xmlns="http://schemas.openxmlformats.org/package/2006/relationships"><Relationship Id="rId1" Type="http://schemas.openxmlformats.org/officeDocument/2006/relationships/slide" Target="../slides/slide15.xml"/><Relationship Id="rId2" Type="http://schemas.openxmlformats.org/officeDocument/2006/relationships/notesMaster" Target="../notesMasters/notesMaster1.xml"/>
</Relationships>
</file>

<file path=ppt/notesSlides/_rels/notesSlide16.xml.rels><?xml version="1.0" encoding="UTF-8"?>
<Relationships xmlns="http://schemas.openxmlformats.org/package/2006/relationships"><Relationship Id="rId1" Type="http://schemas.openxmlformats.org/officeDocument/2006/relationships/slide" Target="../slides/slide16.xml"/><Relationship Id="rId2" Type="http://schemas.openxmlformats.org/officeDocument/2006/relationships/notesMaster" Target="../notesMasters/notesMaster1.xml"/>
</Relationships>
</file>

<file path=ppt/notesSlides/_rels/notesSlide17.xml.rels><?xml version="1.0" encoding="UTF-8"?>
<Relationships xmlns="http://schemas.openxmlformats.org/package/2006/relationships"><Relationship Id="rId1" Type="http://schemas.openxmlformats.org/officeDocument/2006/relationships/slide" Target="../slides/slide17.xml"/><Relationship Id="rId2" Type="http://schemas.openxmlformats.org/officeDocument/2006/relationships/notesMaster" Target="../notesMasters/notesMaster1.xml"/>
</Relationships>
</file>

<file path=ppt/notesSlides/_rels/notesSlide18.xml.rels><?xml version="1.0" encoding="UTF-8"?>
<Relationships xmlns="http://schemas.openxmlformats.org/package/2006/relationships"><Relationship Id="rId1" Type="http://schemas.openxmlformats.org/officeDocument/2006/relationships/slide" Target="../slides/slide18.xml"/><Relationship Id="rId2" Type="http://schemas.openxmlformats.org/officeDocument/2006/relationships/notesMaster" Target="../notesMasters/notesMaster1.xml"/>
</Relationships>
</file>

<file path=ppt/notesSlides/_rels/notesSlide19.xml.rels><?xml version="1.0" encoding="UTF-8"?>
<Relationships xmlns="http://schemas.openxmlformats.org/package/2006/relationships"><Relationship Id="rId1" Type="http://schemas.openxmlformats.org/officeDocument/2006/relationships/slide" Target="../slides/slide19.xml"/><Relationship Id="rId2" Type="http://schemas.openxmlformats.org/officeDocument/2006/relationships/notesMaster" Target="../notesMasters/notesMaster1.xml"/>
</Relationships>
</file>

<file path=ppt/notesSlides/_rels/notesSlide20.xml.rels><?xml version="1.0" encoding="UTF-8"?>
<Relationships xmlns="http://schemas.openxmlformats.org/package/2006/relationships"><Relationship Id="rId1" Type="http://schemas.openxmlformats.org/officeDocument/2006/relationships/slide" Target="../slides/slide20.xml"/><Relationship Id="rId2" Type="http://schemas.openxmlformats.org/officeDocument/2006/relationships/notesMaster" Target="../notesMasters/notesMaster1.xml"/>
</Relationships>
</file>

<file path=ppt/notesSlides/_rels/notesSlide21.xml.rels><?xml version="1.0" encoding="UTF-8"?>
<Relationships xmlns="http://schemas.openxmlformats.org/package/2006/relationships"><Relationship Id="rId1" Type="http://schemas.openxmlformats.org/officeDocument/2006/relationships/slide" Target="../slides/slide21.xml"/><Relationship Id="rId2" Type="http://schemas.openxmlformats.org/officeDocument/2006/relationships/notesMaster" Target="../notesMasters/notesMaster1.xml"/>
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6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527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>
              <a:buNone/>
            </a:pPr>
            <a:endParaRPr b="0" lang="en-TR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28" name="PlaceHolder 3"/>
          <p:cNvSpPr>
            <a:spLocks noGrp="1"/>
          </p:cNvSpPr>
          <p:nvPr>
            <p:ph type="sldNum" idx="4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b="0" lang="en-US" sz="1200" strike="noStrike" u="non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8FFA7D0C-E4FF-425E-A42B-0E04BED29F85}" type="slidenum">
              <a:rPr b="0" lang="en-US" sz="1200" strike="noStrike" u="non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b="0" lang="en-TR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9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530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>
              <a:buNone/>
            </a:pPr>
            <a:endParaRPr b="0" lang="en-TR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31" name="PlaceHolder 3"/>
          <p:cNvSpPr>
            <a:spLocks noGrp="1"/>
          </p:cNvSpPr>
          <p:nvPr>
            <p:ph type="sldNum" idx="5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b="0" lang="en-US" sz="1200" strike="noStrike" u="non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3E6638A5-731D-40C3-9504-CA5D662A33DA}" type="slidenum">
              <a:rPr b="0" lang="en-US" sz="1200" strike="noStrike" u="non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b="0" lang="en-TR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2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533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>
              <a:buNone/>
            </a:pPr>
            <a:endParaRPr b="0" lang="en-TR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34" name="PlaceHolder 3"/>
          <p:cNvSpPr>
            <a:spLocks noGrp="1"/>
          </p:cNvSpPr>
          <p:nvPr>
            <p:ph type="sldNum" idx="6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b="0" lang="en-US" sz="1200" strike="noStrike" u="non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0AB73798-995B-4191-83D4-F2CA455F1C30}" type="slidenum">
              <a:rPr b="0" lang="en-US" sz="1200" strike="noStrike" u="non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b="0" lang="en-TR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5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536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>
              <a:buNone/>
            </a:pPr>
            <a:endParaRPr b="0" lang="en-TR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37" name="PlaceHolder 3"/>
          <p:cNvSpPr>
            <a:spLocks noGrp="1"/>
          </p:cNvSpPr>
          <p:nvPr>
            <p:ph type="sldNum" idx="7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b="0" lang="en-US" sz="1200" strike="noStrike" u="non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C47C77CB-4856-4BDD-BF2D-4A9495ED9748}" type="slidenum">
              <a:rPr b="0" lang="en-US" sz="1200" strike="noStrike" u="non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b="0" lang="en-TR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8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539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>
              <a:buNone/>
            </a:pPr>
            <a:endParaRPr b="0" lang="en-TR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40" name="PlaceHolder 3"/>
          <p:cNvSpPr>
            <a:spLocks noGrp="1"/>
          </p:cNvSpPr>
          <p:nvPr>
            <p:ph type="sldNum" idx="8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b="0" lang="en-US" sz="1200" strike="noStrike" u="non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4979D672-B437-4BC2-93E0-1AB11F2A44BB}" type="slidenum">
              <a:rPr b="0" lang="en-US" sz="1200" strike="noStrike" u="non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b="0" lang="en-TR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1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542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>
              <a:buNone/>
            </a:pPr>
            <a:endParaRPr b="0" lang="en-TR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43" name="PlaceHolder 3"/>
          <p:cNvSpPr>
            <a:spLocks noGrp="1"/>
          </p:cNvSpPr>
          <p:nvPr>
            <p:ph type="sldNum" idx="9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b="0" lang="en-US" sz="1200" strike="noStrike" u="non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85CB8E6F-7F92-4BAB-AC65-C51800C34866}" type="slidenum">
              <a:rPr b="0" lang="en-US" sz="1200" strike="noStrike" u="non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b="0" lang="en-TR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4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545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>
              <a:buNone/>
            </a:pPr>
            <a:endParaRPr b="0" lang="en-TR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46" name="PlaceHolder 3"/>
          <p:cNvSpPr>
            <a:spLocks noGrp="1"/>
          </p:cNvSpPr>
          <p:nvPr>
            <p:ph type="sldNum" idx="10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b="0" lang="en-US" sz="1200" strike="noStrike" u="non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AD0693B6-6C46-4D43-8A8C-6DFB26E8C3FD}" type="slidenum">
              <a:rPr b="0" lang="en-US" sz="1200" strike="noStrike" u="non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b="0" lang="en-TR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7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548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>
              <a:buNone/>
            </a:pPr>
            <a:endParaRPr b="0" lang="en-TR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49" name="PlaceHolder 3"/>
          <p:cNvSpPr>
            <a:spLocks noGrp="1"/>
          </p:cNvSpPr>
          <p:nvPr>
            <p:ph type="sldNum" idx="11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b="0" lang="en-US" sz="1200" strike="noStrike" u="non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1B015AB2-6977-4A77-8BE4-04568D508B42}" type="slidenum">
              <a:rPr b="0" lang="en-US" sz="1200" strike="noStrike" u="non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b="0" lang="en-TR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0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551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>
              <a:buNone/>
            </a:pPr>
            <a:endParaRPr b="0" lang="en-TR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52" name="PlaceHolder 3"/>
          <p:cNvSpPr>
            <a:spLocks noGrp="1"/>
          </p:cNvSpPr>
          <p:nvPr>
            <p:ph type="sldNum" idx="12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b="0" lang="en-US" sz="1200" strike="noStrike" u="non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2CCFB830-BF89-42F7-AECA-8BB778C812E8}" type="slidenum">
              <a:rPr b="0" lang="en-US" sz="1200" strike="noStrike" u="non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b="0" lang="en-TR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3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554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>
              <a:buNone/>
            </a:pPr>
            <a:endParaRPr b="0" lang="en-TR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55" name="PlaceHolder 3"/>
          <p:cNvSpPr>
            <a:spLocks noGrp="1"/>
          </p:cNvSpPr>
          <p:nvPr>
            <p:ph type="sldNum" idx="13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b="0" lang="en-US" sz="1200" strike="noStrike" u="non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4F8D3931-6107-4114-9E43-520B923EEA02}" type="slidenum">
              <a:rPr b="0" lang="en-US" sz="1200" strike="noStrike" u="non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b="0" lang="en-TR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6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557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>
              <a:buNone/>
            </a:pPr>
            <a:endParaRPr b="0" lang="en-TR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58" name="PlaceHolder 3"/>
          <p:cNvSpPr>
            <a:spLocks noGrp="1"/>
          </p:cNvSpPr>
          <p:nvPr>
            <p:ph type="sldNum" idx="14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b="0" lang="en-US" sz="1200" strike="noStrike" u="non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8CB655B1-2F75-4566-916E-A04AFB9640CF}" type="slidenum">
              <a:rPr b="0" lang="en-US" sz="1200" strike="noStrike" u="non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b="0" lang="en-TR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9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560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>
              <a:buNone/>
            </a:pPr>
            <a:endParaRPr b="0" lang="en-TR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61" name="PlaceHolder 3"/>
          <p:cNvSpPr>
            <a:spLocks noGrp="1"/>
          </p:cNvSpPr>
          <p:nvPr>
            <p:ph type="sldNum" idx="15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b="0" lang="en-US" sz="1200" strike="noStrike" u="non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D066999A-3545-43A0-941E-0381B92DCFE6}" type="slidenum">
              <a:rPr b="0" lang="en-US" sz="1200" strike="noStrike" u="non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b="0" lang="en-TR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2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563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>
              <a:buNone/>
            </a:pPr>
            <a:endParaRPr b="0" lang="en-TR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64" name="PlaceHolder 3"/>
          <p:cNvSpPr>
            <a:spLocks noGrp="1"/>
          </p:cNvSpPr>
          <p:nvPr>
            <p:ph type="sldNum" idx="16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b="0" lang="en-US" sz="1200" strike="noStrike" u="non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00913127-C8C7-4569-8A66-7F4C584A9371}" type="slidenum">
              <a:rPr b="0" lang="en-US" sz="1200" strike="noStrike" u="non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b="0" lang="en-TR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5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566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>
              <a:buNone/>
            </a:pPr>
            <a:endParaRPr b="0" lang="en-TR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67" name="PlaceHolder 3"/>
          <p:cNvSpPr>
            <a:spLocks noGrp="1"/>
          </p:cNvSpPr>
          <p:nvPr>
            <p:ph type="sldNum" idx="17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b="0" lang="en-US" sz="1200" strike="noStrike" u="non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0D92BC6B-D064-491F-A137-CA966B6F4F6D}" type="slidenum">
              <a:rPr b="0" lang="en-US" sz="1200" strike="noStrike" u="non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b="0" lang="en-TR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8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569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>
              <a:buNone/>
            </a:pPr>
            <a:endParaRPr b="0" lang="en-TR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70" name="PlaceHolder 3"/>
          <p:cNvSpPr>
            <a:spLocks noGrp="1"/>
          </p:cNvSpPr>
          <p:nvPr>
            <p:ph type="sldNum" idx="18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b="0" lang="en-US" sz="1200" strike="noStrike" u="non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5BE3912E-9A1B-4B42-9229-EE885A72A9CE}" type="slidenum">
              <a:rPr b="0" lang="en-US" sz="1200" strike="noStrike" u="non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b="0" lang="en-TR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1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572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>
              <a:buNone/>
            </a:pPr>
            <a:endParaRPr b="0" lang="en-TR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73" name="PlaceHolder 3"/>
          <p:cNvSpPr>
            <a:spLocks noGrp="1"/>
          </p:cNvSpPr>
          <p:nvPr>
            <p:ph type="sldNum" idx="19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b="0" lang="en-US" sz="1200" strike="noStrike" u="non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E5F576D6-3AE1-439D-99D4-3220E3AEFA7B}" type="slidenum">
              <a:rPr b="0" lang="en-US" sz="1200" strike="noStrike" u="non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b="0" lang="en-TR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4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575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>
              <a:buNone/>
            </a:pPr>
            <a:endParaRPr b="0" lang="en-TR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76" name="PlaceHolder 3"/>
          <p:cNvSpPr>
            <a:spLocks noGrp="1"/>
          </p:cNvSpPr>
          <p:nvPr>
            <p:ph type="sldNum" idx="20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b="0" lang="en-US" sz="1200" strike="noStrike" u="non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BDCA7431-6CC3-4848-8D77-A57687382E0F}" type="slidenum">
              <a:rPr b="0" lang="en-US" sz="1200" strike="noStrike" u="non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b="0" lang="en-TR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7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578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>
              <a:buNone/>
            </a:pPr>
            <a:endParaRPr b="0" lang="en-TR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79" name="PlaceHolder 3"/>
          <p:cNvSpPr>
            <a:spLocks noGrp="1"/>
          </p:cNvSpPr>
          <p:nvPr>
            <p:ph type="sldNum" idx="21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b="0" lang="en-US" sz="1200" strike="noStrike" u="non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7C6F4F88-1387-45BE-A260-AAAFC08BF7E7}" type="slidenum">
              <a:rPr b="0" lang="en-US" sz="1200" strike="noStrike" u="non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b="0" lang="en-TR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0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581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>
              <a:buNone/>
            </a:pPr>
            <a:endParaRPr b="0" lang="en-TR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82" name="PlaceHolder 3"/>
          <p:cNvSpPr>
            <a:spLocks noGrp="1"/>
          </p:cNvSpPr>
          <p:nvPr>
            <p:ph type="sldNum" idx="22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b="0" lang="en-US" sz="1200" strike="noStrike" u="non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2C2D37FB-513E-4FE0-A48E-480B912330DD}" type="slidenum">
              <a:rPr b="0" lang="en-US" sz="1200" strike="noStrike" u="non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b="0" lang="en-TR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3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584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>
              <a:buNone/>
            </a:pPr>
            <a:endParaRPr b="0" lang="en-TR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85" name="PlaceHolder 3"/>
          <p:cNvSpPr>
            <a:spLocks noGrp="1"/>
          </p:cNvSpPr>
          <p:nvPr>
            <p:ph type="sldNum" idx="23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b="0" lang="en-US" sz="1200" strike="noStrike" u="non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8ADD19A0-1451-4F1B-948E-EB5E3FB8F5B1}" type="slidenum">
              <a:rPr b="0" lang="en-US" sz="1200" strike="noStrike" u="non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b="0" lang="en-TR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6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587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>
              <a:buNone/>
            </a:pPr>
            <a:endParaRPr b="0" lang="en-TR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88" name="PlaceHolder 3"/>
          <p:cNvSpPr>
            <a:spLocks noGrp="1"/>
          </p:cNvSpPr>
          <p:nvPr>
            <p:ph type="sldNum" idx="24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b="0" lang="en-US" sz="1200" strike="noStrike" u="non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97C02573-4961-40D5-B7AD-F16BB814617B}" type="slidenum">
              <a:rPr b="0" lang="en-US" sz="1200" strike="noStrike" u="non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b="0" lang="en-TR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DEFAU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0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r>
              <a:rPr b="0" lang="en-TR" sz="18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Click to edit the title text format</a:t>
            </a:r>
            <a:endParaRPr b="0" lang="en-TR" sz="1800" strike="noStrike" u="non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" name="PlaceHolder 2"/>
          <p:cNvSpPr>
            <a:spLocks noGrp="1"/>
          </p:cNvSpPr>
          <p:nvPr>
            <p:ph type="body"/>
          </p:nvPr>
        </p:nvSpPr>
        <p:spPr>
          <a:xfrm>
            <a:off x="609480" y="1604520"/>
            <a:ext cx="109724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TR" sz="32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Click to edit the outline text format</a:t>
            </a:r>
            <a:endParaRPr b="0" lang="en-TR" sz="3200" strike="noStrike" u="non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TR" sz="24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Second Outline Level</a:t>
            </a:r>
            <a:endParaRPr b="0" lang="en-TR" sz="2400" strike="noStrike" u="non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TR" sz="20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Third Outline Level</a:t>
            </a:r>
            <a:endParaRPr b="0" lang="en-TR" sz="2000" strike="noStrike" u="non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TR" sz="20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Fourth Outline Level</a:t>
            </a:r>
            <a:endParaRPr b="0" lang="en-TR" sz="2000" strike="noStrike" u="non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TR" sz="20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Fifth Outline Level</a:t>
            </a:r>
            <a:endParaRPr b="0" lang="en-TR" sz="2000" strike="noStrike" u="non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TR" sz="20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Sixth Outline Level</a:t>
            </a:r>
            <a:endParaRPr b="0" lang="en-TR" sz="2000" strike="noStrike" u="non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TR" sz="20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Seventh Outline Level</a:t>
            </a:r>
            <a:endParaRPr b="0" lang="en-TR" sz="2000" strike="noStrike" u="non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2"/>
  </p:sldLayoutIdLst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
</Relationships>
</file>

<file path=ppt/slides/_rels/slide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
</Relationships>
</file>

<file path=ppt/slides/_rels/slide3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
</Relationships>
</file>

<file path=ppt/slides/_rels/slide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
</Relationships>
</file>

<file path=ppt/slides/_rels/slide5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
</Relationships>
</file>

<file path=ppt/slides/_rels/slide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
</Relationships>
</file>

<file path=ppt/slides/_rels/slide7.xml.rels><?xml version="1.0" encoding="UTF-8"?>
<Relationships xmlns="http://schemas.openxmlformats.org/package/2006/relationships"><Relationship Id="rId1" Type="http://schemas.openxmlformats.org/officeDocument/2006/relationships/image" Target="../media/image3.png"/><Relationship Id="rId2" Type="http://schemas.openxmlformats.org/officeDocument/2006/relationships/image" Target="../media/image4.png"/><Relationship Id="rId3" Type="http://schemas.openxmlformats.org/officeDocument/2006/relationships/image" Target="../media/image5.png"/><Relationship Id="rId4" Type="http://schemas.openxmlformats.org/officeDocument/2006/relationships/image" Target="../media/image6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7.xml"/>
</Relationships>
</file>

<file path=ppt/slides/_rels/slide8.xml.rels><?xml version="1.0" encoding="UTF-8"?>
<Relationships xmlns="http://schemas.openxmlformats.org/package/2006/relationships"><Relationship Id="rId1" Type="http://schemas.openxmlformats.org/officeDocument/2006/relationships/image" Target="../media/image7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
</Relationships>
</file>

<file path=ppt/slides/_rels/slide9.xml.rels><?xml version="1.0" encoding="UTF-8"?>
<Relationships xmlns="http://schemas.openxmlformats.org/package/2006/relationships"><Relationship Id="rId1" Type="http://schemas.openxmlformats.org/officeDocument/2006/relationships/image" Target="../media/image8.png"/><Relationship Id="rId2" Type="http://schemas.openxmlformats.org/officeDocument/2006/relationships/image" Target="../media/image9.png"/><Relationship Id="rId3" Type="http://schemas.openxmlformats.org/officeDocument/2006/relationships/image" Target="../media/image10.png"/><Relationship Id="rId4" Type="http://schemas.openxmlformats.org/officeDocument/2006/relationships/image" Target="../media/image11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9.xml"/>
</Relationships>
</file>

<file path=ppt/slides/_rels/slide10.xml.rels><?xml version="1.0" encoding="UTF-8"?>
<Relationships xmlns="http://schemas.openxmlformats.org/package/2006/relationships"><Relationship Id="rId1" Type="http://schemas.openxmlformats.org/officeDocument/2006/relationships/image" Target="../media/image12.png"/><Relationship Id="rId2" Type="http://schemas.openxmlformats.org/officeDocument/2006/relationships/image" Target="../media/image10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0.xml"/>
</Relationships>
</file>

<file path=ppt/slides/_rels/slide1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
</Relationships>
</file>

<file path=ppt/slides/_rels/slide12.xml.rels><?xml version="1.0" encoding="UTF-8"?>
<Relationships xmlns="http://schemas.openxmlformats.org/package/2006/relationships"><Relationship Id="rId1" Type="http://schemas.openxmlformats.org/officeDocument/2006/relationships/image" Target="../media/image13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
</Relationships>
</file>

<file path=ppt/slides/_rels/slide13.xml.rels><?xml version="1.0" encoding="UTF-8"?>
<Relationships xmlns="http://schemas.openxmlformats.org/package/2006/relationships"><Relationship Id="rId1" Type="http://schemas.openxmlformats.org/officeDocument/2006/relationships/image" Target="../media/image14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
</Relationships>
</file>

<file path=ppt/slides/_rels/slide14.xml.rels><?xml version="1.0" encoding="UTF-8"?>
<Relationships xmlns="http://schemas.openxmlformats.org/package/2006/relationships"><Relationship Id="rId1" Type="http://schemas.openxmlformats.org/officeDocument/2006/relationships/image" Target="../media/image15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
</Relationships>
</file>

<file path=ppt/slides/_rels/slide15.xml.rels><?xml version="1.0" encoding="UTF-8"?>
<Relationships xmlns="http://schemas.openxmlformats.org/package/2006/relationships"><Relationship Id="rId1" Type="http://schemas.openxmlformats.org/officeDocument/2006/relationships/image" Target="../media/image16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
</Relationships>
</file>

<file path=ppt/slides/_rels/slide16.xml.rels><?xml version="1.0" encoding="UTF-8"?>
<Relationships xmlns="http://schemas.openxmlformats.org/package/2006/relationships"><Relationship Id="rId1" Type="http://schemas.openxmlformats.org/officeDocument/2006/relationships/image" Target="../media/image17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
</Relationships>
</file>

<file path=ppt/slides/_rels/slide17.xml.rels><?xml version="1.0" encoding="UTF-8"?>
<Relationships xmlns="http://schemas.openxmlformats.org/package/2006/relationships"><Relationship Id="rId1" Type="http://schemas.openxmlformats.org/officeDocument/2006/relationships/image" Target="../media/image18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
</Relationships>
</file>

<file path=ppt/slides/_rels/slide18.xml.rels><?xml version="1.0" encoding="UTF-8"?>
<Relationships xmlns="http://schemas.openxmlformats.org/package/2006/relationships"><Relationship Id="rId1" Type="http://schemas.openxmlformats.org/officeDocument/2006/relationships/image" Target="../media/image19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
</Relationships>
</file>

<file path=ppt/slides/_rels/slide19.xml.rels><?xml version="1.0" encoding="UTF-8"?>
<Relationships xmlns="http://schemas.openxmlformats.org/package/2006/relationships"><Relationship Id="rId1" Type="http://schemas.openxmlformats.org/officeDocument/2006/relationships/image" Target="../media/image20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
</Relationships>
</file>

<file path=ppt/slides/_rels/slide2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
</Relationships>
</file>

<file path=ppt/slides/_rels/slide2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b1e3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hape 0"/>
          <p:cNvSpPr/>
          <p:nvPr/>
        </p:nvSpPr>
        <p:spPr>
          <a:xfrm>
            <a:off x="11064240" y="5760720"/>
            <a:ext cx="2194200" cy="2194200"/>
          </a:xfrm>
          <a:prstGeom prst="ellipse">
            <a:avLst/>
          </a:prstGeom>
          <a:solidFill>
            <a:srgbClr val="0b1e3f"/>
          </a:solidFill>
          <a:ln w="12700">
            <a:solidFill>
              <a:srgbClr val="1c7293">
                <a:alpha val="4000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TR" sz="18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" name="Shape 1"/>
          <p:cNvSpPr/>
          <p:nvPr/>
        </p:nvSpPr>
        <p:spPr>
          <a:xfrm>
            <a:off x="10332720" y="5029200"/>
            <a:ext cx="3657240" cy="3657240"/>
          </a:xfrm>
          <a:prstGeom prst="ellipse">
            <a:avLst/>
          </a:prstGeom>
          <a:solidFill>
            <a:srgbClr val="0b1e3f"/>
          </a:solidFill>
          <a:ln w="12700">
            <a:solidFill>
              <a:srgbClr val="1c7293">
                <a:alpha val="5000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TR" sz="18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" name="Shape 2"/>
          <p:cNvSpPr/>
          <p:nvPr/>
        </p:nvSpPr>
        <p:spPr>
          <a:xfrm>
            <a:off x="9601200" y="4297680"/>
            <a:ext cx="5120280" cy="5120280"/>
          </a:xfrm>
          <a:prstGeom prst="ellipse">
            <a:avLst/>
          </a:prstGeom>
          <a:solidFill>
            <a:srgbClr val="0b1e3f"/>
          </a:solidFill>
          <a:ln w="12700">
            <a:solidFill>
              <a:srgbClr val="1c7293">
                <a:alpha val="6000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TR" sz="18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" name="Shape 3"/>
          <p:cNvSpPr/>
          <p:nvPr/>
        </p:nvSpPr>
        <p:spPr>
          <a:xfrm>
            <a:off x="8869680" y="3566160"/>
            <a:ext cx="6583320" cy="6583320"/>
          </a:xfrm>
          <a:prstGeom prst="ellipse">
            <a:avLst/>
          </a:prstGeom>
          <a:solidFill>
            <a:srgbClr val="0b1e3f"/>
          </a:solidFill>
          <a:ln w="12700">
            <a:solidFill>
              <a:srgbClr val="1c7293">
                <a:alpha val="7000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TR" sz="18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" name="Shape 4"/>
          <p:cNvSpPr/>
          <p:nvPr/>
        </p:nvSpPr>
        <p:spPr>
          <a:xfrm>
            <a:off x="8138160" y="2834640"/>
            <a:ext cx="8046360" cy="8046360"/>
          </a:xfrm>
          <a:prstGeom prst="ellipse">
            <a:avLst/>
          </a:prstGeom>
          <a:solidFill>
            <a:srgbClr val="0b1e3f"/>
          </a:solidFill>
          <a:ln w="12700">
            <a:solidFill>
              <a:srgbClr val="1c7293">
                <a:alpha val="8000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TR" sz="18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" name="Shape 5"/>
          <p:cNvSpPr/>
          <p:nvPr/>
        </p:nvSpPr>
        <p:spPr>
          <a:xfrm>
            <a:off x="11658600" y="6355080"/>
            <a:ext cx="411120" cy="411120"/>
          </a:xfrm>
          <a:prstGeom prst="ellipse">
            <a:avLst/>
          </a:prstGeom>
          <a:solidFill>
            <a:srgbClr val="f4a11a"/>
          </a:solidFill>
          <a:ln w="12700">
            <a:solidFill>
              <a:srgbClr val="f4a11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TR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" name="Text 6"/>
          <p:cNvSpPr/>
          <p:nvPr/>
        </p:nvSpPr>
        <p:spPr>
          <a:xfrm>
            <a:off x="731520" y="914400"/>
            <a:ext cx="1005804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200" spc="601" strike="noStrike" u="none">
                <a:solidFill>
                  <a:srgbClr val="f4a11a"/>
                </a:solidFill>
                <a:effectLst/>
                <a:uFillTx/>
                <a:latin typeface="Calibri"/>
                <a:ea typeface="Calibri"/>
              </a:rPr>
              <a:t>BLG 632E  ·  NEXT-GEN WIRELESS NETWORKS  ·  SPRING 2025–2026</a:t>
            </a:r>
            <a:endParaRPr b="0" lang="en-TR" sz="12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" name="Shape 7"/>
          <p:cNvSpPr/>
          <p:nvPr/>
        </p:nvSpPr>
        <p:spPr>
          <a:xfrm>
            <a:off x="731520" y="1417320"/>
            <a:ext cx="639720" cy="54360"/>
          </a:xfrm>
          <a:prstGeom prst="rect">
            <a:avLst/>
          </a:prstGeom>
          <a:solidFill>
            <a:srgbClr val="f4a11a"/>
          </a:solidFill>
          <a:ln w="12700">
            <a:solidFill>
              <a:srgbClr val="f4a11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720" bIns="9720" anchor="t">
            <a:noAutofit/>
          </a:bodyPr>
          <a:p>
            <a:endParaRPr b="0" lang="en-TR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" name="Text 8"/>
          <p:cNvSpPr/>
          <p:nvPr/>
        </p:nvSpPr>
        <p:spPr>
          <a:xfrm>
            <a:off x="731520" y="1645920"/>
            <a:ext cx="10515240" cy="959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4400" strike="noStrike" u="none">
                <a:solidFill>
                  <a:srgbClr val="ffffff"/>
                </a:solidFill>
                <a:effectLst/>
                <a:uFillTx/>
                <a:latin typeface="Cambria"/>
                <a:ea typeface="Cambria"/>
              </a:rPr>
              <a:t>5G RRC Signaling Storm Mitigation</a:t>
            </a:r>
            <a:endParaRPr b="0" lang="en-TR" sz="44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" name="Text 9"/>
          <p:cNvSpPr/>
          <p:nvPr/>
        </p:nvSpPr>
        <p:spPr>
          <a:xfrm>
            <a:off x="731520" y="2606040"/>
            <a:ext cx="10515240" cy="63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2800" strike="noStrike" u="none">
                <a:solidFill>
                  <a:srgbClr val="cfe2f3"/>
                </a:solidFill>
                <a:effectLst/>
                <a:uFillTx/>
                <a:latin typeface="Cambria"/>
                <a:ea typeface="Cambria"/>
              </a:rPr>
              <a:t>via a Proactive Digital Twin Architecture</a:t>
            </a:r>
            <a:endParaRPr b="0" lang="en-TR" sz="28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" name="Text 10"/>
          <p:cNvSpPr/>
          <p:nvPr/>
        </p:nvSpPr>
        <p:spPr>
          <a:xfrm>
            <a:off x="731520" y="3154680"/>
            <a:ext cx="10515240" cy="63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i="1" lang="en-US" sz="2800" strike="noStrike" u="none">
                <a:solidFill>
                  <a:srgbClr val="cfe2f3"/>
                </a:solidFill>
                <a:effectLst/>
                <a:uFillTx/>
                <a:latin typeface="Cambria"/>
                <a:ea typeface="Cambria"/>
              </a:rPr>
              <a:t>with Continuous Calibration</a:t>
            </a:r>
            <a:endParaRPr b="0" lang="en-TR" sz="28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9" name="Shape 11"/>
          <p:cNvSpPr/>
          <p:nvPr/>
        </p:nvSpPr>
        <p:spPr>
          <a:xfrm>
            <a:off x="731520" y="4572000"/>
            <a:ext cx="63720" cy="1462680"/>
          </a:xfrm>
          <a:prstGeom prst="rect">
            <a:avLst/>
          </a:prstGeom>
          <a:solidFill>
            <a:srgbClr val="f4a11a"/>
          </a:solidFill>
          <a:ln w="12700">
            <a:solidFill>
              <a:srgbClr val="f4a11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TR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" name="Text 12"/>
          <p:cNvSpPr/>
          <p:nvPr/>
        </p:nvSpPr>
        <p:spPr>
          <a:xfrm>
            <a:off x="960120" y="4572000"/>
            <a:ext cx="7314840" cy="1462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000" strike="noStrike" u="non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Omer Dikyol</a:t>
            </a:r>
            <a:endParaRPr b="0" lang="en-TR" sz="20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300" strike="noStrike" u="none">
                <a:solidFill>
                  <a:srgbClr val="cfe2f3"/>
                </a:solidFill>
                <a:effectLst/>
                <a:uFillTx/>
                <a:latin typeface="Calibri"/>
                <a:ea typeface="Calibri"/>
              </a:rPr>
              <a:t>Department of Computer Engineering</a:t>
            </a:r>
            <a:endParaRPr b="0" lang="en-TR" sz="13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300" strike="noStrike" u="none">
                <a:solidFill>
                  <a:srgbClr val="cfe2f3"/>
                </a:solidFill>
                <a:effectLst/>
                <a:uFillTx/>
                <a:latin typeface="Calibri"/>
                <a:ea typeface="Calibri"/>
              </a:rPr>
              <a:t>Istanbul Technical University</a:t>
            </a:r>
            <a:endParaRPr b="0" lang="en-TR" sz="13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Text 0"/>
          <p:cNvSpPr/>
          <p:nvPr/>
        </p:nvSpPr>
        <p:spPr>
          <a:xfrm>
            <a:off x="548640" y="411480"/>
            <a:ext cx="1097244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00" spc="400" strike="noStrike" u="none">
                <a:solidFill>
                  <a:srgbClr val="f4a11a"/>
                </a:solidFill>
                <a:effectLst/>
                <a:uFillTx/>
                <a:latin typeface="Calibri"/>
                <a:ea typeface="Calibri"/>
              </a:rPr>
              <a:t>AGENDA</a:t>
            </a:r>
            <a:endParaRPr b="0" lang="en-TR" sz="1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" name="Text 1"/>
          <p:cNvSpPr/>
          <p:nvPr/>
        </p:nvSpPr>
        <p:spPr>
          <a:xfrm>
            <a:off x="548640" y="713160"/>
            <a:ext cx="10972440" cy="776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3000" strike="noStrike" u="none">
                <a:solidFill>
                  <a:srgbClr val="1a2233"/>
                </a:solidFill>
                <a:effectLst/>
                <a:uFillTx/>
                <a:latin typeface="Cambria"/>
                <a:ea typeface="Cambria"/>
              </a:rPr>
              <a:t>Outline</a:t>
            </a:r>
            <a:endParaRPr b="0" lang="en-TR" sz="3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" name="Shape 2"/>
          <p:cNvSpPr/>
          <p:nvPr/>
        </p:nvSpPr>
        <p:spPr>
          <a:xfrm>
            <a:off x="731520" y="1874520"/>
            <a:ext cx="548280" cy="548280"/>
          </a:xfrm>
          <a:prstGeom prst="ellipse">
            <a:avLst/>
          </a:prstGeom>
          <a:solidFill>
            <a:srgbClr val="065a82"/>
          </a:solidFill>
          <a:ln w="12700">
            <a:solidFill>
              <a:srgbClr val="065a82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TR" sz="18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4" name="Text 3"/>
          <p:cNvSpPr/>
          <p:nvPr/>
        </p:nvSpPr>
        <p:spPr>
          <a:xfrm>
            <a:off x="731520" y="1874520"/>
            <a:ext cx="548280" cy="54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400" strike="noStrike" u="none">
                <a:solidFill>
                  <a:srgbClr val="ffffff"/>
                </a:solidFill>
                <a:effectLst/>
                <a:uFillTx/>
                <a:latin typeface="Cambria"/>
                <a:ea typeface="Cambria"/>
              </a:rPr>
              <a:t>01</a:t>
            </a:r>
            <a:endParaRPr b="0" lang="en-TR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" name="Text 4"/>
          <p:cNvSpPr/>
          <p:nvPr/>
        </p:nvSpPr>
        <p:spPr>
          <a:xfrm>
            <a:off x="1508760" y="1828800"/>
            <a:ext cx="960084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800" strike="noStrike" u="none">
                <a:solidFill>
                  <a:srgbClr val="1a2233"/>
                </a:solidFill>
                <a:effectLst/>
                <a:uFillTx/>
                <a:latin typeface="Cambria"/>
                <a:ea typeface="Cambria"/>
              </a:rPr>
              <a:t>Problem Definition &amp; Research Gap</a:t>
            </a:r>
            <a:endParaRPr b="0" lang="en-TR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" name="Text 5"/>
          <p:cNvSpPr/>
          <p:nvPr/>
        </p:nvSpPr>
        <p:spPr>
          <a:xfrm>
            <a:off x="1508760" y="2167200"/>
            <a:ext cx="9600840" cy="31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200" strike="noStrike" u="none">
                <a:solidFill>
                  <a:srgbClr val="64748b"/>
                </a:solidFill>
                <a:effectLst/>
                <a:uFillTx/>
                <a:latin typeface="Calibri"/>
                <a:ea typeface="Calibri"/>
              </a:rPr>
              <a:t>Why availability matters; the storm; control-loop latency</a:t>
            </a:r>
            <a:endParaRPr b="0" lang="en-TR" sz="1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" name="Shape 6"/>
          <p:cNvSpPr/>
          <p:nvPr/>
        </p:nvSpPr>
        <p:spPr>
          <a:xfrm>
            <a:off x="1508760" y="2541960"/>
            <a:ext cx="9600840" cy="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0320" bIns="-40320" anchor="t">
            <a:noAutofit/>
          </a:bodyPr>
          <a:p>
            <a:endParaRPr b="0" lang="en-TR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" name="Shape 7"/>
          <p:cNvSpPr/>
          <p:nvPr/>
        </p:nvSpPr>
        <p:spPr>
          <a:xfrm>
            <a:off x="731520" y="2651760"/>
            <a:ext cx="548280" cy="548280"/>
          </a:xfrm>
          <a:prstGeom prst="ellipse">
            <a:avLst/>
          </a:prstGeom>
          <a:solidFill>
            <a:srgbClr val="065a82"/>
          </a:solidFill>
          <a:ln w="12700">
            <a:solidFill>
              <a:srgbClr val="065a82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TR" sz="18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9" name="Text 8"/>
          <p:cNvSpPr/>
          <p:nvPr/>
        </p:nvSpPr>
        <p:spPr>
          <a:xfrm>
            <a:off x="731520" y="2651760"/>
            <a:ext cx="548280" cy="54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400" strike="noStrike" u="none">
                <a:solidFill>
                  <a:srgbClr val="ffffff"/>
                </a:solidFill>
                <a:effectLst/>
                <a:uFillTx/>
                <a:latin typeface="Cambria"/>
                <a:ea typeface="Cambria"/>
              </a:rPr>
              <a:t>02</a:t>
            </a:r>
            <a:endParaRPr b="0" lang="en-TR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0" name="Text 9"/>
          <p:cNvSpPr/>
          <p:nvPr/>
        </p:nvSpPr>
        <p:spPr>
          <a:xfrm>
            <a:off x="1508760" y="2606040"/>
            <a:ext cx="960084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800" strike="noStrike" u="none">
                <a:solidFill>
                  <a:srgbClr val="1a2233"/>
                </a:solidFill>
                <a:effectLst/>
                <a:uFillTx/>
                <a:latin typeface="Cambria"/>
                <a:ea typeface="Cambria"/>
              </a:rPr>
              <a:t>System Model</a:t>
            </a:r>
            <a:endParaRPr b="0" lang="en-TR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1" name="Text 10"/>
          <p:cNvSpPr/>
          <p:nvPr/>
        </p:nvSpPr>
        <p:spPr>
          <a:xfrm>
            <a:off x="1508760" y="2944440"/>
            <a:ext cx="9600840" cy="31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200" strike="noStrike" u="none">
                <a:solidFill>
                  <a:srgbClr val="64748b"/>
                </a:solidFill>
                <a:effectLst/>
                <a:uFillTx/>
                <a:latin typeface="Calibri"/>
                <a:ea typeface="Calibri"/>
              </a:rPr>
              <a:t>MMPP/M/c/K queue and gNB RACH parameters</a:t>
            </a:r>
            <a:endParaRPr b="0" lang="en-TR" sz="1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2" name="Shape 11"/>
          <p:cNvSpPr/>
          <p:nvPr/>
        </p:nvSpPr>
        <p:spPr>
          <a:xfrm>
            <a:off x="1508760" y="3319200"/>
            <a:ext cx="9600840" cy="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0320" bIns="-40320" anchor="t">
            <a:noAutofit/>
          </a:bodyPr>
          <a:p>
            <a:endParaRPr b="0" lang="en-TR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3" name="Shape 12"/>
          <p:cNvSpPr/>
          <p:nvPr/>
        </p:nvSpPr>
        <p:spPr>
          <a:xfrm>
            <a:off x="731520" y="3429000"/>
            <a:ext cx="548280" cy="548280"/>
          </a:xfrm>
          <a:prstGeom prst="ellipse">
            <a:avLst/>
          </a:prstGeom>
          <a:solidFill>
            <a:srgbClr val="065a82"/>
          </a:solidFill>
          <a:ln w="12700">
            <a:solidFill>
              <a:srgbClr val="065a82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TR" sz="18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4" name="Text 13"/>
          <p:cNvSpPr/>
          <p:nvPr/>
        </p:nvSpPr>
        <p:spPr>
          <a:xfrm>
            <a:off x="731520" y="3429000"/>
            <a:ext cx="548280" cy="54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400" strike="noStrike" u="none">
                <a:solidFill>
                  <a:srgbClr val="ffffff"/>
                </a:solidFill>
                <a:effectLst/>
                <a:uFillTx/>
                <a:latin typeface="Cambria"/>
                <a:ea typeface="Cambria"/>
              </a:rPr>
              <a:t>03</a:t>
            </a:r>
            <a:endParaRPr b="0" lang="en-TR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5" name="Text 14"/>
          <p:cNvSpPr/>
          <p:nvPr/>
        </p:nvSpPr>
        <p:spPr>
          <a:xfrm>
            <a:off x="1508760" y="3383280"/>
            <a:ext cx="960084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800" strike="noStrike" u="none">
                <a:solidFill>
                  <a:srgbClr val="1a2233"/>
                </a:solidFill>
                <a:effectLst/>
                <a:uFillTx/>
                <a:latin typeface="Cambria"/>
                <a:ea typeface="Cambria"/>
              </a:rPr>
              <a:t>Proposed Method</a:t>
            </a:r>
            <a:endParaRPr b="0" lang="en-TR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6" name="Text 15"/>
          <p:cNvSpPr/>
          <p:nvPr/>
        </p:nvSpPr>
        <p:spPr>
          <a:xfrm>
            <a:off x="1508760" y="3721680"/>
            <a:ext cx="9600840" cy="31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200" strike="noStrike" u="none">
                <a:solidFill>
                  <a:srgbClr val="64748b"/>
                </a:solidFill>
                <a:effectLst/>
                <a:uFillTx/>
                <a:latin typeface="Calibri"/>
                <a:ea typeface="Calibri"/>
              </a:rPr>
              <a:t>Calibrated Digital Twin with EMA + asymmetric step rule</a:t>
            </a:r>
            <a:endParaRPr b="0" lang="en-TR" sz="1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7" name="Shape 16"/>
          <p:cNvSpPr/>
          <p:nvPr/>
        </p:nvSpPr>
        <p:spPr>
          <a:xfrm>
            <a:off x="1508760" y="4096440"/>
            <a:ext cx="9600840" cy="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0320" bIns="-40320" anchor="t">
            <a:noAutofit/>
          </a:bodyPr>
          <a:p>
            <a:endParaRPr b="0" lang="en-TR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8" name="Shape 17"/>
          <p:cNvSpPr/>
          <p:nvPr/>
        </p:nvSpPr>
        <p:spPr>
          <a:xfrm>
            <a:off x="731520" y="4206240"/>
            <a:ext cx="548280" cy="548280"/>
          </a:xfrm>
          <a:prstGeom prst="ellipse">
            <a:avLst/>
          </a:prstGeom>
          <a:solidFill>
            <a:srgbClr val="065a82"/>
          </a:solidFill>
          <a:ln w="12700">
            <a:solidFill>
              <a:srgbClr val="065a82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TR" sz="18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9" name="Text 18"/>
          <p:cNvSpPr/>
          <p:nvPr/>
        </p:nvSpPr>
        <p:spPr>
          <a:xfrm>
            <a:off x="731520" y="4206240"/>
            <a:ext cx="548280" cy="54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400" strike="noStrike" u="none">
                <a:solidFill>
                  <a:srgbClr val="ffffff"/>
                </a:solidFill>
                <a:effectLst/>
                <a:uFillTx/>
                <a:latin typeface="Cambria"/>
                <a:ea typeface="Cambria"/>
              </a:rPr>
              <a:t>04</a:t>
            </a:r>
            <a:endParaRPr b="0" lang="en-TR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0" name="Text 19"/>
          <p:cNvSpPr/>
          <p:nvPr/>
        </p:nvSpPr>
        <p:spPr>
          <a:xfrm>
            <a:off x="1508760" y="4160520"/>
            <a:ext cx="960084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800" strike="noStrike" u="none">
                <a:solidFill>
                  <a:srgbClr val="1a2233"/>
                </a:solidFill>
                <a:effectLst/>
                <a:uFillTx/>
                <a:latin typeface="Cambria"/>
                <a:ea typeface="Cambria"/>
              </a:rPr>
              <a:t>Results &amp; Evaluation</a:t>
            </a:r>
            <a:endParaRPr b="0" lang="en-TR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1" name="Text 20"/>
          <p:cNvSpPr/>
          <p:nvPr/>
        </p:nvSpPr>
        <p:spPr>
          <a:xfrm>
            <a:off x="1508760" y="4498920"/>
            <a:ext cx="9600840" cy="31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200" strike="noStrike" u="none">
                <a:solidFill>
                  <a:srgbClr val="64748b"/>
                </a:solidFill>
                <a:effectLst/>
                <a:uFillTx/>
                <a:latin typeface="Calibri"/>
                <a:ea typeface="Calibri"/>
              </a:rPr>
              <a:t>Mirroring error, queue stability, delay CDF, ε-sensitivity</a:t>
            </a:r>
            <a:endParaRPr b="0" lang="en-TR" sz="1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2" name="Shape 21"/>
          <p:cNvSpPr/>
          <p:nvPr/>
        </p:nvSpPr>
        <p:spPr>
          <a:xfrm>
            <a:off x="1508760" y="4873680"/>
            <a:ext cx="9600840" cy="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0320" bIns="-40320" anchor="t">
            <a:noAutofit/>
          </a:bodyPr>
          <a:p>
            <a:endParaRPr b="0" lang="en-TR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3" name="Shape 22"/>
          <p:cNvSpPr/>
          <p:nvPr/>
        </p:nvSpPr>
        <p:spPr>
          <a:xfrm>
            <a:off x="731520" y="4983480"/>
            <a:ext cx="548280" cy="548280"/>
          </a:xfrm>
          <a:prstGeom prst="ellipse">
            <a:avLst/>
          </a:prstGeom>
          <a:solidFill>
            <a:srgbClr val="065a82"/>
          </a:solidFill>
          <a:ln w="12700">
            <a:solidFill>
              <a:srgbClr val="065a82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TR" sz="18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4" name="Text 23"/>
          <p:cNvSpPr/>
          <p:nvPr/>
        </p:nvSpPr>
        <p:spPr>
          <a:xfrm>
            <a:off x="731520" y="4983480"/>
            <a:ext cx="548280" cy="54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400" strike="noStrike" u="none">
                <a:solidFill>
                  <a:srgbClr val="ffffff"/>
                </a:solidFill>
                <a:effectLst/>
                <a:uFillTx/>
                <a:latin typeface="Cambria"/>
                <a:ea typeface="Cambria"/>
              </a:rPr>
              <a:t>05</a:t>
            </a:r>
            <a:endParaRPr b="0" lang="en-TR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5" name="Text 24"/>
          <p:cNvSpPr/>
          <p:nvPr/>
        </p:nvSpPr>
        <p:spPr>
          <a:xfrm>
            <a:off x="1508760" y="4937760"/>
            <a:ext cx="960084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800" strike="noStrike" u="none">
                <a:solidFill>
                  <a:srgbClr val="1a2233"/>
                </a:solidFill>
                <a:effectLst/>
                <a:uFillTx/>
                <a:latin typeface="Cambria"/>
                <a:ea typeface="Cambria"/>
              </a:rPr>
              <a:t>Conclusion</a:t>
            </a:r>
            <a:endParaRPr b="0" lang="en-TR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6" name="Text 25"/>
          <p:cNvSpPr/>
          <p:nvPr/>
        </p:nvSpPr>
        <p:spPr>
          <a:xfrm>
            <a:off x="1508760" y="5276160"/>
            <a:ext cx="9600840" cy="31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200" strike="noStrike" u="none">
                <a:solidFill>
                  <a:srgbClr val="64748b"/>
                </a:solidFill>
                <a:effectLst/>
                <a:uFillTx/>
                <a:latin typeface="Calibri"/>
                <a:ea typeface="Calibri"/>
              </a:rPr>
              <a:t>Findings, O-RAN deployment, future work</a:t>
            </a:r>
            <a:endParaRPr b="0" lang="en-TR" sz="1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7" name="Shape 26"/>
          <p:cNvSpPr/>
          <p:nvPr/>
        </p:nvSpPr>
        <p:spPr>
          <a:xfrm>
            <a:off x="548640" y="6355080"/>
            <a:ext cx="11063880" cy="1044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34200" bIns="-34200" anchor="t">
            <a:noAutofit/>
          </a:bodyPr>
          <a:p>
            <a:endParaRPr b="0" lang="en-TR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8" name="Text 27"/>
          <p:cNvSpPr/>
          <p:nvPr/>
        </p:nvSpPr>
        <p:spPr>
          <a:xfrm>
            <a:off x="548640" y="6446520"/>
            <a:ext cx="731484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00" strike="noStrike" u="none">
                <a:solidFill>
                  <a:srgbClr val="64748b"/>
                </a:solidFill>
                <a:effectLst/>
                <a:uFillTx/>
                <a:latin typeface="Calibri"/>
                <a:ea typeface="Calibri"/>
              </a:rPr>
              <a:t>5G RRC Storm Mitigation  ·  Calibrated Digital Twin</a:t>
            </a:r>
            <a:endParaRPr b="0" lang="en-TR" sz="9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9" name="Text 28"/>
          <p:cNvSpPr/>
          <p:nvPr/>
        </p:nvSpPr>
        <p:spPr>
          <a:xfrm>
            <a:off x="10698480" y="6446520"/>
            <a:ext cx="91404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00" strike="noStrike" u="none">
                <a:solidFill>
                  <a:srgbClr val="64748b"/>
                </a:solidFill>
                <a:effectLst/>
                <a:uFillTx/>
                <a:latin typeface="Calibri"/>
                <a:ea typeface="Calibri"/>
              </a:rPr>
              <a:t>2 / 21</a:t>
            </a:r>
            <a:endParaRPr b="0" lang="en-TR" sz="9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Text 0"/>
          <p:cNvSpPr/>
          <p:nvPr/>
        </p:nvSpPr>
        <p:spPr>
          <a:xfrm>
            <a:off x="548640" y="411480"/>
            <a:ext cx="1097244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00" spc="400" strike="noStrike" u="none">
                <a:solidFill>
                  <a:srgbClr val="f4a11a"/>
                </a:solidFill>
                <a:effectLst/>
                <a:uFillTx/>
                <a:latin typeface="Calibri"/>
                <a:ea typeface="Calibri"/>
              </a:rPr>
              <a:t>MOTIVATION</a:t>
            </a:r>
            <a:endParaRPr b="0" lang="en-TR" sz="1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1" name="Text 1"/>
          <p:cNvSpPr/>
          <p:nvPr/>
        </p:nvSpPr>
        <p:spPr>
          <a:xfrm>
            <a:off x="548640" y="713160"/>
            <a:ext cx="10972440" cy="776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3000" strike="noStrike" u="none">
                <a:solidFill>
                  <a:srgbClr val="1a2233"/>
                </a:solidFill>
                <a:effectLst/>
                <a:uFillTx/>
                <a:latin typeface="Cambria"/>
                <a:ea typeface="Cambria"/>
              </a:rPr>
              <a:t>Why 5G availability matters</a:t>
            </a:r>
            <a:endParaRPr b="0" lang="en-TR" sz="3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2" name="Text 2"/>
          <p:cNvSpPr/>
          <p:nvPr/>
        </p:nvSpPr>
        <p:spPr>
          <a:xfrm>
            <a:off x="548640" y="1554480"/>
            <a:ext cx="1097244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i="1" lang="en-US" sz="1350" strike="noStrike" u="none">
                <a:solidFill>
                  <a:srgbClr val="334155"/>
                </a:solidFill>
                <a:effectLst/>
                <a:uFillTx/>
                <a:latin typeface="Calibri"/>
                <a:ea typeface="Calibri"/>
              </a:rPr>
              <a:t>5G NR underpins mission-critical services — every device starts with an RRC connection request through the gNB RACH.</a:t>
            </a:r>
            <a:endParaRPr b="0" lang="en-TR" sz="135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3" name="Shape 3"/>
          <p:cNvSpPr/>
          <p:nvPr/>
        </p:nvSpPr>
        <p:spPr>
          <a:xfrm>
            <a:off x="548640" y="2194560"/>
            <a:ext cx="3565800" cy="1462680"/>
          </a:xfrm>
          <a:prstGeom prst="rect">
            <a:avLst/>
          </a:prstGeom>
          <a:solidFill>
            <a:srgbClr val="ffffff"/>
          </a:solidFill>
          <a:ln w="9525">
            <a:solidFill>
              <a:srgbClr val="dce3e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TR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4" name="Shape 4"/>
          <p:cNvSpPr/>
          <p:nvPr/>
        </p:nvSpPr>
        <p:spPr>
          <a:xfrm>
            <a:off x="548640" y="2194560"/>
            <a:ext cx="63720" cy="1462680"/>
          </a:xfrm>
          <a:prstGeom prst="rect">
            <a:avLst/>
          </a:prstGeom>
          <a:solidFill>
            <a:srgbClr val="065a82"/>
          </a:solidFill>
          <a:ln w="12700">
            <a:solidFill>
              <a:srgbClr val="065a82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TR" sz="18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5" name="Text 5"/>
          <p:cNvSpPr/>
          <p:nvPr/>
        </p:nvSpPr>
        <p:spPr>
          <a:xfrm>
            <a:off x="777240" y="2331720"/>
            <a:ext cx="3200040" cy="63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3000" strike="noStrike" u="none">
                <a:solidFill>
                  <a:srgbClr val="065a82"/>
                </a:solidFill>
                <a:effectLst/>
                <a:uFillTx/>
                <a:latin typeface="Cambria"/>
                <a:ea typeface="Cambria"/>
              </a:rPr>
              <a:t>&lt;10 ms</a:t>
            </a:r>
            <a:endParaRPr b="0" lang="en-TR" sz="3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6" name="Text 6"/>
          <p:cNvSpPr/>
          <p:nvPr/>
        </p:nvSpPr>
        <p:spPr>
          <a:xfrm>
            <a:off x="777240" y="2971800"/>
            <a:ext cx="3200040" cy="63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200" strike="noStrike" u="none">
                <a:solidFill>
                  <a:srgbClr val="334155"/>
                </a:solidFill>
                <a:effectLst/>
                <a:uFillTx/>
                <a:latin typeface="Calibri"/>
                <a:ea typeface="Calibri"/>
              </a:rPr>
              <a:t>Round-trip latency required by autonomous vehicles</a:t>
            </a:r>
            <a:endParaRPr b="0" lang="en-TR" sz="1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7" name="Shape 7"/>
          <p:cNvSpPr/>
          <p:nvPr/>
        </p:nvSpPr>
        <p:spPr>
          <a:xfrm>
            <a:off x="4434840" y="2194560"/>
            <a:ext cx="3565800" cy="1462680"/>
          </a:xfrm>
          <a:prstGeom prst="rect">
            <a:avLst/>
          </a:prstGeom>
          <a:solidFill>
            <a:srgbClr val="ffffff"/>
          </a:solidFill>
          <a:ln w="9525">
            <a:solidFill>
              <a:srgbClr val="dce3e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TR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8" name="Shape 8"/>
          <p:cNvSpPr/>
          <p:nvPr/>
        </p:nvSpPr>
        <p:spPr>
          <a:xfrm>
            <a:off x="4434840" y="2194560"/>
            <a:ext cx="63720" cy="1462680"/>
          </a:xfrm>
          <a:prstGeom prst="rect">
            <a:avLst/>
          </a:prstGeom>
          <a:solidFill>
            <a:srgbClr val="065a82"/>
          </a:solidFill>
          <a:ln w="12700">
            <a:solidFill>
              <a:srgbClr val="065a82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TR" sz="18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9" name="Text 9"/>
          <p:cNvSpPr/>
          <p:nvPr/>
        </p:nvSpPr>
        <p:spPr>
          <a:xfrm>
            <a:off x="4663440" y="2331720"/>
            <a:ext cx="3200040" cy="63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3000" strike="noStrike" u="none">
                <a:solidFill>
                  <a:srgbClr val="065a82"/>
                </a:solidFill>
                <a:effectLst/>
                <a:uFillTx/>
                <a:latin typeface="Cambria"/>
                <a:ea typeface="Cambria"/>
              </a:rPr>
              <a:t>5×9</a:t>
            </a:r>
            <a:endParaRPr b="0" lang="en-TR" sz="3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0" name="Text 10"/>
          <p:cNvSpPr/>
          <p:nvPr/>
        </p:nvSpPr>
        <p:spPr>
          <a:xfrm>
            <a:off x="4663440" y="2971800"/>
            <a:ext cx="3200040" cy="63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200" strike="noStrike" u="none">
                <a:solidFill>
                  <a:srgbClr val="334155"/>
                </a:solidFill>
                <a:effectLst/>
                <a:uFillTx/>
                <a:latin typeface="Calibri"/>
                <a:ea typeface="Calibri"/>
              </a:rPr>
              <a:t>Reliability target for remote surgery and industrial IoT</a:t>
            </a:r>
            <a:endParaRPr b="0" lang="en-TR" sz="1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1" name="Shape 11"/>
          <p:cNvSpPr/>
          <p:nvPr/>
        </p:nvSpPr>
        <p:spPr>
          <a:xfrm>
            <a:off x="8321040" y="2194560"/>
            <a:ext cx="3565800" cy="1462680"/>
          </a:xfrm>
          <a:prstGeom prst="rect">
            <a:avLst/>
          </a:prstGeom>
          <a:solidFill>
            <a:srgbClr val="ffffff"/>
          </a:solidFill>
          <a:ln w="9525">
            <a:solidFill>
              <a:srgbClr val="dce3e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TR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2" name="Shape 12"/>
          <p:cNvSpPr/>
          <p:nvPr/>
        </p:nvSpPr>
        <p:spPr>
          <a:xfrm>
            <a:off x="8321040" y="2194560"/>
            <a:ext cx="63720" cy="1462680"/>
          </a:xfrm>
          <a:prstGeom prst="rect">
            <a:avLst/>
          </a:prstGeom>
          <a:solidFill>
            <a:srgbClr val="065a82"/>
          </a:solidFill>
          <a:ln w="12700">
            <a:solidFill>
              <a:srgbClr val="065a82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TR" sz="18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3" name="Text 13"/>
          <p:cNvSpPr/>
          <p:nvPr/>
        </p:nvSpPr>
        <p:spPr>
          <a:xfrm>
            <a:off x="8549640" y="2331720"/>
            <a:ext cx="3200040" cy="63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3000" strike="noStrike" u="none">
                <a:solidFill>
                  <a:srgbClr val="065a82"/>
                </a:solidFill>
                <a:effectLst/>
                <a:uFillTx/>
                <a:latin typeface="Cambria"/>
                <a:ea typeface="Cambria"/>
              </a:rPr>
              <a:t>100s–1000s</a:t>
            </a:r>
            <a:endParaRPr b="0" lang="en-TR" sz="3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4" name="Text 14"/>
          <p:cNvSpPr/>
          <p:nvPr/>
        </p:nvSpPr>
        <p:spPr>
          <a:xfrm>
            <a:off x="8549640" y="2971800"/>
            <a:ext cx="3200040" cy="63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200" strike="noStrike" u="none">
                <a:solidFill>
                  <a:srgbClr val="334155"/>
                </a:solidFill>
                <a:effectLst/>
                <a:uFillTx/>
                <a:latin typeface="Calibri"/>
                <a:ea typeface="Calibri"/>
              </a:rPr>
              <a:t>UEs sharing a single gNB simultaneously</a:t>
            </a:r>
            <a:endParaRPr b="0" lang="en-TR" sz="1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5" name="Text 15"/>
          <p:cNvSpPr/>
          <p:nvPr/>
        </p:nvSpPr>
        <p:spPr>
          <a:xfrm>
            <a:off x="548640" y="3931920"/>
            <a:ext cx="731484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600" strike="noStrike" u="none">
                <a:solidFill>
                  <a:srgbClr val="1a2233"/>
                </a:solidFill>
                <a:effectLst/>
                <a:uFillTx/>
                <a:latin typeface="Cambria"/>
                <a:ea typeface="Cambria"/>
              </a:rPr>
              <a:t>gNB RACH at a glance</a:t>
            </a:r>
            <a:endParaRPr b="0" lang="en-TR" sz="1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6" name="Shape 16"/>
          <p:cNvSpPr/>
          <p:nvPr/>
        </p:nvSpPr>
        <p:spPr>
          <a:xfrm>
            <a:off x="548640" y="4389120"/>
            <a:ext cx="3565800" cy="868320"/>
          </a:xfrm>
          <a:prstGeom prst="rect">
            <a:avLst/>
          </a:prstGeom>
          <a:solidFill>
            <a:srgbClr val="f7f9fc"/>
          </a:solidFill>
          <a:ln w="9525">
            <a:solidFill>
              <a:srgbClr val="dce3e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TR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7" name="Text 17"/>
          <p:cNvSpPr/>
          <p:nvPr/>
        </p:nvSpPr>
        <p:spPr>
          <a:xfrm>
            <a:off x="777240" y="4480560"/>
            <a:ext cx="320004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800" strike="noStrike" u="none">
                <a:solidFill>
                  <a:srgbClr val="1c7293"/>
                </a:solidFill>
                <a:effectLst/>
                <a:uFillTx/>
                <a:latin typeface="Consolas"/>
                <a:ea typeface="Consolas"/>
              </a:rPr>
              <a:t>c = 54</a:t>
            </a:r>
            <a:endParaRPr b="0" lang="en-TR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8" name="Text 18"/>
          <p:cNvSpPr/>
          <p:nvPr/>
        </p:nvSpPr>
        <p:spPr>
          <a:xfrm>
            <a:off x="777240" y="4846320"/>
            <a:ext cx="320004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150" strike="noStrike" u="none">
                <a:solidFill>
                  <a:srgbClr val="334155"/>
                </a:solidFill>
                <a:effectLst/>
                <a:uFillTx/>
                <a:latin typeface="Calibri"/>
                <a:ea typeface="Calibri"/>
              </a:rPr>
              <a:t>preamble channels</a:t>
            </a:r>
            <a:endParaRPr b="0" lang="en-TR" sz="115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9" name="Shape 19"/>
          <p:cNvSpPr/>
          <p:nvPr/>
        </p:nvSpPr>
        <p:spPr>
          <a:xfrm>
            <a:off x="4434840" y="4389120"/>
            <a:ext cx="3565800" cy="868320"/>
          </a:xfrm>
          <a:prstGeom prst="rect">
            <a:avLst/>
          </a:prstGeom>
          <a:solidFill>
            <a:srgbClr val="f7f9fc"/>
          </a:solidFill>
          <a:ln w="9525">
            <a:solidFill>
              <a:srgbClr val="dce3e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TR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0" name="Text 20"/>
          <p:cNvSpPr/>
          <p:nvPr/>
        </p:nvSpPr>
        <p:spPr>
          <a:xfrm>
            <a:off x="4663440" y="4480560"/>
            <a:ext cx="320004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800" strike="noStrike" u="none">
                <a:solidFill>
                  <a:srgbClr val="1c7293"/>
                </a:solidFill>
                <a:effectLst/>
                <a:uFillTx/>
                <a:latin typeface="Consolas"/>
                <a:ea typeface="Consolas"/>
              </a:rPr>
              <a:t>K = 200</a:t>
            </a:r>
            <a:endParaRPr b="0" lang="en-TR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1" name="Text 21"/>
          <p:cNvSpPr/>
          <p:nvPr/>
        </p:nvSpPr>
        <p:spPr>
          <a:xfrm>
            <a:off x="4663440" y="4846320"/>
            <a:ext cx="320004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150" strike="noStrike" u="none">
                <a:solidFill>
                  <a:srgbClr val="334155"/>
                </a:solidFill>
                <a:effectLst/>
                <a:uFillTx/>
                <a:latin typeface="Calibri"/>
                <a:ea typeface="Calibri"/>
              </a:rPr>
              <a:t>buffer capacity</a:t>
            </a:r>
            <a:endParaRPr b="0" lang="en-TR" sz="115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2" name="Shape 22"/>
          <p:cNvSpPr/>
          <p:nvPr/>
        </p:nvSpPr>
        <p:spPr>
          <a:xfrm>
            <a:off x="8321040" y="4389120"/>
            <a:ext cx="3565800" cy="868320"/>
          </a:xfrm>
          <a:prstGeom prst="rect">
            <a:avLst/>
          </a:prstGeom>
          <a:solidFill>
            <a:srgbClr val="f7f9fc"/>
          </a:solidFill>
          <a:ln w="9525">
            <a:solidFill>
              <a:srgbClr val="dce3e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TR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3" name="Text 23"/>
          <p:cNvSpPr/>
          <p:nvPr/>
        </p:nvSpPr>
        <p:spPr>
          <a:xfrm>
            <a:off x="8549640" y="4480560"/>
            <a:ext cx="320004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800" strike="noStrike" u="none">
                <a:solidFill>
                  <a:srgbClr val="1c7293"/>
                </a:solidFill>
                <a:effectLst/>
                <a:uFillTx/>
                <a:latin typeface="Consolas"/>
                <a:ea typeface="Consolas"/>
              </a:rPr>
              <a:t>Q ≥ K</a:t>
            </a:r>
            <a:endParaRPr b="0" lang="en-TR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4" name="Text 24"/>
          <p:cNvSpPr/>
          <p:nvPr/>
        </p:nvSpPr>
        <p:spPr>
          <a:xfrm>
            <a:off x="8549640" y="4846320"/>
            <a:ext cx="320004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150" strike="noStrike" u="none">
                <a:solidFill>
                  <a:srgbClr val="334155"/>
                </a:solidFill>
                <a:effectLst/>
                <a:uFillTx/>
                <a:latin typeface="Calibri"/>
                <a:ea typeface="Calibri"/>
              </a:rPr>
              <a:t>requests dropped immediately</a:t>
            </a:r>
            <a:endParaRPr b="0" lang="en-TR" sz="115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5" name="Shape 25"/>
          <p:cNvSpPr/>
          <p:nvPr/>
        </p:nvSpPr>
        <p:spPr>
          <a:xfrm>
            <a:off x="548640" y="5532120"/>
            <a:ext cx="11063880" cy="594000"/>
          </a:xfrm>
          <a:prstGeom prst="rect">
            <a:avLst/>
          </a:prstGeom>
          <a:solidFill>
            <a:srgbClr val="fff3e0"/>
          </a:solidFill>
          <a:ln w="12700">
            <a:solidFill>
              <a:srgbClr val="f4a11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TR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76" name="Image 0" descr="preencoded.png"/>
          <p:cNvPicPr/>
          <p:nvPr/>
        </p:nvPicPr>
        <p:blipFill>
          <a:blip r:embed="rId1"/>
          <a:stretch/>
        </p:blipFill>
        <p:spPr>
          <a:xfrm>
            <a:off x="713160" y="5650920"/>
            <a:ext cx="365400" cy="3654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77" name="Text 26"/>
          <p:cNvSpPr/>
          <p:nvPr/>
        </p:nvSpPr>
        <p:spPr>
          <a:xfrm>
            <a:off x="1188720" y="5532120"/>
            <a:ext cx="10332360" cy="594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200" strike="noStrike" u="none">
                <a:solidFill>
                  <a:srgbClr val="1a2233"/>
                </a:solidFill>
                <a:effectLst/>
                <a:uFillTx/>
                <a:latin typeface="Calibri"/>
                <a:ea typeface="Calibri"/>
              </a:rPr>
              <a:t>The RACH is a shared, limited resource with no built-in overload anticipation. RACH failure ⇒ no data plane, all services blocked.</a:t>
            </a:r>
            <a:endParaRPr b="0" lang="en-TR" sz="1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8" name="Shape 27"/>
          <p:cNvSpPr/>
          <p:nvPr/>
        </p:nvSpPr>
        <p:spPr>
          <a:xfrm>
            <a:off x="548640" y="6355080"/>
            <a:ext cx="11063880" cy="1044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34200" bIns="-34200" anchor="t">
            <a:noAutofit/>
          </a:bodyPr>
          <a:p>
            <a:endParaRPr b="0" lang="en-TR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9" name="Text 28"/>
          <p:cNvSpPr/>
          <p:nvPr/>
        </p:nvSpPr>
        <p:spPr>
          <a:xfrm>
            <a:off x="548640" y="6446520"/>
            <a:ext cx="731484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00" strike="noStrike" u="none">
                <a:solidFill>
                  <a:srgbClr val="64748b"/>
                </a:solidFill>
                <a:effectLst/>
                <a:uFillTx/>
                <a:latin typeface="Calibri"/>
                <a:ea typeface="Calibri"/>
              </a:rPr>
              <a:t>5G RRC Storm Mitigation  ·  Calibrated Digital Twin</a:t>
            </a:r>
            <a:endParaRPr b="0" lang="en-TR" sz="9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0" name="Text 29"/>
          <p:cNvSpPr/>
          <p:nvPr/>
        </p:nvSpPr>
        <p:spPr>
          <a:xfrm>
            <a:off x="10698480" y="6446520"/>
            <a:ext cx="91404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00" strike="noStrike" u="none">
                <a:solidFill>
                  <a:srgbClr val="64748b"/>
                </a:solidFill>
                <a:effectLst/>
                <a:uFillTx/>
                <a:latin typeface="Calibri"/>
                <a:ea typeface="Calibri"/>
              </a:rPr>
              <a:t>3 / 21</a:t>
            </a:r>
            <a:endParaRPr b="0" lang="en-TR" sz="9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Text 0"/>
          <p:cNvSpPr/>
          <p:nvPr/>
        </p:nvSpPr>
        <p:spPr>
          <a:xfrm>
            <a:off x="548640" y="411480"/>
            <a:ext cx="1097244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00" spc="400" strike="noStrike" u="none">
                <a:solidFill>
                  <a:srgbClr val="f4a11a"/>
                </a:solidFill>
                <a:effectLst/>
                <a:uFillTx/>
                <a:latin typeface="Calibri"/>
                <a:ea typeface="Calibri"/>
              </a:rPr>
              <a:t>BACKGROUND</a:t>
            </a:r>
            <a:endParaRPr b="0" lang="en-TR" sz="1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2" name="Text 1"/>
          <p:cNvSpPr/>
          <p:nvPr/>
        </p:nvSpPr>
        <p:spPr>
          <a:xfrm>
            <a:off x="548640" y="713160"/>
            <a:ext cx="10972440" cy="776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3000" strike="noStrike" u="none">
                <a:solidFill>
                  <a:srgbClr val="1a2233"/>
                </a:solidFill>
                <a:effectLst/>
                <a:uFillTx/>
                <a:latin typeface="Cambria"/>
                <a:ea typeface="Cambria"/>
              </a:rPr>
              <a:t>What is an RRC signaling storm?</a:t>
            </a:r>
            <a:endParaRPr b="0" lang="en-TR" sz="3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3" name="Shape 2"/>
          <p:cNvSpPr/>
          <p:nvPr/>
        </p:nvSpPr>
        <p:spPr>
          <a:xfrm>
            <a:off x="548640" y="1600200"/>
            <a:ext cx="6126120" cy="4525920"/>
          </a:xfrm>
          <a:prstGeom prst="rect">
            <a:avLst/>
          </a:prstGeom>
          <a:solidFill>
            <a:srgbClr val="ffffff"/>
          </a:solidFill>
          <a:ln w="9525">
            <a:solidFill>
              <a:srgbClr val="dce3e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TR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4" name="Shape 3"/>
          <p:cNvSpPr/>
          <p:nvPr/>
        </p:nvSpPr>
        <p:spPr>
          <a:xfrm>
            <a:off x="548640" y="1600200"/>
            <a:ext cx="63720" cy="4525920"/>
          </a:xfrm>
          <a:prstGeom prst="rect">
            <a:avLst/>
          </a:prstGeom>
          <a:solidFill>
            <a:srgbClr val="065a82"/>
          </a:solidFill>
          <a:ln w="12700">
            <a:solidFill>
              <a:srgbClr val="065a82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TR" sz="18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5" name="Text 4"/>
          <p:cNvSpPr/>
          <p:nvPr/>
        </p:nvSpPr>
        <p:spPr>
          <a:xfrm>
            <a:off x="822960" y="1737360"/>
            <a:ext cx="566892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600" strike="noStrike" u="none">
                <a:solidFill>
                  <a:srgbClr val="1a2233"/>
                </a:solidFill>
                <a:effectLst/>
                <a:uFillTx/>
                <a:latin typeface="Cambria"/>
                <a:ea typeface="Cambria"/>
              </a:rPr>
              <a:t>RRC and the RACH</a:t>
            </a:r>
            <a:endParaRPr b="0" lang="en-TR" sz="1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6" name="Text 5"/>
          <p:cNvSpPr/>
          <p:nvPr/>
        </p:nvSpPr>
        <p:spPr>
          <a:xfrm>
            <a:off x="822960" y="2103120"/>
            <a:ext cx="5668920" cy="63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200" strike="noStrike" u="none">
                <a:solidFill>
                  <a:srgbClr val="334155"/>
                </a:solidFill>
                <a:effectLst/>
                <a:uFillTx/>
                <a:latin typeface="Calibri"/>
                <a:ea typeface="Calibri"/>
              </a:rPr>
              <a:t>RRC is the 3GPP Layer-3 protocol that manages connection setup. No data flows without a completed RRC connection.</a:t>
            </a:r>
            <a:endParaRPr b="0" lang="en-TR" sz="1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7" name="Text 6"/>
          <p:cNvSpPr/>
          <p:nvPr/>
        </p:nvSpPr>
        <p:spPr>
          <a:xfrm>
            <a:off x="822960" y="2834640"/>
            <a:ext cx="5668920" cy="31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400" strike="noStrike" u="none">
                <a:solidFill>
                  <a:srgbClr val="065a82"/>
                </a:solidFill>
                <a:effectLst/>
                <a:uFillTx/>
                <a:latin typeface="Cambria"/>
                <a:ea typeface="Cambria"/>
              </a:rPr>
              <a:t>How a storm forms</a:t>
            </a:r>
            <a:endParaRPr b="0" lang="en-TR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8" name="Text 7"/>
          <p:cNvSpPr/>
          <p:nvPr/>
        </p:nvSpPr>
        <p:spPr>
          <a:xfrm>
            <a:off x="822960" y="3154680"/>
            <a:ext cx="5668920" cy="2011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marL="343080" indent="-343080" defTabSz="914400">
              <a:lnSpc>
                <a:spcPct val="100000"/>
              </a:lnSpc>
              <a:spcAft>
                <a:spcPts val="400"/>
              </a:spcAft>
              <a:buClr>
                <a:srgbClr val="334155"/>
              </a:buClr>
              <a:buFont typeface="Symbol" charset="2"/>
              <a:buChar char=""/>
            </a:pPr>
            <a:r>
              <a:rPr b="0" lang="en-US" sz="1150" strike="noStrike" u="none">
                <a:solidFill>
                  <a:srgbClr val="334155"/>
                </a:solidFill>
                <a:effectLst/>
                <a:uFillTx/>
                <a:latin typeface="Calibri"/>
                <a:ea typeface="Calibri"/>
              </a:rPr>
              <a:t>Botnet floods Msg1 simultaneously, overwhelming c = 54 preamble slots</a:t>
            </a:r>
            <a:endParaRPr b="0" lang="en-TR" sz="115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spcAft>
                <a:spcPts val="400"/>
              </a:spcAft>
              <a:buClr>
                <a:srgbClr val="334155"/>
              </a:buClr>
              <a:buFont typeface="Symbol" charset="2"/>
              <a:buChar char=""/>
            </a:pPr>
            <a:r>
              <a:rPr b="0" lang="en-US" sz="1150" strike="noStrike" u="none">
                <a:solidFill>
                  <a:srgbClr val="334155"/>
                </a:solidFill>
                <a:effectLst/>
                <a:uFillTx/>
                <a:latin typeface="Calibri"/>
                <a:ea typeface="Calibri"/>
              </a:rPr>
              <a:t>Preamble collision ⇒ both UEs fail ⇒ retry</a:t>
            </a:r>
            <a:endParaRPr b="0" lang="en-TR" sz="115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spcAft>
                <a:spcPts val="400"/>
              </a:spcAft>
              <a:buClr>
                <a:srgbClr val="334155"/>
              </a:buClr>
              <a:buFont typeface="Symbol" charset="2"/>
              <a:buChar char=""/>
            </a:pPr>
            <a:r>
              <a:rPr b="0" lang="en-US" sz="1150" strike="noStrike" u="none">
                <a:solidFill>
                  <a:srgbClr val="334155"/>
                </a:solidFill>
                <a:effectLst/>
                <a:uFillTx/>
                <a:latin typeface="Calibri"/>
                <a:ea typeface="Calibri"/>
              </a:rPr>
              <a:t>gNB buffers pending Msg3 (RRC Requests) up to K = 200</a:t>
            </a:r>
            <a:endParaRPr b="0" lang="en-TR" sz="115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spcAft>
                <a:spcPts val="400"/>
              </a:spcAft>
              <a:buClr>
                <a:srgbClr val="334155"/>
              </a:buClr>
              <a:buFont typeface="Symbol" charset="2"/>
              <a:buChar char=""/>
            </a:pPr>
            <a:r>
              <a:rPr b="0" lang="en-US" sz="1150" strike="noStrike" u="none">
                <a:solidFill>
                  <a:srgbClr val="334155"/>
                </a:solidFill>
                <a:effectLst/>
                <a:uFillTx/>
                <a:latin typeface="Calibri"/>
                <a:ea typeface="Calibri"/>
              </a:rPr>
              <a:t>At λ_high = 500 req/s, buffer fills in 0.4 s</a:t>
            </a:r>
            <a:endParaRPr b="0" lang="en-TR" sz="115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spcAft>
                <a:spcPts val="400"/>
              </a:spcAft>
              <a:buClr>
                <a:srgbClr val="334155"/>
              </a:buClr>
              <a:buFont typeface="Symbol" charset="2"/>
              <a:buChar char=""/>
            </a:pPr>
            <a:r>
              <a:rPr b="0" lang="en-US" sz="1150" strike="noStrike" u="none">
                <a:solidFill>
                  <a:srgbClr val="334155"/>
                </a:solidFill>
                <a:effectLst/>
                <a:uFillTx/>
                <a:latin typeface="Calibri"/>
                <a:ea typeface="Calibri"/>
              </a:rPr>
              <a:t>Dropped devices retry — load never subsides</a:t>
            </a:r>
            <a:endParaRPr b="0" lang="en-TR" sz="115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9" name="Shape 8"/>
          <p:cNvSpPr/>
          <p:nvPr/>
        </p:nvSpPr>
        <p:spPr>
          <a:xfrm>
            <a:off x="822960" y="5394960"/>
            <a:ext cx="5577480" cy="594000"/>
          </a:xfrm>
          <a:prstGeom prst="rect">
            <a:avLst/>
          </a:prstGeom>
          <a:solidFill>
            <a:srgbClr val="fbe9e7"/>
          </a:solidFill>
          <a:ln w="12700">
            <a:solidFill>
              <a:srgbClr val="c039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TR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0" name="Text 9"/>
          <p:cNvSpPr/>
          <p:nvPr/>
        </p:nvSpPr>
        <p:spPr>
          <a:xfrm>
            <a:off x="960120" y="5394960"/>
            <a:ext cx="5348880" cy="594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i="1" lang="en-US" sz="1150" strike="noStrike" u="none">
                <a:solidFill>
                  <a:srgbClr val="1a2233"/>
                </a:solidFill>
                <a:effectLst/>
                <a:uFillTx/>
                <a:latin typeface="Calibri"/>
                <a:ea typeface="Calibri"/>
              </a:rPr>
              <a:t>Net effect: RACH becomes a denial-of-service point — legitimate UEs cannot complete connection setup.</a:t>
            </a:r>
            <a:endParaRPr b="0" lang="en-TR" sz="115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1" name="Shape 10"/>
          <p:cNvSpPr/>
          <p:nvPr/>
        </p:nvSpPr>
        <p:spPr>
          <a:xfrm>
            <a:off x="6903720" y="1600200"/>
            <a:ext cx="4708800" cy="4525920"/>
          </a:xfrm>
          <a:prstGeom prst="rect">
            <a:avLst/>
          </a:prstGeom>
          <a:solidFill>
            <a:srgbClr val="ffffff"/>
          </a:solidFill>
          <a:ln w="9525">
            <a:solidFill>
              <a:srgbClr val="dce3e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TR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2" name="Text 11"/>
          <p:cNvSpPr/>
          <p:nvPr/>
        </p:nvSpPr>
        <p:spPr>
          <a:xfrm>
            <a:off x="7178040" y="1737360"/>
            <a:ext cx="4251600" cy="31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400" strike="noStrike" u="none">
                <a:solidFill>
                  <a:srgbClr val="1a2233"/>
                </a:solidFill>
                <a:effectLst/>
                <a:uFillTx/>
                <a:latin typeface="Cambria"/>
                <a:ea typeface="Cambria"/>
              </a:rPr>
              <a:t>RACH procedure (Msg1–Msg4)</a:t>
            </a:r>
            <a:endParaRPr b="0" lang="en-TR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3" name="Shape 12"/>
          <p:cNvSpPr/>
          <p:nvPr/>
        </p:nvSpPr>
        <p:spPr>
          <a:xfrm>
            <a:off x="7086600" y="2103120"/>
            <a:ext cx="1279800" cy="365400"/>
          </a:xfrm>
          <a:prstGeom prst="roundRect">
            <a:avLst>
              <a:gd name="adj" fmla="val 12500"/>
            </a:avLst>
          </a:prstGeom>
          <a:solidFill>
            <a:srgbClr val="065a82"/>
          </a:solidFill>
          <a:ln w="12700">
            <a:solidFill>
              <a:srgbClr val="065a82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TR" sz="18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4" name="Text 13"/>
          <p:cNvSpPr/>
          <p:nvPr/>
        </p:nvSpPr>
        <p:spPr>
          <a:xfrm>
            <a:off x="7086600" y="2103120"/>
            <a:ext cx="127980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200" strike="noStrike" u="non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UE</a:t>
            </a:r>
            <a:endParaRPr b="0" lang="en-TR" sz="1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5" name="Shape 14"/>
          <p:cNvSpPr/>
          <p:nvPr/>
        </p:nvSpPr>
        <p:spPr>
          <a:xfrm>
            <a:off x="9966960" y="2103120"/>
            <a:ext cx="1279800" cy="365400"/>
          </a:xfrm>
          <a:prstGeom prst="roundRect">
            <a:avLst>
              <a:gd name="adj" fmla="val 12500"/>
            </a:avLst>
          </a:prstGeom>
          <a:solidFill>
            <a:srgbClr val="1c7293"/>
          </a:solidFill>
          <a:ln w="12700">
            <a:solidFill>
              <a:srgbClr val="1c729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TR" sz="18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6" name="Text 15"/>
          <p:cNvSpPr/>
          <p:nvPr/>
        </p:nvSpPr>
        <p:spPr>
          <a:xfrm>
            <a:off x="9966960" y="2103120"/>
            <a:ext cx="127980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200" strike="noStrike" u="non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gNB</a:t>
            </a:r>
            <a:endParaRPr b="0" lang="en-TR" sz="1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7" name="Shape 16"/>
          <p:cNvSpPr/>
          <p:nvPr/>
        </p:nvSpPr>
        <p:spPr>
          <a:xfrm>
            <a:off x="7726680" y="2423160"/>
            <a:ext cx="360" cy="3429000"/>
          </a:xfrm>
          <a:prstGeom prst="line">
            <a:avLst/>
          </a:prstGeom>
          <a:ln w="12700">
            <a:solidFill>
              <a:srgbClr val="64748b"/>
            </a:solidFill>
            <a:prstDash val="dash"/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TR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8" name="Shape 17"/>
          <p:cNvSpPr/>
          <p:nvPr/>
        </p:nvSpPr>
        <p:spPr>
          <a:xfrm>
            <a:off x="10607040" y="2423160"/>
            <a:ext cx="360" cy="3429000"/>
          </a:xfrm>
          <a:prstGeom prst="line">
            <a:avLst/>
          </a:prstGeom>
          <a:ln w="12700">
            <a:solidFill>
              <a:srgbClr val="64748b"/>
            </a:solidFill>
            <a:prstDash val="dash"/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TR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9" name="Text 18"/>
          <p:cNvSpPr/>
          <p:nvPr/>
        </p:nvSpPr>
        <p:spPr>
          <a:xfrm>
            <a:off x="7726680" y="2496240"/>
            <a:ext cx="2880000" cy="22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050" strike="noStrike" u="none">
                <a:solidFill>
                  <a:srgbClr val="1a2233"/>
                </a:solidFill>
                <a:effectLst/>
                <a:uFillTx/>
                <a:latin typeface="Calibri"/>
                <a:ea typeface="Calibri"/>
              </a:rPr>
              <a:t>Msg1 — Preamble</a:t>
            </a:r>
            <a:endParaRPr b="0" lang="en-TR" sz="105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0" name="Shape 19"/>
          <p:cNvSpPr/>
          <p:nvPr/>
        </p:nvSpPr>
        <p:spPr>
          <a:xfrm>
            <a:off x="7772400" y="2743200"/>
            <a:ext cx="2788920" cy="360"/>
          </a:xfrm>
          <a:prstGeom prst="line">
            <a:avLst/>
          </a:prstGeom>
          <a:ln w="25400">
            <a:solidFill>
              <a:srgbClr val="065a82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TR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1" name="Text 20"/>
          <p:cNvSpPr/>
          <p:nvPr/>
        </p:nvSpPr>
        <p:spPr>
          <a:xfrm>
            <a:off x="7726680" y="3182040"/>
            <a:ext cx="2880000" cy="22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050" strike="noStrike" u="none">
                <a:solidFill>
                  <a:srgbClr val="1a2233"/>
                </a:solidFill>
                <a:effectLst/>
                <a:uFillTx/>
                <a:latin typeface="Calibri"/>
                <a:ea typeface="Calibri"/>
              </a:rPr>
              <a:t>Msg2 — RAR</a:t>
            </a:r>
            <a:endParaRPr b="0" lang="en-TR" sz="105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2" name="Shape 21"/>
          <p:cNvSpPr/>
          <p:nvPr/>
        </p:nvSpPr>
        <p:spPr>
          <a:xfrm>
            <a:off x="7772400" y="3429000"/>
            <a:ext cx="2788920" cy="360"/>
          </a:xfrm>
          <a:prstGeom prst="line">
            <a:avLst/>
          </a:prstGeom>
          <a:ln w="25400">
            <a:solidFill>
              <a:srgbClr val="1c7293"/>
            </a:solidFill>
            <a:round/>
            <a:head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TR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3" name="Text 22"/>
          <p:cNvSpPr/>
          <p:nvPr/>
        </p:nvSpPr>
        <p:spPr>
          <a:xfrm>
            <a:off x="7726680" y="3867840"/>
            <a:ext cx="2880000" cy="22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050" strike="noStrike" u="none">
                <a:solidFill>
                  <a:srgbClr val="1a2233"/>
                </a:solidFill>
                <a:effectLst/>
                <a:uFillTx/>
                <a:latin typeface="Calibri"/>
                <a:ea typeface="Calibri"/>
              </a:rPr>
              <a:t>Msg3 — RRC Request</a:t>
            </a:r>
            <a:endParaRPr b="0" lang="en-TR" sz="105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4" name="Shape 23"/>
          <p:cNvSpPr/>
          <p:nvPr/>
        </p:nvSpPr>
        <p:spPr>
          <a:xfrm>
            <a:off x="7772400" y="4114800"/>
            <a:ext cx="2788920" cy="360"/>
          </a:xfrm>
          <a:prstGeom prst="line">
            <a:avLst/>
          </a:prstGeom>
          <a:ln w="25400">
            <a:solidFill>
              <a:srgbClr val="065a82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TR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5" name="Text 24"/>
          <p:cNvSpPr/>
          <p:nvPr/>
        </p:nvSpPr>
        <p:spPr>
          <a:xfrm>
            <a:off x="7726680" y="4553640"/>
            <a:ext cx="2880000" cy="22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050" strike="noStrike" u="none">
                <a:solidFill>
                  <a:srgbClr val="1a2233"/>
                </a:solidFill>
                <a:effectLst/>
                <a:uFillTx/>
                <a:latin typeface="Calibri"/>
                <a:ea typeface="Calibri"/>
              </a:rPr>
              <a:t>Msg4 — RRC Setup</a:t>
            </a:r>
            <a:endParaRPr b="0" lang="en-TR" sz="105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6" name="Shape 25"/>
          <p:cNvSpPr/>
          <p:nvPr/>
        </p:nvSpPr>
        <p:spPr>
          <a:xfrm>
            <a:off x="7772400" y="4800600"/>
            <a:ext cx="2788920" cy="360"/>
          </a:xfrm>
          <a:prstGeom prst="line">
            <a:avLst/>
          </a:prstGeom>
          <a:ln w="25400">
            <a:solidFill>
              <a:srgbClr val="1c7293"/>
            </a:solidFill>
            <a:round/>
            <a:head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TR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7" name="Shape 26"/>
          <p:cNvSpPr/>
          <p:nvPr/>
        </p:nvSpPr>
        <p:spPr>
          <a:xfrm>
            <a:off x="8618400" y="5806440"/>
            <a:ext cx="1279800" cy="319680"/>
          </a:xfrm>
          <a:prstGeom prst="roundRect">
            <a:avLst>
              <a:gd name="adj" fmla="val 22857"/>
            </a:avLst>
          </a:prstGeom>
          <a:solidFill>
            <a:srgbClr val="0e8a6b"/>
          </a:solidFill>
          <a:ln w="12700">
            <a:solidFill>
              <a:srgbClr val="0e8a6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TR" sz="18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8" name="Text 27"/>
          <p:cNvSpPr/>
          <p:nvPr/>
        </p:nvSpPr>
        <p:spPr>
          <a:xfrm>
            <a:off x="8618400" y="5806440"/>
            <a:ext cx="1279800" cy="31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00" strike="noStrike" u="non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connected</a:t>
            </a:r>
            <a:endParaRPr b="0" lang="en-TR" sz="1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9" name="Shape 28"/>
          <p:cNvSpPr/>
          <p:nvPr/>
        </p:nvSpPr>
        <p:spPr>
          <a:xfrm>
            <a:off x="548640" y="6355080"/>
            <a:ext cx="11063880" cy="1044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34200" bIns="-34200" anchor="t">
            <a:noAutofit/>
          </a:bodyPr>
          <a:p>
            <a:endParaRPr b="0" lang="en-TR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0" name="Text 29"/>
          <p:cNvSpPr/>
          <p:nvPr/>
        </p:nvSpPr>
        <p:spPr>
          <a:xfrm>
            <a:off x="548640" y="6446520"/>
            <a:ext cx="731484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00" strike="noStrike" u="none">
                <a:solidFill>
                  <a:srgbClr val="64748b"/>
                </a:solidFill>
                <a:effectLst/>
                <a:uFillTx/>
                <a:latin typeface="Calibri"/>
                <a:ea typeface="Calibri"/>
              </a:rPr>
              <a:t>5G RRC Storm Mitigation  ·  Calibrated Digital Twin</a:t>
            </a:r>
            <a:endParaRPr b="0" lang="en-TR" sz="9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1" name="Text 30"/>
          <p:cNvSpPr/>
          <p:nvPr/>
        </p:nvSpPr>
        <p:spPr>
          <a:xfrm>
            <a:off x="10698480" y="6446520"/>
            <a:ext cx="91404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00" strike="noStrike" u="none">
                <a:solidFill>
                  <a:srgbClr val="64748b"/>
                </a:solidFill>
                <a:effectLst/>
                <a:uFillTx/>
                <a:latin typeface="Calibri"/>
                <a:ea typeface="Calibri"/>
              </a:rPr>
              <a:t>4 / 21</a:t>
            </a:r>
            <a:endParaRPr b="0" lang="en-TR" sz="9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Text 0"/>
          <p:cNvSpPr/>
          <p:nvPr/>
        </p:nvSpPr>
        <p:spPr>
          <a:xfrm>
            <a:off x="548640" y="411480"/>
            <a:ext cx="1097244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00" spc="400" strike="noStrike" u="none">
                <a:solidFill>
                  <a:srgbClr val="f4a11a"/>
                </a:solidFill>
                <a:effectLst/>
                <a:uFillTx/>
                <a:latin typeface="Calibri"/>
                <a:ea typeface="Calibri"/>
              </a:rPr>
              <a:t>THREAT MODEL</a:t>
            </a:r>
            <a:endParaRPr b="0" lang="en-TR" sz="1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3" name="Text 1"/>
          <p:cNvSpPr/>
          <p:nvPr/>
        </p:nvSpPr>
        <p:spPr>
          <a:xfrm>
            <a:off x="548640" y="713160"/>
            <a:ext cx="10972440" cy="776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3000" strike="noStrike" u="none">
                <a:solidFill>
                  <a:srgbClr val="1a2233"/>
                </a:solidFill>
                <a:effectLst/>
                <a:uFillTx/>
                <a:latin typeface="Cambria"/>
                <a:ea typeface="Cambria"/>
              </a:rPr>
              <a:t>The RRC signaling storm attack</a:t>
            </a:r>
            <a:endParaRPr b="0" lang="en-TR" sz="3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4" name="Shape 2"/>
          <p:cNvSpPr/>
          <p:nvPr/>
        </p:nvSpPr>
        <p:spPr>
          <a:xfrm>
            <a:off x="548640" y="1600200"/>
            <a:ext cx="5943240" cy="4525920"/>
          </a:xfrm>
          <a:prstGeom prst="rect">
            <a:avLst/>
          </a:prstGeom>
          <a:solidFill>
            <a:srgbClr val="ffffff"/>
          </a:solidFill>
          <a:ln w="9525">
            <a:solidFill>
              <a:srgbClr val="dce3e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TR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5" name="Shape 3"/>
          <p:cNvSpPr/>
          <p:nvPr/>
        </p:nvSpPr>
        <p:spPr>
          <a:xfrm>
            <a:off x="548640" y="1600200"/>
            <a:ext cx="63720" cy="4525920"/>
          </a:xfrm>
          <a:prstGeom prst="rect">
            <a:avLst/>
          </a:prstGeom>
          <a:solidFill>
            <a:srgbClr val="c0392b"/>
          </a:solidFill>
          <a:ln w="12700">
            <a:solidFill>
              <a:srgbClr val="c039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TR" sz="18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116" name="Image 0" descr="preencoded.png"/>
          <p:cNvPicPr/>
          <p:nvPr/>
        </p:nvPicPr>
        <p:blipFill>
          <a:blip r:embed="rId1"/>
          <a:stretch/>
        </p:blipFill>
        <p:spPr>
          <a:xfrm>
            <a:off x="822960" y="1783080"/>
            <a:ext cx="411120" cy="4111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17" name="Text 4"/>
          <p:cNvSpPr/>
          <p:nvPr/>
        </p:nvSpPr>
        <p:spPr>
          <a:xfrm>
            <a:off x="1325880" y="1783080"/>
            <a:ext cx="5028840" cy="411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600" strike="noStrike" u="none">
                <a:solidFill>
                  <a:srgbClr val="1a2233"/>
                </a:solidFill>
                <a:effectLst/>
                <a:uFillTx/>
                <a:latin typeface="Cambria"/>
                <a:ea typeface="Cambria"/>
              </a:rPr>
              <a:t>Attack mechanism</a:t>
            </a:r>
            <a:endParaRPr b="0" lang="en-TR" sz="1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8" name="Text 5"/>
          <p:cNvSpPr/>
          <p:nvPr/>
        </p:nvSpPr>
        <p:spPr>
          <a:xfrm>
            <a:off x="822960" y="2377440"/>
            <a:ext cx="5394600" cy="2377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marL="343080" indent="-343080" defTabSz="914400">
              <a:lnSpc>
                <a:spcPct val="100000"/>
              </a:lnSpc>
              <a:spcAft>
                <a:spcPts val="499"/>
              </a:spcAft>
              <a:buClr>
                <a:srgbClr val="334155"/>
              </a:buClr>
              <a:buFont typeface="Symbol" charset="2"/>
              <a:buChar char=""/>
            </a:pPr>
            <a:r>
              <a:rPr b="0" lang="en-US" sz="1250" strike="noStrike" u="none">
                <a:solidFill>
                  <a:srgbClr val="334155"/>
                </a:solidFill>
                <a:effectLst/>
                <a:uFillTx/>
                <a:latin typeface="Calibri"/>
                <a:ea typeface="Calibri"/>
              </a:rPr>
              <a:t>Adversary coordinates a botnet of compromised devices</a:t>
            </a:r>
            <a:endParaRPr b="0" lang="en-TR" sz="125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spcAft>
                <a:spcPts val="499"/>
              </a:spcAft>
              <a:buClr>
                <a:srgbClr val="334155"/>
              </a:buClr>
              <a:buFont typeface="Symbol" charset="2"/>
              <a:buChar char=""/>
            </a:pPr>
            <a:r>
              <a:rPr b="0" lang="en-US" sz="1250" strike="noStrike" u="none">
                <a:solidFill>
                  <a:srgbClr val="334155"/>
                </a:solidFill>
                <a:effectLst/>
                <a:uFillTx/>
                <a:latin typeface="Calibri"/>
                <a:ea typeface="Calibri"/>
              </a:rPr>
              <a:t>Each device sends RRC connection requests at high rate</a:t>
            </a:r>
            <a:endParaRPr b="0" lang="en-TR" sz="125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spcAft>
                <a:spcPts val="499"/>
              </a:spcAft>
              <a:buClr>
                <a:srgbClr val="334155"/>
              </a:buClr>
              <a:buFont typeface="Symbol" charset="2"/>
              <a:buChar char=""/>
            </a:pPr>
            <a:r>
              <a:rPr b="0" lang="en-US" sz="1250" strike="noStrike" u="none">
                <a:solidFill>
                  <a:srgbClr val="334155"/>
                </a:solidFill>
                <a:effectLst/>
                <a:uFillTx/>
                <a:latin typeface="Calibri"/>
                <a:ea typeface="Calibri"/>
              </a:rPr>
              <a:t>Combined rate: λ_high = 500 req/s vs. normal λ_low = 10 req/s (50×)</a:t>
            </a:r>
            <a:endParaRPr b="0" lang="en-TR" sz="125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spcAft>
                <a:spcPts val="499"/>
              </a:spcAft>
              <a:buClr>
                <a:srgbClr val="334155"/>
              </a:buClr>
              <a:buFont typeface="Symbol" charset="2"/>
              <a:buChar char=""/>
            </a:pPr>
            <a:r>
              <a:rPr b="0" lang="en-US" sz="1250" strike="noStrike" u="none">
                <a:solidFill>
                  <a:srgbClr val="334155"/>
                </a:solidFill>
                <a:effectLst/>
                <a:uFillTx/>
                <a:latin typeface="Calibri"/>
                <a:ea typeface="Calibri"/>
              </a:rPr>
              <a:t>RACH buffer saturates within seconds</a:t>
            </a:r>
            <a:endParaRPr b="0" lang="en-TR" sz="125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spcAft>
                <a:spcPts val="499"/>
              </a:spcAft>
              <a:buClr>
                <a:srgbClr val="334155"/>
              </a:buClr>
              <a:buFont typeface="Symbol" charset="2"/>
              <a:buChar char=""/>
            </a:pPr>
            <a:r>
              <a:rPr b="0" lang="en-US" sz="1250" strike="noStrike" u="none">
                <a:solidFill>
                  <a:srgbClr val="334155"/>
                </a:solidFill>
                <a:effectLst/>
                <a:uFillTx/>
                <a:latin typeface="Calibri"/>
                <a:ea typeface="Calibri"/>
              </a:rPr>
              <a:t>Access requests are dropped — QoS failure</a:t>
            </a:r>
            <a:endParaRPr b="0" lang="en-TR" sz="125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9" name="Text 6"/>
          <p:cNvSpPr/>
          <p:nvPr/>
        </p:nvSpPr>
        <p:spPr>
          <a:xfrm>
            <a:off x="822960" y="4846320"/>
            <a:ext cx="539460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i="1" lang="en-US" sz="1100" strike="noStrike" u="none">
                <a:solidFill>
                  <a:srgbClr val="64748b"/>
                </a:solidFill>
                <a:effectLst/>
                <a:uFillTx/>
                <a:latin typeface="Calibri"/>
                <a:ea typeface="Calibri"/>
              </a:rPr>
              <a:t>Termed “RRC Signaling Storm” in the literature [b1].</a:t>
            </a:r>
            <a:endParaRPr b="0" lang="en-TR" sz="1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0" name="Shape 7"/>
          <p:cNvSpPr/>
          <p:nvPr/>
        </p:nvSpPr>
        <p:spPr>
          <a:xfrm>
            <a:off x="822960" y="5394960"/>
            <a:ext cx="5394600" cy="594000"/>
          </a:xfrm>
          <a:prstGeom prst="rect">
            <a:avLst/>
          </a:prstGeom>
          <a:solidFill>
            <a:srgbClr val="fbe9e7"/>
          </a:solidFill>
          <a:ln w="12700">
            <a:solidFill>
              <a:srgbClr val="c039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TR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1" name="Text 8"/>
          <p:cNvSpPr/>
          <p:nvPr/>
        </p:nvSpPr>
        <p:spPr>
          <a:xfrm>
            <a:off x="960120" y="5394960"/>
            <a:ext cx="5120280" cy="594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i="1" lang="en-US" sz="1200" strike="noStrike" u="none">
                <a:solidFill>
                  <a:srgbClr val="1a2233"/>
                </a:solidFill>
                <a:effectLst/>
                <a:uFillTx/>
                <a:latin typeface="Calibri"/>
                <a:ea typeface="Calibri"/>
              </a:rPr>
              <a:t>Impact: All connected services lose access until the attack subsides.</a:t>
            </a:r>
            <a:endParaRPr b="0" lang="en-TR" sz="1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2" name="Shape 9"/>
          <p:cNvSpPr/>
          <p:nvPr/>
        </p:nvSpPr>
        <p:spPr>
          <a:xfrm>
            <a:off x="6766560" y="1600200"/>
            <a:ext cx="4845960" cy="4525920"/>
          </a:xfrm>
          <a:prstGeom prst="rect">
            <a:avLst/>
          </a:prstGeom>
          <a:solidFill>
            <a:srgbClr val="ffffff"/>
          </a:solidFill>
          <a:ln w="9525">
            <a:solidFill>
              <a:srgbClr val="dce3e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TR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3" name="Text 10"/>
          <p:cNvSpPr/>
          <p:nvPr/>
        </p:nvSpPr>
        <p:spPr>
          <a:xfrm>
            <a:off x="7040880" y="1737360"/>
            <a:ext cx="4388760" cy="31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400" strike="noStrike" u="none">
                <a:solidFill>
                  <a:srgbClr val="1a2233"/>
                </a:solidFill>
                <a:effectLst/>
                <a:uFillTx/>
                <a:latin typeface="Cambria"/>
                <a:ea typeface="Cambria"/>
              </a:rPr>
              <a:t>Attack flow</a:t>
            </a:r>
            <a:endParaRPr b="0" lang="en-TR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4" name="Shape 11"/>
          <p:cNvSpPr/>
          <p:nvPr/>
        </p:nvSpPr>
        <p:spPr>
          <a:xfrm>
            <a:off x="8183880" y="2194560"/>
            <a:ext cx="2011320" cy="776880"/>
          </a:xfrm>
          <a:prstGeom prst="roundRect">
            <a:avLst>
              <a:gd name="adj" fmla="val 11765"/>
            </a:avLst>
          </a:prstGeom>
          <a:solidFill>
            <a:srgbClr val="c0392b"/>
          </a:solidFill>
          <a:ln w="12700">
            <a:solidFill>
              <a:srgbClr val="c039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TR" sz="18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5" name="Text 12"/>
          <p:cNvSpPr/>
          <p:nvPr/>
        </p:nvSpPr>
        <p:spPr>
          <a:xfrm>
            <a:off x="8183880" y="2194560"/>
            <a:ext cx="2011320" cy="776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400" strike="noStrike" u="non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Botnet</a:t>
            </a:r>
            <a:endParaRPr b="0" lang="en-TR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100" strike="noStrike" u="none">
                <a:solidFill>
                  <a:srgbClr val="ffe9e5"/>
                </a:solidFill>
                <a:effectLst/>
                <a:uFillTx/>
                <a:latin typeface="Calibri"/>
                <a:ea typeface="Calibri"/>
              </a:rPr>
              <a:t>500 req/s</a:t>
            </a:r>
            <a:endParaRPr b="0" lang="en-TR" sz="1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6" name="Shape 13"/>
          <p:cNvSpPr/>
          <p:nvPr/>
        </p:nvSpPr>
        <p:spPr>
          <a:xfrm>
            <a:off x="7909560" y="3611880"/>
            <a:ext cx="2559960" cy="868320"/>
          </a:xfrm>
          <a:prstGeom prst="roundRect">
            <a:avLst>
              <a:gd name="adj" fmla="val 10526"/>
            </a:avLst>
          </a:prstGeom>
          <a:solidFill>
            <a:srgbClr val="065a82"/>
          </a:solidFill>
          <a:ln w="12700">
            <a:solidFill>
              <a:srgbClr val="065a82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TR" sz="18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7" name="Text 14"/>
          <p:cNvSpPr/>
          <p:nvPr/>
        </p:nvSpPr>
        <p:spPr>
          <a:xfrm>
            <a:off x="7909560" y="3611880"/>
            <a:ext cx="2559960" cy="868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500" strike="noStrike" u="non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gNB RACH</a:t>
            </a:r>
            <a:endParaRPr b="0" lang="en-TR" sz="15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100" strike="noStrike" u="none">
                <a:solidFill>
                  <a:srgbClr val="cfe2f3"/>
                </a:solidFill>
                <a:effectLst/>
                <a:uFillTx/>
                <a:latin typeface="Calibri"/>
                <a:ea typeface="Calibri"/>
              </a:rPr>
              <a:t>K = 200, c = 54</a:t>
            </a:r>
            <a:endParaRPr b="0" lang="en-TR" sz="1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8" name="Shape 15"/>
          <p:cNvSpPr/>
          <p:nvPr/>
        </p:nvSpPr>
        <p:spPr>
          <a:xfrm>
            <a:off x="8001000" y="5120640"/>
            <a:ext cx="2377080" cy="776880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19050">
            <a:solidFill>
              <a:srgbClr val="64748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TR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9" name="Text 16"/>
          <p:cNvSpPr/>
          <p:nvPr/>
        </p:nvSpPr>
        <p:spPr>
          <a:xfrm>
            <a:off x="8001000" y="5120640"/>
            <a:ext cx="2377080" cy="776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300" strike="noStrike" u="none">
                <a:solidFill>
                  <a:srgbClr val="1a2233"/>
                </a:solidFill>
                <a:effectLst/>
                <a:uFillTx/>
                <a:latin typeface="Calibri"/>
                <a:ea typeface="Calibri"/>
              </a:rPr>
              <a:t>Legitimate UEs</a:t>
            </a:r>
            <a:endParaRPr b="0" lang="en-TR" sz="13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0" name="Shape 17"/>
          <p:cNvSpPr/>
          <p:nvPr/>
        </p:nvSpPr>
        <p:spPr>
          <a:xfrm>
            <a:off x="9189720" y="2971800"/>
            <a:ext cx="360" cy="640080"/>
          </a:xfrm>
          <a:prstGeom prst="line">
            <a:avLst/>
          </a:prstGeom>
          <a:ln w="38100">
            <a:solidFill>
              <a:srgbClr val="c0392b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TR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1" name="Text 18"/>
          <p:cNvSpPr/>
          <p:nvPr/>
        </p:nvSpPr>
        <p:spPr>
          <a:xfrm>
            <a:off x="8092440" y="3063240"/>
            <a:ext cx="91404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algn="l" pos="0"/>
              </a:tabLst>
            </a:pPr>
            <a:r>
              <a:rPr b="1" i="1" lang="en-US" sz="1100" strike="noStrike" u="none">
                <a:solidFill>
                  <a:srgbClr val="c0392b"/>
                </a:solidFill>
                <a:effectLst/>
                <a:uFillTx/>
                <a:latin typeface="Calibri"/>
                <a:ea typeface="Calibri"/>
              </a:rPr>
              <a:t>flood</a:t>
            </a:r>
            <a:endParaRPr b="0" lang="en-TR" sz="1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2" name="Text 19"/>
          <p:cNvSpPr/>
          <p:nvPr/>
        </p:nvSpPr>
        <p:spPr>
          <a:xfrm>
            <a:off x="9372600" y="3063240"/>
            <a:ext cx="182844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i="1" lang="en-US" sz="1050" strike="noStrike" u="none">
                <a:solidFill>
                  <a:srgbClr val="c0392b"/>
                </a:solidFill>
                <a:effectLst/>
                <a:uFillTx/>
                <a:latin typeface="Calibri"/>
                <a:ea typeface="Calibri"/>
              </a:rPr>
              <a:t>⚠ buffer overflow</a:t>
            </a:r>
            <a:endParaRPr b="0" lang="en-TR" sz="105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3" name="Shape 20"/>
          <p:cNvSpPr/>
          <p:nvPr/>
        </p:nvSpPr>
        <p:spPr>
          <a:xfrm>
            <a:off x="9189720" y="4480560"/>
            <a:ext cx="360" cy="640080"/>
          </a:xfrm>
          <a:prstGeom prst="line">
            <a:avLst/>
          </a:prstGeom>
          <a:ln w="25400">
            <a:solidFill>
              <a:srgbClr val="64748b"/>
            </a:solidFill>
            <a:prstDash val="dash"/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TR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4" name="Text 21"/>
          <p:cNvSpPr/>
          <p:nvPr/>
        </p:nvSpPr>
        <p:spPr>
          <a:xfrm>
            <a:off x="9281160" y="4617720"/>
            <a:ext cx="109692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i="1" lang="en-US" sz="1100" strike="noStrike" u="none">
                <a:solidFill>
                  <a:srgbClr val="64748b"/>
                </a:solidFill>
                <a:effectLst/>
                <a:uFillTx/>
                <a:latin typeface="Calibri"/>
                <a:ea typeface="Calibri"/>
              </a:rPr>
              <a:t>blocked</a:t>
            </a:r>
            <a:endParaRPr b="0" lang="en-TR" sz="1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5" name="Shape 22"/>
          <p:cNvSpPr/>
          <p:nvPr/>
        </p:nvSpPr>
        <p:spPr>
          <a:xfrm>
            <a:off x="548640" y="6355080"/>
            <a:ext cx="11063880" cy="1044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34200" bIns="-34200" anchor="t">
            <a:noAutofit/>
          </a:bodyPr>
          <a:p>
            <a:endParaRPr b="0" lang="en-TR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6" name="Text 23"/>
          <p:cNvSpPr/>
          <p:nvPr/>
        </p:nvSpPr>
        <p:spPr>
          <a:xfrm>
            <a:off x="548640" y="6446520"/>
            <a:ext cx="731484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00" strike="noStrike" u="none">
                <a:solidFill>
                  <a:srgbClr val="64748b"/>
                </a:solidFill>
                <a:effectLst/>
                <a:uFillTx/>
                <a:latin typeface="Calibri"/>
                <a:ea typeface="Calibri"/>
              </a:rPr>
              <a:t>5G RRC Storm Mitigation  ·  Calibrated Digital Twin</a:t>
            </a:r>
            <a:endParaRPr b="0" lang="en-TR" sz="9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7" name="Text 24"/>
          <p:cNvSpPr/>
          <p:nvPr/>
        </p:nvSpPr>
        <p:spPr>
          <a:xfrm>
            <a:off x="10698480" y="6446520"/>
            <a:ext cx="91404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00" strike="noStrike" u="none">
                <a:solidFill>
                  <a:srgbClr val="64748b"/>
                </a:solidFill>
                <a:effectLst/>
                <a:uFillTx/>
                <a:latin typeface="Calibri"/>
                <a:ea typeface="Calibri"/>
              </a:rPr>
              <a:t>5 / 21</a:t>
            </a:r>
            <a:endParaRPr b="0" lang="en-TR" sz="9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Text 0"/>
          <p:cNvSpPr/>
          <p:nvPr/>
        </p:nvSpPr>
        <p:spPr>
          <a:xfrm>
            <a:off x="548640" y="411480"/>
            <a:ext cx="1097244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00" spc="400" strike="noStrike" u="none">
                <a:solidFill>
                  <a:srgbClr val="f4a11a"/>
                </a:solidFill>
                <a:effectLst/>
                <a:uFillTx/>
                <a:latin typeface="Calibri"/>
                <a:ea typeface="Calibri"/>
              </a:rPr>
              <a:t>PROBLEM</a:t>
            </a:r>
            <a:endParaRPr b="0" lang="en-TR" sz="1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9" name="Text 1"/>
          <p:cNvSpPr/>
          <p:nvPr/>
        </p:nvSpPr>
        <p:spPr>
          <a:xfrm>
            <a:off x="548640" y="713160"/>
            <a:ext cx="10972440" cy="776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3000" strike="noStrike" u="none">
                <a:solidFill>
                  <a:srgbClr val="1a2233"/>
                </a:solidFill>
                <a:effectLst/>
                <a:uFillTx/>
                <a:latin typeface="Cambria"/>
                <a:ea typeface="Cambria"/>
              </a:rPr>
              <a:t>Control-loop latency in ACB/UAC</a:t>
            </a:r>
            <a:endParaRPr b="0" lang="en-TR" sz="3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0" name="Text 2"/>
          <p:cNvSpPr/>
          <p:nvPr/>
        </p:nvSpPr>
        <p:spPr>
          <a:xfrm>
            <a:off x="548640" y="1554480"/>
            <a:ext cx="1097244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i="1" lang="en-US" sz="1300" strike="noStrike" u="none">
                <a:solidFill>
                  <a:srgbClr val="334155"/>
                </a:solidFill>
                <a:effectLst/>
                <a:uFillTx/>
                <a:latin typeface="Calibri"/>
                <a:ea typeface="Calibri"/>
              </a:rPr>
              <a:t>Current defence: Access Class Barring (ACB) — 3GPP TS 38.331 UAC framework.</a:t>
            </a:r>
            <a:endParaRPr b="0" lang="en-TR" sz="13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1" name="Shape 3"/>
          <p:cNvSpPr/>
          <p:nvPr/>
        </p:nvSpPr>
        <p:spPr>
          <a:xfrm>
            <a:off x="731520" y="2926080"/>
            <a:ext cx="10698480" cy="360"/>
          </a:xfrm>
          <a:prstGeom prst="line">
            <a:avLst/>
          </a:prstGeom>
          <a:ln w="25400">
            <a:solidFill>
              <a:srgbClr val="64748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TR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2" name="Shape 4"/>
          <p:cNvSpPr/>
          <p:nvPr/>
        </p:nvSpPr>
        <p:spPr>
          <a:xfrm>
            <a:off x="594360" y="2788920"/>
            <a:ext cx="273960" cy="273960"/>
          </a:xfrm>
          <a:prstGeom prst="ellipse">
            <a:avLst/>
          </a:prstGeom>
          <a:solidFill>
            <a:srgbClr val="065a82"/>
          </a:solidFill>
          <a:ln w="12700">
            <a:solidFill>
              <a:srgbClr val="065a82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TR" sz="18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43" name="Text 5"/>
          <p:cNvSpPr/>
          <p:nvPr/>
        </p:nvSpPr>
        <p:spPr>
          <a:xfrm>
            <a:off x="-548640" y="3154680"/>
            <a:ext cx="255996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50" strike="noStrike" u="none">
                <a:solidFill>
                  <a:srgbClr val="1a2233"/>
                </a:solidFill>
                <a:effectLst/>
                <a:uFillTx/>
                <a:latin typeface="Calibri"/>
                <a:ea typeface="Calibri"/>
              </a:rPr>
              <a:t>Attack starts</a:t>
            </a:r>
            <a:endParaRPr b="0" lang="en-TR" sz="115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4" name="Shape 6"/>
          <p:cNvSpPr/>
          <p:nvPr/>
        </p:nvSpPr>
        <p:spPr>
          <a:xfrm>
            <a:off x="3803760" y="2788920"/>
            <a:ext cx="273960" cy="273960"/>
          </a:xfrm>
          <a:prstGeom prst="ellipse">
            <a:avLst/>
          </a:prstGeom>
          <a:solidFill>
            <a:srgbClr val="1c7293"/>
          </a:solidFill>
          <a:ln w="12700">
            <a:solidFill>
              <a:srgbClr val="1c729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TR" sz="18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45" name="Text 7"/>
          <p:cNvSpPr/>
          <p:nvPr/>
        </p:nvSpPr>
        <p:spPr>
          <a:xfrm>
            <a:off x="2660760" y="3154680"/>
            <a:ext cx="255996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50" strike="noStrike" u="none">
                <a:solidFill>
                  <a:srgbClr val="1a2233"/>
                </a:solidFill>
                <a:effectLst/>
                <a:uFillTx/>
                <a:latin typeface="Calibri"/>
                <a:ea typeface="Calibri"/>
              </a:rPr>
              <a:t>Queue fills up</a:t>
            </a:r>
            <a:endParaRPr b="0" lang="en-TR" sz="115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6" name="Shape 8"/>
          <p:cNvSpPr/>
          <p:nvPr/>
        </p:nvSpPr>
        <p:spPr>
          <a:xfrm>
            <a:off x="7013520" y="2788920"/>
            <a:ext cx="273960" cy="273960"/>
          </a:xfrm>
          <a:prstGeom prst="ellipse">
            <a:avLst/>
          </a:prstGeom>
          <a:solidFill>
            <a:srgbClr val="f4a11a"/>
          </a:solidFill>
          <a:ln w="12700">
            <a:solidFill>
              <a:srgbClr val="f4a11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TR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7" name="Text 9"/>
          <p:cNvSpPr/>
          <p:nvPr/>
        </p:nvSpPr>
        <p:spPr>
          <a:xfrm>
            <a:off x="5870520" y="3154680"/>
            <a:ext cx="255996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50" strike="noStrike" u="none">
                <a:solidFill>
                  <a:srgbClr val="1a2233"/>
                </a:solidFill>
                <a:effectLst/>
                <a:uFillTx/>
                <a:latin typeface="Calibri"/>
                <a:ea typeface="Calibri"/>
              </a:rPr>
              <a:t>ACB detects Q &gt; 0.8K</a:t>
            </a:r>
            <a:endParaRPr b="0" lang="en-TR" sz="115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8" name="Shape 10"/>
          <p:cNvSpPr/>
          <p:nvPr/>
        </p:nvSpPr>
        <p:spPr>
          <a:xfrm>
            <a:off x="10437120" y="2788920"/>
            <a:ext cx="273960" cy="273960"/>
          </a:xfrm>
          <a:prstGeom prst="ellipse">
            <a:avLst/>
          </a:prstGeom>
          <a:solidFill>
            <a:srgbClr val="c0392b"/>
          </a:solidFill>
          <a:ln w="12700">
            <a:solidFill>
              <a:srgbClr val="c039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TR" sz="18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49" name="Text 11"/>
          <p:cNvSpPr/>
          <p:nvPr/>
        </p:nvSpPr>
        <p:spPr>
          <a:xfrm>
            <a:off x="9294120" y="3154680"/>
            <a:ext cx="255996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50" strike="noStrike" u="none">
                <a:solidFill>
                  <a:srgbClr val="1a2233"/>
                </a:solidFill>
                <a:effectLst/>
                <a:uFillTx/>
                <a:latin typeface="Calibri"/>
                <a:ea typeface="Calibri"/>
              </a:rPr>
              <a:t>Dropping starts</a:t>
            </a:r>
            <a:endParaRPr b="0" lang="en-TR" sz="115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0" name="Shape 12"/>
          <p:cNvSpPr/>
          <p:nvPr/>
        </p:nvSpPr>
        <p:spPr>
          <a:xfrm>
            <a:off x="7150680" y="2286000"/>
            <a:ext cx="3423240" cy="456840"/>
          </a:xfrm>
          <a:prstGeom prst="rect">
            <a:avLst/>
          </a:prstGeom>
          <a:solidFill>
            <a:srgbClr val="fbe9e7">
              <a:alpha val="70000"/>
            </a:srgbClr>
          </a:solidFill>
          <a:ln w="12700">
            <a:solidFill>
              <a:srgbClr val="c0392b"/>
            </a:solidFill>
            <a:prstDash val="dash"/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TR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1" name="Text 13"/>
          <p:cNvSpPr/>
          <p:nvPr/>
        </p:nvSpPr>
        <p:spPr>
          <a:xfrm>
            <a:off x="7150680" y="2331720"/>
            <a:ext cx="3423240" cy="411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i="1" lang="en-US" sz="1150" strike="noStrike" u="none">
                <a:solidFill>
                  <a:srgbClr val="c0392b"/>
                </a:solidFill>
                <a:effectLst/>
                <a:uFillTx/>
                <a:latin typeface="Calibri"/>
                <a:ea typeface="Calibri"/>
              </a:rPr>
              <a:t>Control-loop latency  —  damage already done</a:t>
            </a:r>
            <a:endParaRPr b="0" lang="en-TR" sz="115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2" name="Shape 14"/>
          <p:cNvSpPr/>
          <p:nvPr/>
        </p:nvSpPr>
        <p:spPr>
          <a:xfrm>
            <a:off x="548640" y="3931920"/>
            <a:ext cx="5486040" cy="2102760"/>
          </a:xfrm>
          <a:prstGeom prst="rect">
            <a:avLst/>
          </a:prstGeom>
          <a:solidFill>
            <a:srgbClr val="ffffff"/>
          </a:solidFill>
          <a:ln w="9525">
            <a:solidFill>
              <a:srgbClr val="dce3e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TR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3" name="Shape 15"/>
          <p:cNvSpPr/>
          <p:nvPr/>
        </p:nvSpPr>
        <p:spPr>
          <a:xfrm>
            <a:off x="548640" y="3931920"/>
            <a:ext cx="63720" cy="2102760"/>
          </a:xfrm>
          <a:prstGeom prst="rect">
            <a:avLst/>
          </a:prstGeom>
          <a:solidFill>
            <a:srgbClr val="065a82"/>
          </a:solidFill>
          <a:ln w="12700">
            <a:solidFill>
              <a:srgbClr val="065a82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TR" sz="18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4" name="Text 16"/>
          <p:cNvSpPr/>
          <p:nvPr/>
        </p:nvSpPr>
        <p:spPr>
          <a:xfrm>
            <a:off x="777240" y="4069080"/>
            <a:ext cx="512028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400" strike="noStrike" u="none">
                <a:solidFill>
                  <a:srgbClr val="1a2233"/>
                </a:solidFill>
                <a:effectLst/>
                <a:uFillTx/>
                <a:latin typeface="Cambria"/>
                <a:ea typeface="Cambria"/>
              </a:rPr>
              <a:t>Fundamental causality constraint</a:t>
            </a:r>
            <a:endParaRPr b="0" lang="en-TR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5" name="Text 17"/>
          <p:cNvSpPr/>
          <p:nvPr/>
        </p:nvSpPr>
        <p:spPr>
          <a:xfrm>
            <a:off x="777240" y="4480560"/>
            <a:ext cx="5120280" cy="1462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200" strike="noStrike" u="none">
                <a:solidFill>
                  <a:srgbClr val="334155"/>
                </a:solidFill>
                <a:effectLst/>
                <a:uFillTx/>
                <a:latin typeface="Calibri"/>
                <a:ea typeface="Calibri"/>
              </a:rPr>
              <a:t>ACB throttles only after observing Q_real &gt; 0.8K. During the build-up, requests are silently dropped.</a:t>
            </a:r>
            <a:endParaRPr b="0" lang="en-TR" sz="1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6" name="Shape 18"/>
          <p:cNvSpPr/>
          <p:nvPr/>
        </p:nvSpPr>
        <p:spPr>
          <a:xfrm>
            <a:off x="6263640" y="3931920"/>
            <a:ext cx="5486040" cy="2102760"/>
          </a:xfrm>
          <a:prstGeom prst="rect">
            <a:avLst/>
          </a:prstGeom>
          <a:solidFill>
            <a:srgbClr val="ffffff"/>
          </a:solidFill>
          <a:ln w="9525">
            <a:solidFill>
              <a:srgbClr val="dce3e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TR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7" name="Shape 19"/>
          <p:cNvSpPr/>
          <p:nvPr/>
        </p:nvSpPr>
        <p:spPr>
          <a:xfrm>
            <a:off x="6263640" y="3931920"/>
            <a:ext cx="63720" cy="2102760"/>
          </a:xfrm>
          <a:prstGeom prst="rect">
            <a:avLst/>
          </a:prstGeom>
          <a:solidFill>
            <a:srgbClr val="f4a11a"/>
          </a:solidFill>
          <a:ln w="12700">
            <a:solidFill>
              <a:srgbClr val="f4a11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TR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8" name="Text 20"/>
          <p:cNvSpPr/>
          <p:nvPr/>
        </p:nvSpPr>
        <p:spPr>
          <a:xfrm>
            <a:off x="6492240" y="4069080"/>
            <a:ext cx="512028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400" strike="noStrike" u="none">
                <a:solidFill>
                  <a:srgbClr val="1a2233"/>
                </a:solidFill>
                <a:effectLst/>
                <a:uFillTx/>
                <a:latin typeface="Cambria"/>
                <a:ea typeface="Cambria"/>
              </a:rPr>
              <a:t>Empirical evidence</a:t>
            </a:r>
            <a:endParaRPr b="0" lang="en-TR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9" name="Text 21"/>
          <p:cNvSpPr/>
          <p:nvPr/>
        </p:nvSpPr>
        <p:spPr>
          <a:xfrm>
            <a:off x="6492240" y="4480560"/>
            <a:ext cx="5120280" cy="1462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200" strike="noStrike" u="none">
                <a:solidFill>
                  <a:srgbClr val="334155"/>
                </a:solidFill>
                <a:effectLst/>
                <a:uFillTx/>
                <a:latin typeface="Calibri"/>
                <a:ea typeface="Calibri"/>
              </a:rPr>
              <a:t>Kotuliak et al. (2021): RACH exceeded delay budget under high load in commercial 5G NR deployments [b6].</a:t>
            </a:r>
            <a:endParaRPr b="0" lang="en-TR" sz="1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0" name="Shape 22"/>
          <p:cNvSpPr/>
          <p:nvPr/>
        </p:nvSpPr>
        <p:spPr>
          <a:xfrm>
            <a:off x="548640" y="6355080"/>
            <a:ext cx="11063880" cy="1044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34200" bIns="-34200" anchor="t">
            <a:noAutofit/>
          </a:bodyPr>
          <a:p>
            <a:endParaRPr b="0" lang="en-TR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1" name="Text 23"/>
          <p:cNvSpPr/>
          <p:nvPr/>
        </p:nvSpPr>
        <p:spPr>
          <a:xfrm>
            <a:off x="548640" y="6446520"/>
            <a:ext cx="731484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00" strike="noStrike" u="none">
                <a:solidFill>
                  <a:srgbClr val="64748b"/>
                </a:solidFill>
                <a:effectLst/>
                <a:uFillTx/>
                <a:latin typeface="Calibri"/>
                <a:ea typeface="Calibri"/>
              </a:rPr>
              <a:t>5G RRC Storm Mitigation  ·  Calibrated Digital Twin</a:t>
            </a:r>
            <a:endParaRPr b="0" lang="en-TR" sz="9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2" name="Text 24"/>
          <p:cNvSpPr/>
          <p:nvPr/>
        </p:nvSpPr>
        <p:spPr>
          <a:xfrm>
            <a:off x="10698480" y="6446520"/>
            <a:ext cx="91404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00" strike="noStrike" u="none">
                <a:solidFill>
                  <a:srgbClr val="64748b"/>
                </a:solidFill>
                <a:effectLst/>
                <a:uFillTx/>
                <a:latin typeface="Calibri"/>
                <a:ea typeface="Calibri"/>
              </a:rPr>
              <a:t>6 / 21</a:t>
            </a:r>
            <a:endParaRPr b="0" lang="en-TR" sz="9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3" name="Text 0"/>
          <p:cNvSpPr/>
          <p:nvPr/>
        </p:nvSpPr>
        <p:spPr>
          <a:xfrm>
            <a:off x="548640" y="411480"/>
            <a:ext cx="1097244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00" spc="400" strike="noStrike" u="none">
                <a:solidFill>
                  <a:srgbClr val="f4a11a"/>
                </a:solidFill>
                <a:effectLst/>
                <a:uFillTx/>
                <a:latin typeface="Calibri"/>
                <a:ea typeface="Calibri"/>
              </a:rPr>
              <a:t>RESEARCH GAP</a:t>
            </a:r>
            <a:endParaRPr b="0" lang="en-TR" sz="1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4" name="Text 1"/>
          <p:cNvSpPr/>
          <p:nvPr/>
        </p:nvSpPr>
        <p:spPr>
          <a:xfrm>
            <a:off x="548640" y="713160"/>
            <a:ext cx="10972440" cy="776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3000" strike="noStrike" u="none">
                <a:solidFill>
                  <a:srgbClr val="1a2233"/>
                </a:solidFill>
                <a:effectLst/>
                <a:uFillTx/>
                <a:latin typeface="Cambria"/>
                <a:ea typeface="Cambria"/>
              </a:rPr>
              <a:t>Why existing approaches fall short</a:t>
            </a:r>
            <a:endParaRPr b="0" lang="en-TR" sz="3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5" name="Shape 2"/>
          <p:cNvSpPr/>
          <p:nvPr/>
        </p:nvSpPr>
        <p:spPr>
          <a:xfrm>
            <a:off x="548640" y="1691640"/>
            <a:ext cx="3611520" cy="3657240"/>
          </a:xfrm>
          <a:prstGeom prst="rect">
            <a:avLst/>
          </a:prstGeom>
          <a:solidFill>
            <a:srgbClr val="ffffff"/>
          </a:solidFill>
          <a:ln w="9525">
            <a:solidFill>
              <a:srgbClr val="dce3e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TR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6" name="Shape 3"/>
          <p:cNvSpPr/>
          <p:nvPr/>
        </p:nvSpPr>
        <p:spPr>
          <a:xfrm>
            <a:off x="548640" y="1691640"/>
            <a:ext cx="3611520" cy="502560"/>
          </a:xfrm>
          <a:prstGeom prst="rect">
            <a:avLst/>
          </a:prstGeom>
          <a:solidFill>
            <a:srgbClr val="065a82"/>
          </a:solidFill>
          <a:ln w="12700">
            <a:solidFill>
              <a:srgbClr val="065a82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TR" sz="18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167" name="Image 0" descr="preencoded.png"/>
          <p:cNvPicPr/>
          <p:nvPr/>
        </p:nvPicPr>
        <p:blipFill>
          <a:blip r:embed="rId1"/>
          <a:stretch/>
        </p:blipFill>
        <p:spPr>
          <a:xfrm>
            <a:off x="777240" y="1801440"/>
            <a:ext cx="292320" cy="2923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68" name="Text 4"/>
          <p:cNvSpPr/>
          <p:nvPr/>
        </p:nvSpPr>
        <p:spPr>
          <a:xfrm>
            <a:off x="1143000" y="1691640"/>
            <a:ext cx="2971440" cy="50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400" strike="noStrike" u="none">
                <a:solidFill>
                  <a:srgbClr val="ffffff"/>
                </a:solidFill>
                <a:effectLst/>
                <a:uFillTx/>
                <a:latin typeface="Cambria"/>
                <a:ea typeface="Cambria"/>
              </a:rPr>
              <a:t>Reactive ACB / UAC</a:t>
            </a:r>
            <a:endParaRPr b="0" lang="en-TR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9" name="Text 5"/>
          <p:cNvSpPr/>
          <p:nvPr/>
        </p:nvSpPr>
        <p:spPr>
          <a:xfrm>
            <a:off x="777240" y="2377440"/>
            <a:ext cx="315432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000" spc="300" strike="noStrike" u="none">
                <a:solidFill>
                  <a:srgbClr val="0e8a6b"/>
                </a:solidFill>
                <a:effectLst/>
                <a:uFillTx/>
                <a:latin typeface="Calibri"/>
                <a:ea typeface="Calibri"/>
              </a:rPr>
              <a:t>Strength</a:t>
            </a:r>
            <a:endParaRPr b="0" lang="en-TR" sz="1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0" name="Text 6"/>
          <p:cNvSpPr/>
          <p:nvPr/>
        </p:nvSpPr>
        <p:spPr>
          <a:xfrm>
            <a:off x="777240" y="2651760"/>
            <a:ext cx="3154320" cy="82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200" strike="noStrike" u="none">
                <a:solidFill>
                  <a:srgbClr val="334155"/>
                </a:solidFill>
                <a:effectLst/>
                <a:uFillTx/>
                <a:latin typeface="Calibri"/>
                <a:ea typeface="Calibri"/>
              </a:rPr>
              <a:t>Simple, standards-compliant</a:t>
            </a:r>
            <a:endParaRPr b="0" lang="en-TR" sz="1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1" name="Shape 7"/>
          <p:cNvSpPr/>
          <p:nvPr/>
        </p:nvSpPr>
        <p:spPr>
          <a:xfrm>
            <a:off x="777240" y="3566160"/>
            <a:ext cx="3154320" cy="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0320" bIns="-40320" anchor="t">
            <a:noAutofit/>
          </a:bodyPr>
          <a:p>
            <a:endParaRPr b="0" lang="en-TR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2" name="Text 8"/>
          <p:cNvSpPr/>
          <p:nvPr/>
        </p:nvSpPr>
        <p:spPr>
          <a:xfrm>
            <a:off x="777240" y="3657600"/>
            <a:ext cx="315432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000" spc="300" strike="noStrike" u="none">
                <a:solidFill>
                  <a:srgbClr val="c0392b"/>
                </a:solidFill>
                <a:effectLst/>
                <a:uFillTx/>
                <a:latin typeface="Calibri"/>
                <a:ea typeface="Calibri"/>
              </a:rPr>
              <a:t>Limitation</a:t>
            </a:r>
            <a:endParaRPr b="0" lang="en-TR" sz="1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3" name="Text 9"/>
          <p:cNvSpPr/>
          <p:nvPr/>
        </p:nvSpPr>
        <p:spPr>
          <a:xfrm>
            <a:off x="777240" y="3931920"/>
            <a:ext cx="3154320" cy="1325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200" strike="noStrike" u="none">
                <a:solidFill>
                  <a:srgbClr val="334155"/>
                </a:solidFill>
                <a:effectLst/>
                <a:uFillTx/>
                <a:latin typeface="Calibri"/>
                <a:ea typeface="Calibri"/>
              </a:rPr>
              <a:t>Reacts after saturation; inherent control-loop latency</a:t>
            </a:r>
            <a:endParaRPr b="0" lang="en-TR" sz="1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4" name="Shape 10"/>
          <p:cNvSpPr/>
          <p:nvPr/>
        </p:nvSpPr>
        <p:spPr>
          <a:xfrm>
            <a:off x="4434840" y="1691640"/>
            <a:ext cx="3611520" cy="3657240"/>
          </a:xfrm>
          <a:prstGeom prst="rect">
            <a:avLst/>
          </a:prstGeom>
          <a:solidFill>
            <a:srgbClr val="ffffff"/>
          </a:solidFill>
          <a:ln w="9525">
            <a:solidFill>
              <a:srgbClr val="dce3e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TR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5" name="Shape 11"/>
          <p:cNvSpPr/>
          <p:nvPr/>
        </p:nvSpPr>
        <p:spPr>
          <a:xfrm>
            <a:off x="4434840" y="1691640"/>
            <a:ext cx="3611520" cy="502560"/>
          </a:xfrm>
          <a:prstGeom prst="rect">
            <a:avLst/>
          </a:prstGeom>
          <a:solidFill>
            <a:srgbClr val="1c7293"/>
          </a:solidFill>
          <a:ln w="12700">
            <a:solidFill>
              <a:srgbClr val="1c729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TR" sz="18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176" name="Image 1" descr="preencoded.png"/>
          <p:cNvPicPr/>
          <p:nvPr/>
        </p:nvPicPr>
        <p:blipFill>
          <a:blip r:embed="rId2"/>
          <a:stretch/>
        </p:blipFill>
        <p:spPr>
          <a:xfrm>
            <a:off x="4663440" y="1801440"/>
            <a:ext cx="292320" cy="2923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77" name="Text 12"/>
          <p:cNvSpPr/>
          <p:nvPr/>
        </p:nvSpPr>
        <p:spPr>
          <a:xfrm>
            <a:off x="5029200" y="1691640"/>
            <a:ext cx="2971440" cy="50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400" strike="noStrike" u="none">
                <a:solidFill>
                  <a:srgbClr val="ffffff"/>
                </a:solidFill>
                <a:effectLst/>
                <a:uFillTx/>
                <a:latin typeface="Cambria"/>
                <a:ea typeface="Cambria"/>
              </a:rPr>
              <a:t>ML / DNN predictors</a:t>
            </a:r>
            <a:endParaRPr b="0" lang="en-TR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8" name="Text 13"/>
          <p:cNvSpPr/>
          <p:nvPr/>
        </p:nvSpPr>
        <p:spPr>
          <a:xfrm>
            <a:off x="4663440" y="2377440"/>
            <a:ext cx="315432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000" spc="300" strike="noStrike" u="none">
                <a:solidFill>
                  <a:srgbClr val="0e8a6b"/>
                </a:solidFill>
                <a:effectLst/>
                <a:uFillTx/>
                <a:latin typeface="Calibri"/>
                <a:ea typeface="Calibri"/>
              </a:rPr>
              <a:t>Strength</a:t>
            </a:r>
            <a:endParaRPr b="0" lang="en-TR" sz="1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9" name="Text 14"/>
          <p:cNvSpPr/>
          <p:nvPr/>
        </p:nvSpPr>
        <p:spPr>
          <a:xfrm>
            <a:off x="4663440" y="2651760"/>
            <a:ext cx="3154320" cy="82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200" strike="noStrike" u="none">
                <a:solidFill>
                  <a:srgbClr val="334155"/>
                </a:solidFill>
                <a:effectLst/>
                <a:uFillTx/>
                <a:latin typeface="Calibri"/>
                <a:ea typeface="Calibri"/>
              </a:rPr>
              <a:t>High accuracy on stationary traffic</a:t>
            </a:r>
            <a:endParaRPr b="0" lang="en-TR" sz="1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0" name="Shape 15"/>
          <p:cNvSpPr/>
          <p:nvPr/>
        </p:nvSpPr>
        <p:spPr>
          <a:xfrm>
            <a:off x="4663440" y="3566160"/>
            <a:ext cx="3154320" cy="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0320" bIns="-40320" anchor="t">
            <a:noAutofit/>
          </a:bodyPr>
          <a:p>
            <a:endParaRPr b="0" lang="en-TR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1" name="Text 16"/>
          <p:cNvSpPr/>
          <p:nvPr/>
        </p:nvSpPr>
        <p:spPr>
          <a:xfrm>
            <a:off x="4663440" y="3657600"/>
            <a:ext cx="315432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000" spc="300" strike="noStrike" u="none">
                <a:solidFill>
                  <a:srgbClr val="c0392b"/>
                </a:solidFill>
                <a:effectLst/>
                <a:uFillTx/>
                <a:latin typeface="Calibri"/>
                <a:ea typeface="Calibri"/>
              </a:rPr>
              <a:t>Limitation</a:t>
            </a:r>
            <a:endParaRPr b="0" lang="en-TR" sz="1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2" name="Text 17"/>
          <p:cNvSpPr/>
          <p:nvPr/>
        </p:nvSpPr>
        <p:spPr>
          <a:xfrm>
            <a:off x="4663440" y="3931920"/>
            <a:ext cx="3154320" cy="1325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200" strike="noStrike" u="none">
                <a:solidFill>
                  <a:srgbClr val="334155"/>
                </a:solidFill>
                <a:effectLst/>
                <a:uFillTx/>
                <a:latin typeface="Calibri"/>
                <a:ea typeface="Calibri"/>
              </a:rPr>
              <a:t>O(W) inference, W ~ 10⁵–10⁷; ms latency — impractical on gNB hardware</a:t>
            </a:r>
            <a:endParaRPr b="0" lang="en-TR" sz="1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3" name="Shape 18"/>
          <p:cNvSpPr/>
          <p:nvPr/>
        </p:nvSpPr>
        <p:spPr>
          <a:xfrm>
            <a:off x="8321040" y="1691640"/>
            <a:ext cx="3611520" cy="3657240"/>
          </a:xfrm>
          <a:prstGeom prst="rect">
            <a:avLst/>
          </a:prstGeom>
          <a:solidFill>
            <a:srgbClr val="ffffff"/>
          </a:solidFill>
          <a:ln w="9525">
            <a:solidFill>
              <a:srgbClr val="dce3e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TR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4" name="Shape 19"/>
          <p:cNvSpPr/>
          <p:nvPr/>
        </p:nvSpPr>
        <p:spPr>
          <a:xfrm>
            <a:off x="8321040" y="1691640"/>
            <a:ext cx="3611520" cy="502560"/>
          </a:xfrm>
          <a:prstGeom prst="rect">
            <a:avLst/>
          </a:prstGeom>
          <a:solidFill>
            <a:srgbClr val="f4a11a"/>
          </a:solidFill>
          <a:ln w="12700">
            <a:solidFill>
              <a:srgbClr val="f4a11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TR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185" name="Image 2" descr="preencoded.png"/>
          <p:cNvPicPr/>
          <p:nvPr/>
        </p:nvPicPr>
        <p:blipFill>
          <a:blip r:embed="rId3"/>
          <a:stretch/>
        </p:blipFill>
        <p:spPr>
          <a:xfrm>
            <a:off x="8549640" y="1801440"/>
            <a:ext cx="292320" cy="2923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86" name="Text 20"/>
          <p:cNvSpPr/>
          <p:nvPr/>
        </p:nvSpPr>
        <p:spPr>
          <a:xfrm>
            <a:off x="8915400" y="1691640"/>
            <a:ext cx="2971440" cy="50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400" strike="noStrike" u="none">
                <a:solidFill>
                  <a:srgbClr val="ffffff"/>
                </a:solidFill>
                <a:effectLst/>
                <a:uFillTx/>
                <a:latin typeface="Cambria"/>
                <a:ea typeface="Cambria"/>
              </a:rPr>
              <a:t>Standard Digital Twin</a:t>
            </a:r>
            <a:endParaRPr b="0" lang="en-TR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7" name="Text 21"/>
          <p:cNvSpPr/>
          <p:nvPr/>
        </p:nvSpPr>
        <p:spPr>
          <a:xfrm>
            <a:off x="8549640" y="2377440"/>
            <a:ext cx="315432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000" spc="300" strike="noStrike" u="none">
                <a:solidFill>
                  <a:srgbClr val="0e8a6b"/>
                </a:solidFill>
                <a:effectLst/>
                <a:uFillTx/>
                <a:latin typeface="Calibri"/>
                <a:ea typeface="Calibri"/>
              </a:rPr>
              <a:t>Strength</a:t>
            </a:r>
            <a:endParaRPr b="0" lang="en-TR" sz="1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8" name="Text 22"/>
          <p:cNvSpPr/>
          <p:nvPr/>
        </p:nvSpPr>
        <p:spPr>
          <a:xfrm>
            <a:off x="8549640" y="2651760"/>
            <a:ext cx="3154320" cy="82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200" strike="noStrike" u="none">
                <a:solidFill>
                  <a:srgbClr val="334155"/>
                </a:solidFill>
                <a:effectLst/>
                <a:uFillTx/>
                <a:latin typeface="Calibri"/>
                <a:ea typeface="Calibri"/>
              </a:rPr>
              <a:t>Proactive control possible</a:t>
            </a:r>
            <a:endParaRPr b="0" lang="en-TR" sz="1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9" name="Shape 23"/>
          <p:cNvSpPr/>
          <p:nvPr/>
        </p:nvSpPr>
        <p:spPr>
          <a:xfrm>
            <a:off x="8549640" y="3566160"/>
            <a:ext cx="3154320" cy="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0320" bIns="-40320" anchor="t">
            <a:noAutofit/>
          </a:bodyPr>
          <a:p>
            <a:endParaRPr b="0" lang="en-TR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0" name="Text 24"/>
          <p:cNvSpPr/>
          <p:nvPr/>
        </p:nvSpPr>
        <p:spPr>
          <a:xfrm>
            <a:off x="8549640" y="3657600"/>
            <a:ext cx="315432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000" spc="300" strike="noStrike" u="none">
                <a:solidFill>
                  <a:srgbClr val="c0392b"/>
                </a:solidFill>
                <a:effectLst/>
                <a:uFillTx/>
                <a:latin typeface="Calibri"/>
                <a:ea typeface="Calibri"/>
              </a:rPr>
              <a:t>Limitation</a:t>
            </a:r>
            <a:endParaRPr b="0" lang="en-TR" sz="1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1" name="Text 25"/>
          <p:cNvSpPr/>
          <p:nvPr/>
        </p:nvSpPr>
        <p:spPr>
          <a:xfrm>
            <a:off x="8549640" y="3931920"/>
            <a:ext cx="3154320" cy="1325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200" strike="noStrike" u="none">
                <a:solidFill>
                  <a:srgbClr val="334155"/>
                </a:solidFill>
                <a:effectLst/>
                <a:uFillTx/>
                <a:latin typeface="Calibri"/>
                <a:ea typeface="Calibri"/>
              </a:rPr>
              <a:t>Model drift under non-stationary traffic; mirroring error grows unbounded</a:t>
            </a:r>
            <a:endParaRPr b="0" lang="en-TR" sz="1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2" name="Shape 26"/>
          <p:cNvSpPr/>
          <p:nvPr/>
        </p:nvSpPr>
        <p:spPr>
          <a:xfrm>
            <a:off x="548640" y="5532120"/>
            <a:ext cx="11063880" cy="594000"/>
          </a:xfrm>
          <a:prstGeom prst="rect">
            <a:avLst/>
          </a:prstGeom>
          <a:solidFill>
            <a:srgbClr val="0b1e3f"/>
          </a:solidFill>
          <a:ln w="12700">
            <a:solidFill>
              <a:srgbClr val="0b1e3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TR" sz="18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193" name="Image 3" descr="preencoded.png"/>
          <p:cNvPicPr/>
          <p:nvPr/>
        </p:nvPicPr>
        <p:blipFill>
          <a:blip r:embed="rId4"/>
          <a:stretch/>
        </p:blipFill>
        <p:spPr>
          <a:xfrm>
            <a:off x="713160" y="5650920"/>
            <a:ext cx="365400" cy="3654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94" name="Text 27"/>
          <p:cNvSpPr/>
          <p:nvPr/>
        </p:nvSpPr>
        <p:spPr>
          <a:xfrm>
            <a:off x="1188720" y="5532120"/>
            <a:ext cx="10332360" cy="594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250" strike="noStrike" u="non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Gap: no DT approach suppresses model drift via an online calibration loop during the attack interval. This work closes that gap.</a:t>
            </a:r>
            <a:endParaRPr b="0" lang="en-TR" sz="125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5" name="Shape 28"/>
          <p:cNvSpPr/>
          <p:nvPr/>
        </p:nvSpPr>
        <p:spPr>
          <a:xfrm>
            <a:off x="548640" y="6355080"/>
            <a:ext cx="11063880" cy="1044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34200" bIns="-34200" anchor="t">
            <a:noAutofit/>
          </a:bodyPr>
          <a:p>
            <a:endParaRPr b="0" lang="en-TR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6" name="Text 29"/>
          <p:cNvSpPr/>
          <p:nvPr/>
        </p:nvSpPr>
        <p:spPr>
          <a:xfrm>
            <a:off x="548640" y="6446520"/>
            <a:ext cx="731484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00" strike="noStrike" u="none">
                <a:solidFill>
                  <a:srgbClr val="64748b"/>
                </a:solidFill>
                <a:effectLst/>
                <a:uFillTx/>
                <a:latin typeface="Calibri"/>
                <a:ea typeface="Calibri"/>
              </a:rPr>
              <a:t>5G RRC Storm Mitigation  ·  Calibrated Digital Twin</a:t>
            </a:r>
            <a:endParaRPr b="0" lang="en-TR" sz="9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7" name="Text 30"/>
          <p:cNvSpPr/>
          <p:nvPr/>
        </p:nvSpPr>
        <p:spPr>
          <a:xfrm>
            <a:off x="10698480" y="6446520"/>
            <a:ext cx="91404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00" strike="noStrike" u="none">
                <a:solidFill>
                  <a:srgbClr val="64748b"/>
                </a:solidFill>
                <a:effectLst/>
                <a:uFillTx/>
                <a:latin typeface="Calibri"/>
                <a:ea typeface="Calibri"/>
              </a:rPr>
              <a:t>7 / 21</a:t>
            </a:r>
            <a:endParaRPr b="0" lang="en-TR" sz="9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Text 0"/>
          <p:cNvSpPr/>
          <p:nvPr/>
        </p:nvSpPr>
        <p:spPr>
          <a:xfrm>
            <a:off x="548640" y="411480"/>
            <a:ext cx="1097244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00" spc="400" strike="noStrike" u="none">
                <a:solidFill>
                  <a:srgbClr val="f4a11a"/>
                </a:solidFill>
                <a:effectLst/>
                <a:uFillTx/>
                <a:latin typeface="Calibri"/>
                <a:ea typeface="Calibri"/>
              </a:rPr>
              <a:t>SYSTEM MODEL</a:t>
            </a:r>
            <a:endParaRPr b="0" lang="en-TR" sz="1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9" name="Text 1"/>
          <p:cNvSpPr/>
          <p:nvPr/>
        </p:nvSpPr>
        <p:spPr>
          <a:xfrm>
            <a:off x="548640" y="713160"/>
            <a:ext cx="10972440" cy="776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3000" strike="noStrike" u="none">
                <a:solidFill>
                  <a:srgbClr val="1a2233"/>
                </a:solidFill>
                <a:effectLst/>
                <a:uFillTx/>
                <a:latin typeface="Cambria"/>
                <a:ea typeface="Cambria"/>
              </a:rPr>
              <a:t>MMPP/M/c/K queue</a:t>
            </a:r>
            <a:endParaRPr b="0" lang="en-TR" sz="3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0" name="Shape 2"/>
          <p:cNvSpPr/>
          <p:nvPr/>
        </p:nvSpPr>
        <p:spPr>
          <a:xfrm>
            <a:off x="548640" y="1600200"/>
            <a:ext cx="6400440" cy="4525920"/>
          </a:xfrm>
          <a:prstGeom prst="rect">
            <a:avLst/>
          </a:prstGeom>
          <a:solidFill>
            <a:srgbClr val="ffffff"/>
          </a:solidFill>
          <a:ln w="9525">
            <a:solidFill>
              <a:srgbClr val="dce3e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TR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1" name="Text 3"/>
          <p:cNvSpPr/>
          <p:nvPr/>
        </p:nvSpPr>
        <p:spPr>
          <a:xfrm>
            <a:off x="822960" y="1737360"/>
            <a:ext cx="5943240" cy="31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400" strike="noStrike" u="none">
                <a:solidFill>
                  <a:srgbClr val="1a2233"/>
                </a:solidFill>
                <a:effectLst/>
                <a:uFillTx/>
                <a:latin typeface="Cambria"/>
                <a:ea typeface="Cambria"/>
              </a:rPr>
              <a:t>Two-state CTMC: Markov-Modulated Poisson Process</a:t>
            </a:r>
            <a:endParaRPr b="0" lang="en-TR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2" name="Shape 4"/>
          <p:cNvSpPr/>
          <p:nvPr/>
        </p:nvSpPr>
        <p:spPr>
          <a:xfrm>
            <a:off x="914400" y="2880360"/>
            <a:ext cx="1828440" cy="1188360"/>
          </a:xfrm>
          <a:prstGeom prst="roundRect">
            <a:avLst>
              <a:gd name="adj" fmla="val 7692"/>
            </a:avLst>
          </a:prstGeom>
          <a:solidFill>
            <a:srgbClr val="065a82"/>
          </a:solidFill>
          <a:ln w="12700">
            <a:solidFill>
              <a:srgbClr val="065a82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TR" sz="18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3" name="Text 5"/>
          <p:cNvSpPr/>
          <p:nvPr/>
        </p:nvSpPr>
        <p:spPr>
          <a:xfrm>
            <a:off x="914400" y="2880360"/>
            <a:ext cx="1828440" cy="1188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500" strike="noStrike" u="non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S₀ — Normal</a:t>
            </a:r>
            <a:endParaRPr b="0" lang="en-TR" sz="15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300" strike="noStrike" u="none">
                <a:solidFill>
                  <a:srgbClr val="cfe2f3"/>
                </a:solidFill>
                <a:effectLst/>
                <a:uFillTx/>
                <a:latin typeface="Calibri"/>
                <a:ea typeface="Calibri"/>
              </a:rPr>
              <a:t>λ = 10 req/s</a:t>
            </a:r>
            <a:endParaRPr b="0" lang="en-TR" sz="13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4" name="Shape 6"/>
          <p:cNvSpPr/>
          <p:nvPr/>
        </p:nvSpPr>
        <p:spPr>
          <a:xfrm>
            <a:off x="4754880" y="2880360"/>
            <a:ext cx="1828440" cy="1188360"/>
          </a:xfrm>
          <a:prstGeom prst="roundRect">
            <a:avLst>
              <a:gd name="adj" fmla="val 7692"/>
            </a:avLst>
          </a:prstGeom>
          <a:solidFill>
            <a:srgbClr val="c0392b"/>
          </a:solidFill>
          <a:ln w="12700">
            <a:solidFill>
              <a:srgbClr val="c039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TR" sz="18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5" name="Text 7"/>
          <p:cNvSpPr/>
          <p:nvPr/>
        </p:nvSpPr>
        <p:spPr>
          <a:xfrm>
            <a:off x="4754880" y="2880360"/>
            <a:ext cx="1828440" cy="1188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500" strike="noStrike" u="non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S₁ — Burst</a:t>
            </a:r>
            <a:endParaRPr b="0" lang="en-TR" sz="15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300" strike="noStrike" u="none">
                <a:solidFill>
                  <a:srgbClr val="ffe9e5"/>
                </a:solidFill>
                <a:effectLst/>
                <a:uFillTx/>
                <a:latin typeface="Calibri"/>
                <a:ea typeface="Calibri"/>
              </a:rPr>
              <a:t>λ = 500 req/s</a:t>
            </a:r>
            <a:endParaRPr b="0" lang="en-TR" sz="13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6" name="Shape 8"/>
          <p:cNvSpPr/>
          <p:nvPr/>
        </p:nvSpPr>
        <p:spPr>
          <a:xfrm>
            <a:off x="2743200" y="3200400"/>
            <a:ext cx="2011680" cy="360"/>
          </a:xfrm>
          <a:prstGeom prst="line">
            <a:avLst/>
          </a:prstGeom>
          <a:ln w="31750">
            <a:solidFill>
              <a:srgbClr val="f4a11a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TR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7" name="Text 9"/>
          <p:cNvSpPr/>
          <p:nvPr/>
        </p:nvSpPr>
        <p:spPr>
          <a:xfrm>
            <a:off x="2743200" y="2880360"/>
            <a:ext cx="201132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300" strike="noStrike" u="none">
                <a:solidFill>
                  <a:srgbClr val="1a2233"/>
                </a:solidFill>
                <a:effectLst/>
                <a:uFillTx/>
                <a:latin typeface="Consolas"/>
                <a:ea typeface="Consolas"/>
              </a:rPr>
              <a:t>α = 0.1</a:t>
            </a:r>
            <a:endParaRPr b="0" lang="en-TR" sz="13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8" name="Shape 10"/>
          <p:cNvSpPr/>
          <p:nvPr/>
        </p:nvSpPr>
        <p:spPr>
          <a:xfrm>
            <a:off x="2743200" y="3749040"/>
            <a:ext cx="2011680" cy="360"/>
          </a:xfrm>
          <a:prstGeom prst="line">
            <a:avLst/>
          </a:prstGeom>
          <a:ln w="31750">
            <a:solidFill>
              <a:srgbClr val="1c7293"/>
            </a:solidFill>
            <a:round/>
            <a:head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TR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9" name="Text 11"/>
          <p:cNvSpPr/>
          <p:nvPr/>
        </p:nvSpPr>
        <p:spPr>
          <a:xfrm>
            <a:off x="2743200" y="3794760"/>
            <a:ext cx="201132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300" strike="noStrike" u="none">
                <a:solidFill>
                  <a:srgbClr val="1a2233"/>
                </a:solidFill>
                <a:effectLst/>
                <a:uFillTx/>
                <a:latin typeface="Consolas"/>
                <a:ea typeface="Consolas"/>
              </a:rPr>
              <a:t>β = 0.5</a:t>
            </a:r>
            <a:endParaRPr b="0" lang="en-TR" sz="13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0" name="Text 12"/>
          <p:cNvSpPr/>
          <p:nvPr/>
        </p:nvSpPr>
        <p:spPr>
          <a:xfrm>
            <a:off x="822960" y="4389120"/>
            <a:ext cx="594324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300" strike="noStrike" u="none">
                <a:solidFill>
                  <a:srgbClr val="065a82"/>
                </a:solidFill>
                <a:effectLst/>
                <a:uFillTx/>
                <a:latin typeface="Cambria"/>
                <a:ea typeface="Cambria"/>
              </a:rPr>
              <a:t>Generator matrix</a:t>
            </a:r>
            <a:endParaRPr b="0" lang="en-TR" sz="13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1" name="Text 13"/>
          <p:cNvSpPr/>
          <p:nvPr/>
        </p:nvSpPr>
        <p:spPr>
          <a:xfrm>
            <a:off x="822960" y="4709160"/>
            <a:ext cx="5943240" cy="411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400" strike="noStrike" u="none">
                <a:solidFill>
                  <a:srgbClr val="1a2233"/>
                </a:solidFill>
                <a:effectLst/>
                <a:uFillTx/>
                <a:latin typeface="Consolas"/>
                <a:ea typeface="Consolas"/>
              </a:rPr>
              <a:t>Q = [ −α   α ;  β   −β ]   ;   sojourn ~ Exp(|Q_ii|)</a:t>
            </a:r>
            <a:endParaRPr b="0" lang="en-TR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2" name="Text 14"/>
          <p:cNvSpPr/>
          <p:nvPr/>
        </p:nvSpPr>
        <p:spPr>
          <a:xfrm>
            <a:off x="822960" y="5212080"/>
            <a:ext cx="594324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i="1" lang="en-US" sz="1150" strike="noStrike" u="none">
                <a:solidFill>
                  <a:srgbClr val="64748b"/>
                </a:solidFill>
                <a:effectLst/>
                <a:uFillTx/>
                <a:latin typeface="Calibri"/>
                <a:ea typeface="Calibri"/>
              </a:rPr>
              <a:t>Exact CTMC dynamics in DES — no matrix exponential needed.</a:t>
            </a:r>
            <a:endParaRPr b="0" lang="en-TR" sz="115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3" name="Shape 15"/>
          <p:cNvSpPr/>
          <p:nvPr/>
        </p:nvSpPr>
        <p:spPr>
          <a:xfrm>
            <a:off x="7178040" y="1600200"/>
            <a:ext cx="4571640" cy="4525920"/>
          </a:xfrm>
          <a:prstGeom prst="rect">
            <a:avLst/>
          </a:prstGeom>
          <a:solidFill>
            <a:srgbClr val="ffffff"/>
          </a:solidFill>
          <a:ln w="9525">
            <a:solidFill>
              <a:srgbClr val="dce3e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TR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4" name="Shape 16"/>
          <p:cNvSpPr/>
          <p:nvPr/>
        </p:nvSpPr>
        <p:spPr>
          <a:xfrm>
            <a:off x="7178040" y="1600200"/>
            <a:ext cx="63720" cy="4525920"/>
          </a:xfrm>
          <a:prstGeom prst="rect">
            <a:avLst/>
          </a:prstGeom>
          <a:solidFill>
            <a:srgbClr val="1c7293"/>
          </a:solidFill>
          <a:ln w="12700">
            <a:solidFill>
              <a:srgbClr val="1c729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TR" sz="18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5" name="Text 17"/>
          <p:cNvSpPr/>
          <p:nvPr/>
        </p:nvSpPr>
        <p:spPr>
          <a:xfrm>
            <a:off x="7452360" y="1737360"/>
            <a:ext cx="411444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500" strike="noStrike" u="none">
                <a:solidFill>
                  <a:srgbClr val="1a2233"/>
                </a:solidFill>
                <a:effectLst/>
                <a:uFillTx/>
                <a:latin typeface="Cambria"/>
                <a:ea typeface="Cambria"/>
              </a:rPr>
              <a:t>Physical gNB RACH</a:t>
            </a:r>
            <a:endParaRPr b="0" lang="en-TR" sz="15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216" name="Table 0"/>
          <p:cNvGraphicFramePr/>
          <p:nvPr/>
        </p:nvGraphicFramePr>
        <p:xfrm>
          <a:off x="7452360" y="2240280"/>
          <a:ext cx="4023000" cy="1645920"/>
        </p:xfrm>
        <a:graphic>
          <a:graphicData uri="http://schemas.openxmlformats.org/drawingml/2006/table">
            <a:tbl>
              <a:tblPr/>
              <a:tblGrid>
                <a:gridCol w="2286000"/>
                <a:gridCol w="1737360"/>
              </a:tblGrid>
              <a:tr h="411480">
                <a:tc>
                  <a:txBody>
                    <a:bodyPr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b="1" lang="en-US" sz="1200" strike="noStrike" u="none">
                          <a:solidFill>
                            <a:srgbClr val="ffffff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Parameter</a:t>
                      </a:r>
                      <a:endParaRPr b="0" lang="en-TR" sz="1200" strike="noStrike" u="non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>
                    <a:lnL w="9360">
                      <a:solidFill>
                        <a:srgbClr val="dce3ec"/>
                      </a:solidFill>
                      <a:prstDash val="solid"/>
                    </a:lnL>
                    <a:lnR w="9360">
                      <a:solidFill>
                        <a:srgbClr val="dce3ec"/>
                      </a:solidFill>
                      <a:prstDash val="solid"/>
                    </a:lnR>
                    <a:lnT w="9360">
                      <a:solidFill>
                        <a:srgbClr val="dce3ec"/>
                      </a:solidFill>
                      <a:prstDash val="solid"/>
                    </a:lnT>
                    <a:lnB w="9360">
                      <a:solidFill>
                        <a:srgbClr val="dce3ec"/>
                      </a:solidFill>
                      <a:prstDash val="solid"/>
                    </a:lnB>
                    <a:solidFill>
                      <a:srgbClr val="065a82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b="1" lang="en-US" sz="1200" strike="noStrike" u="none">
                          <a:solidFill>
                            <a:srgbClr val="ffffff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Value</a:t>
                      </a:r>
                      <a:endParaRPr b="0" lang="en-TR" sz="1200" strike="noStrike" u="non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>
                    <a:lnL w="9360">
                      <a:solidFill>
                        <a:srgbClr val="dce3ec"/>
                      </a:solidFill>
                      <a:prstDash val="solid"/>
                    </a:lnL>
                    <a:lnR w="9360">
                      <a:solidFill>
                        <a:srgbClr val="dce3ec"/>
                      </a:solidFill>
                      <a:prstDash val="solid"/>
                    </a:lnR>
                    <a:lnT w="9360">
                      <a:solidFill>
                        <a:srgbClr val="dce3ec"/>
                      </a:solidFill>
                      <a:prstDash val="solid"/>
                    </a:lnT>
                    <a:lnB w="9360">
                      <a:solidFill>
                        <a:srgbClr val="dce3ec"/>
                      </a:solidFill>
                      <a:prstDash val="solid"/>
                    </a:lnB>
                    <a:solidFill>
                      <a:srgbClr val="065a82"/>
                    </a:solidFill>
                  </a:tcPr>
                </a:tc>
              </a:tr>
              <a:tr h="411480">
                <a:tc>
                  <a:txBody>
                    <a:bodyPr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b="0" lang="en-US" sz="1200" strike="noStrike" u="none">
                          <a:solidFill>
                            <a:srgbClr val="1a2233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Preamble channels</a:t>
                      </a:r>
                      <a:endParaRPr b="0" lang="en-TR" sz="12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>
                    <a:lnL w="9360">
                      <a:solidFill>
                        <a:srgbClr val="dce3ec"/>
                      </a:solidFill>
                      <a:prstDash val="solid"/>
                    </a:lnL>
                    <a:lnR w="9360">
                      <a:solidFill>
                        <a:srgbClr val="dce3ec"/>
                      </a:solidFill>
                      <a:prstDash val="solid"/>
                    </a:lnR>
                    <a:lnT w="9360">
                      <a:solidFill>
                        <a:srgbClr val="dce3ec"/>
                      </a:solidFill>
                      <a:prstDash val="solid"/>
                    </a:lnT>
                    <a:lnB w="9360">
                      <a:solidFill>
                        <a:srgbClr val="dce3ec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b="0" lang="en-US" sz="1200" strike="noStrike" u="none">
                          <a:solidFill>
                            <a:srgbClr val="1a2233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c = 54</a:t>
                      </a:r>
                      <a:endParaRPr b="0" lang="en-TR" sz="12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>
                    <a:lnL w="9360">
                      <a:solidFill>
                        <a:srgbClr val="dce3ec"/>
                      </a:solidFill>
                      <a:prstDash val="solid"/>
                    </a:lnL>
                    <a:lnR w="9360">
                      <a:solidFill>
                        <a:srgbClr val="dce3ec"/>
                      </a:solidFill>
                      <a:prstDash val="solid"/>
                    </a:lnR>
                    <a:lnT w="9360">
                      <a:solidFill>
                        <a:srgbClr val="dce3ec"/>
                      </a:solidFill>
                      <a:prstDash val="solid"/>
                    </a:lnT>
                    <a:lnB w="9360">
                      <a:solidFill>
                        <a:srgbClr val="dce3ec"/>
                      </a:solidFill>
                      <a:prstDash val="solid"/>
                    </a:lnB>
                    <a:noFill/>
                  </a:tcPr>
                </a:tc>
              </a:tr>
              <a:tr h="411480">
                <a:tc>
                  <a:txBody>
                    <a:bodyPr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b="0" lang="en-US" sz="1200" strike="noStrike" u="none">
                          <a:solidFill>
                            <a:srgbClr val="1a2233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Buffer capacity</a:t>
                      </a:r>
                      <a:endParaRPr b="0" lang="en-TR" sz="12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>
                    <a:lnL w="9360">
                      <a:solidFill>
                        <a:srgbClr val="dce3ec"/>
                      </a:solidFill>
                      <a:prstDash val="solid"/>
                    </a:lnL>
                    <a:lnR w="9360">
                      <a:solidFill>
                        <a:srgbClr val="dce3ec"/>
                      </a:solidFill>
                      <a:prstDash val="solid"/>
                    </a:lnR>
                    <a:lnT w="9360">
                      <a:solidFill>
                        <a:srgbClr val="dce3ec"/>
                      </a:solidFill>
                      <a:prstDash val="solid"/>
                    </a:lnT>
                    <a:lnB w="9360">
                      <a:solidFill>
                        <a:srgbClr val="dce3ec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b="0" lang="en-US" sz="1200" strike="noStrike" u="none">
                          <a:solidFill>
                            <a:srgbClr val="1a2233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K = 200</a:t>
                      </a:r>
                      <a:endParaRPr b="0" lang="en-TR" sz="12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>
                    <a:lnL w="9360">
                      <a:solidFill>
                        <a:srgbClr val="dce3ec"/>
                      </a:solidFill>
                      <a:prstDash val="solid"/>
                    </a:lnL>
                    <a:lnR w="9360">
                      <a:solidFill>
                        <a:srgbClr val="dce3ec"/>
                      </a:solidFill>
                      <a:prstDash val="solid"/>
                    </a:lnR>
                    <a:lnT w="9360">
                      <a:solidFill>
                        <a:srgbClr val="dce3ec"/>
                      </a:solidFill>
                      <a:prstDash val="solid"/>
                    </a:lnT>
                    <a:lnB w="9360">
                      <a:solidFill>
                        <a:srgbClr val="dce3ec"/>
                      </a:solidFill>
                      <a:prstDash val="solid"/>
                    </a:lnB>
                    <a:noFill/>
                  </a:tcPr>
                </a:tc>
              </a:tr>
              <a:tr h="411480">
                <a:tc>
                  <a:txBody>
                    <a:bodyPr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b="0" lang="en-US" sz="1200" strike="noStrike" u="none">
                          <a:solidFill>
                            <a:srgbClr val="1a2233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Service time</a:t>
                      </a:r>
                      <a:endParaRPr b="0" lang="en-TR" sz="12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>
                    <a:lnL w="9360">
                      <a:solidFill>
                        <a:srgbClr val="dce3ec"/>
                      </a:solidFill>
                      <a:prstDash val="solid"/>
                    </a:lnL>
                    <a:lnR w="9360">
                      <a:solidFill>
                        <a:srgbClr val="dce3ec"/>
                      </a:solidFill>
                      <a:prstDash val="solid"/>
                    </a:lnR>
                    <a:lnT w="9360">
                      <a:solidFill>
                        <a:srgbClr val="dce3ec"/>
                      </a:solidFill>
                      <a:prstDash val="solid"/>
                    </a:lnT>
                    <a:lnB w="9360">
                      <a:solidFill>
                        <a:srgbClr val="dce3ec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b="0" lang="en-US" sz="1200" strike="noStrike" u="none">
                          <a:solidFill>
                            <a:srgbClr val="1a2233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Exp(1)</a:t>
                      </a:r>
                      <a:endParaRPr b="0" lang="en-TR" sz="12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>
                    <a:lnL w="9360">
                      <a:solidFill>
                        <a:srgbClr val="dce3ec"/>
                      </a:solidFill>
                      <a:prstDash val="solid"/>
                    </a:lnL>
                    <a:lnR w="9360">
                      <a:solidFill>
                        <a:srgbClr val="dce3ec"/>
                      </a:solidFill>
                      <a:prstDash val="solid"/>
                    </a:lnR>
                    <a:lnT w="9360">
                      <a:solidFill>
                        <a:srgbClr val="dce3ec"/>
                      </a:solidFill>
                      <a:prstDash val="solid"/>
                    </a:lnT>
                    <a:lnB w="9360">
                      <a:solidFill>
                        <a:srgbClr val="dce3ec"/>
                      </a:solidFill>
                      <a:prstDash val="solid"/>
                    </a:lnB>
                    <a:noFill/>
                  </a:tcPr>
                </a:tc>
              </a:tr>
            </a:tbl>
          </a:graphicData>
        </a:graphic>
      </p:graphicFrame>
      <p:pic>
        <p:nvPicPr>
          <p:cNvPr id="217" name="Image 0" descr="preencoded.png"/>
          <p:cNvPicPr/>
          <p:nvPr/>
        </p:nvPicPr>
        <p:blipFill>
          <a:blip r:embed="rId1"/>
          <a:stretch/>
        </p:blipFill>
        <p:spPr>
          <a:xfrm>
            <a:off x="7452360" y="4709160"/>
            <a:ext cx="411120" cy="4111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18" name="Text 18"/>
          <p:cNvSpPr/>
          <p:nvPr/>
        </p:nvSpPr>
        <p:spPr>
          <a:xfrm>
            <a:off x="7955280" y="4709160"/>
            <a:ext cx="3657240" cy="1188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i="1" lang="en-US" sz="1150" strike="noStrike" u="none">
                <a:solidFill>
                  <a:srgbClr val="334155"/>
                </a:solidFill>
                <a:effectLst/>
                <a:uFillTx/>
                <a:latin typeface="Calibri"/>
                <a:ea typeface="Calibri"/>
              </a:rPr>
              <a:t>Stationary blocking governed by classical M/c/K formulas; non-stationarity comes from MMPP modulation.</a:t>
            </a:r>
            <a:endParaRPr b="0" lang="en-TR" sz="115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9" name="Shape 19"/>
          <p:cNvSpPr/>
          <p:nvPr/>
        </p:nvSpPr>
        <p:spPr>
          <a:xfrm>
            <a:off x="548640" y="6355080"/>
            <a:ext cx="11063880" cy="1044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34200" bIns="-34200" anchor="t">
            <a:noAutofit/>
          </a:bodyPr>
          <a:p>
            <a:endParaRPr b="0" lang="en-TR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0" name="Text 20"/>
          <p:cNvSpPr/>
          <p:nvPr/>
        </p:nvSpPr>
        <p:spPr>
          <a:xfrm>
            <a:off x="548640" y="6446520"/>
            <a:ext cx="731484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00" strike="noStrike" u="none">
                <a:solidFill>
                  <a:srgbClr val="64748b"/>
                </a:solidFill>
                <a:effectLst/>
                <a:uFillTx/>
                <a:latin typeface="Calibri"/>
                <a:ea typeface="Calibri"/>
              </a:rPr>
              <a:t>5G RRC Storm Mitigation  ·  Calibrated Digital Twin</a:t>
            </a:r>
            <a:endParaRPr b="0" lang="en-TR" sz="9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1" name="Text 21"/>
          <p:cNvSpPr/>
          <p:nvPr/>
        </p:nvSpPr>
        <p:spPr>
          <a:xfrm>
            <a:off x="10698480" y="6446520"/>
            <a:ext cx="91404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00" strike="noStrike" u="none">
                <a:solidFill>
                  <a:srgbClr val="64748b"/>
                </a:solidFill>
                <a:effectLst/>
                <a:uFillTx/>
                <a:latin typeface="Calibri"/>
                <a:ea typeface="Calibri"/>
              </a:rPr>
              <a:t>8 / 21</a:t>
            </a:r>
            <a:endParaRPr b="0" lang="en-TR" sz="9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Text 0"/>
          <p:cNvSpPr/>
          <p:nvPr/>
        </p:nvSpPr>
        <p:spPr>
          <a:xfrm>
            <a:off x="548640" y="411480"/>
            <a:ext cx="1097244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00" spc="400" strike="noStrike" u="none">
                <a:solidFill>
                  <a:srgbClr val="f4a11a"/>
                </a:solidFill>
                <a:effectLst/>
                <a:uFillTx/>
                <a:latin typeface="Calibri"/>
                <a:ea typeface="Calibri"/>
              </a:rPr>
              <a:t>PROPOSED METHOD</a:t>
            </a:r>
            <a:endParaRPr b="0" lang="en-TR" sz="1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3" name="Text 1"/>
          <p:cNvSpPr/>
          <p:nvPr/>
        </p:nvSpPr>
        <p:spPr>
          <a:xfrm>
            <a:off x="548640" y="713160"/>
            <a:ext cx="10972440" cy="776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3000" strike="noStrike" u="none">
                <a:solidFill>
                  <a:srgbClr val="1a2233"/>
                </a:solidFill>
                <a:effectLst/>
                <a:uFillTx/>
                <a:latin typeface="Cambria"/>
                <a:ea typeface="Cambria"/>
              </a:rPr>
              <a:t>Calibrated Digital Twin architecture</a:t>
            </a:r>
            <a:endParaRPr b="0" lang="en-TR" sz="3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4" name="Shape 2"/>
          <p:cNvSpPr/>
          <p:nvPr/>
        </p:nvSpPr>
        <p:spPr>
          <a:xfrm>
            <a:off x="548640" y="1645920"/>
            <a:ext cx="2742840" cy="4297320"/>
          </a:xfrm>
          <a:prstGeom prst="rect">
            <a:avLst/>
          </a:prstGeom>
          <a:solidFill>
            <a:srgbClr val="ffffff"/>
          </a:solidFill>
          <a:ln w="9525">
            <a:solidFill>
              <a:srgbClr val="dce3e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TR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5" name="Shape 3"/>
          <p:cNvSpPr/>
          <p:nvPr/>
        </p:nvSpPr>
        <p:spPr>
          <a:xfrm>
            <a:off x="548640" y="1645920"/>
            <a:ext cx="63720" cy="4297320"/>
          </a:xfrm>
          <a:prstGeom prst="rect">
            <a:avLst/>
          </a:prstGeom>
          <a:solidFill>
            <a:srgbClr val="c0392b"/>
          </a:solidFill>
          <a:ln w="12700">
            <a:solidFill>
              <a:srgbClr val="c039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TR" sz="18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226" name="Image 0" descr="preencoded.png"/>
          <p:cNvPicPr/>
          <p:nvPr/>
        </p:nvPicPr>
        <p:blipFill>
          <a:blip r:embed="rId1"/>
          <a:stretch/>
        </p:blipFill>
        <p:spPr>
          <a:xfrm>
            <a:off x="1645920" y="1874520"/>
            <a:ext cx="548280" cy="5482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27" name="Text 4"/>
          <p:cNvSpPr/>
          <p:nvPr/>
        </p:nvSpPr>
        <p:spPr>
          <a:xfrm>
            <a:off x="548640" y="2514600"/>
            <a:ext cx="274284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400" strike="noStrike" u="none">
                <a:solidFill>
                  <a:srgbClr val="1a2233"/>
                </a:solidFill>
                <a:effectLst/>
                <a:uFillTx/>
                <a:latin typeface="Cambria"/>
                <a:ea typeface="Cambria"/>
              </a:rPr>
              <a:t>Physical gNB RACH</a:t>
            </a:r>
            <a:endParaRPr b="0" lang="en-TR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8" name="Shape 5"/>
          <p:cNvSpPr/>
          <p:nvPr/>
        </p:nvSpPr>
        <p:spPr>
          <a:xfrm>
            <a:off x="822960" y="3017520"/>
            <a:ext cx="2194200" cy="639720"/>
          </a:xfrm>
          <a:prstGeom prst="roundRect">
            <a:avLst>
              <a:gd name="adj" fmla="val 8571"/>
            </a:avLst>
          </a:prstGeom>
          <a:solidFill>
            <a:srgbClr val="f7f9fc"/>
          </a:solidFill>
          <a:ln w="12700">
            <a:solidFill>
              <a:srgbClr val="dce3e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TR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9" name="Text 6"/>
          <p:cNvSpPr/>
          <p:nvPr/>
        </p:nvSpPr>
        <p:spPr>
          <a:xfrm>
            <a:off x="822960" y="3017520"/>
            <a:ext cx="2194200" cy="63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400" strike="noStrike" u="none">
                <a:solidFill>
                  <a:srgbClr val="065a82"/>
                </a:solidFill>
                <a:effectLst/>
                <a:uFillTx/>
                <a:latin typeface="Consolas"/>
                <a:ea typeface="Consolas"/>
              </a:rPr>
              <a:t>Q_real</a:t>
            </a:r>
            <a:endParaRPr b="0" lang="en-TR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00" strike="noStrike" u="none">
                <a:solidFill>
                  <a:srgbClr val="64748b"/>
                </a:solidFill>
                <a:effectLst/>
                <a:uFillTx/>
                <a:latin typeface="Calibri"/>
                <a:ea typeface="Calibri"/>
              </a:rPr>
              <a:t>queue length</a:t>
            </a:r>
            <a:endParaRPr b="0" lang="en-TR" sz="1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0" name="Shape 7"/>
          <p:cNvSpPr/>
          <p:nvPr/>
        </p:nvSpPr>
        <p:spPr>
          <a:xfrm>
            <a:off x="822960" y="3840480"/>
            <a:ext cx="2194200" cy="639720"/>
          </a:xfrm>
          <a:prstGeom prst="roundRect">
            <a:avLst>
              <a:gd name="adj" fmla="val 8571"/>
            </a:avLst>
          </a:prstGeom>
          <a:solidFill>
            <a:srgbClr val="f7f9fc"/>
          </a:solidFill>
          <a:ln w="12700">
            <a:solidFill>
              <a:srgbClr val="dce3e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TR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1" name="Text 8"/>
          <p:cNvSpPr/>
          <p:nvPr/>
        </p:nvSpPr>
        <p:spPr>
          <a:xfrm>
            <a:off x="822960" y="3840480"/>
            <a:ext cx="2194200" cy="63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400" strike="noStrike" u="none">
                <a:solidFill>
                  <a:srgbClr val="065a82"/>
                </a:solidFill>
                <a:effectLst/>
                <a:uFillTx/>
                <a:latin typeface="Consolas"/>
                <a:ea typeface="Consolas"/>
              </a:rPr>
              <a:t>n_win</a:t>
            </a:r>
            <a:endParaRPr b="0" lang="en-TR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00" strike="noStrike" u="none">
                <a:solidFill>
                  <a:srgbClr val="64748b"/>
                </a:solidFill>
                <a:effectLst/>
                <a:uFillTx/>
                <a:latin typeface="Calibri"/>
                <a:ea typeface="Calibri"/>
              </a:rPr>
              <a:t>arrivals per Δ</a:t>
            </a:r>
            <a:endParaRPr b="0" lang="en-TR" sz="1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2" name="Text 9"/>
          <p:cNvSpPr/>
          <p:nvPr/>
        </p:nvSpPr>
        <p:spPr>
          <a:xfrm>
            <a:off x="640080" y="4754880"/>
            <a:ext cx="2559960" cy="914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i="1" lang="en-US" sz="1100" strike="noStrike" u="none">
                <a:solidFill>
                  <a:srgbClr val="c0392b"/>
                </a:solidFill>
                <a:effectLst/>
                <a:uFillTx/>
                <a:latin typeface="Calibri"/>
                <a:ea typeface="Calibri"/>
              </a:rPr>
              <a:t>p_acb → SIB1</a:t>
            </a:r>
            <a:endParaRPr b="0" lang="en-TR" sz="1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i="1" lang="en-US" sz="1100" strike="noStrike" u="none">
                <a:solidFill>
                  <a:srgbClr val="c0392b"/>
                </a:solidFill>
                <a:effectLst/>
                <a:uFillTx/>
                <a:latin typeface="Calibri"/>
                <a:ea typeface="Calibri"/>
              </a:rPr>
              <a:t>uac-BarringInfo</a:t>
            </a:r>
            <a:endParaRPr b="0" lang="en-TR" sz="1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3" name="Shape 10"/>
          <p:cNvSpPr/>
          <p:nvPr/>
        </p:nvSpPr>
        <p:spPr>
          <a:xfrm>
            <a:off x="4206240" y="1645920"/>
            <a:ext cx="7406280" cy="4297320"/>
          </a:xfrm>
          <a:prstGeom prst="rect">
            <a:avLst/>
          </a:prstGeom>
          <a:solidFill>
            <a:srgbClr val="ffffff"/>
          </a:solidFill>
          <a:ln w="9525">
            <a:solidFill>
              <a:srgbClr val="dce3e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TR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4" name="Shape 11"/>
          <p:cNvSpPr/>
          <p:nvPr/>
        </p:nvSpPr>
        <p:spPr>
          <a:xfrm>
            <a:off x="4206240" y="1645920"/>
            <a:ext cx="63720" cy="4297320"/>
          </a:xfrm>
          <a:prstGeom prst="rect">
            <a:avLst/>
          </a:prstGeom>
          <a:solidFill>
            <a:srgbClr val="065a82"/>
          </a:solidFill>
          <a:ln w="12700">
            <a:solidFill>
              <a:srgbClr val="065a82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TR" sz="18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35" name="Text 12"/>
          <p:cNvSpPr/>
          <p:nvPr/>
        </p:nvSpPr>
        <p:spPr>
          <a:xfrm>
            <a:off x="4480560" y="1783080"/>
            <a:ext cx="694908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500" strike="noStrike" u="none">
                <a:solidFill>
                  <a:srgbClr val="1a2233"/>
                </a:solidFill>
                <a:effectLst/>
                <a:uFillTx/>
                <a:latin typeface="Cambria"/>
                <a:ea typeface="Cambria"/>
              </a:rPr>
              <a:t>Digital Twin (xApp on Near-RT RIC)</a:t>
            </a:r>
            <a:endParaRPr b="0" lang="en-TR" sz="15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6" name="Text 13"/>
          <p:cNvSpPr/>
          <p:nvPr/>
        </p:nvSpPr>
        <p:spPr>
          <a:xfrm>
            <a:off x="10058400" y="1810440"/>
            <a:ext cx="1279800" cy="31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algn="l" pos="0"/>
              </a:tabLst>
            </a:pPr>
            <a:r>
              <a:rPr b="1" i="1" lang="en-US" sz="1100" strike="noStrike" u="none">
                <a:solidFill>
                  <a:srgbClr val="f4a11a"/>
                </a:solidFill>
                <a:effectLst/>
                <a:uFillTx/>
                <a:latin typeface="Calibri"/>
                <a:ea typeface="Calibri"/>
              </a:rPr>
              <a:t>Every Δ = 1 s</a:t>
            </a:r>
            <a:endParaRPr b="0" lang="en-TR" sz="1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7" name="Shape 14"/>
          <p:cNvSpPr/>
          <p:nvPr/>
        </p:nvSpPr>
        <p:spPr>
          <a:xfrm>
            <a:off x="4480560" y="2423160"/>
            <a:ext cx="2239920" cy="3200040"/>
          </a:xfrm>
          <a:prstGeom prst="roundRect">
            <a:avLst>
              <a:gd name="adj" fmla="val 3265"/>
            </a:avLst>
          </a:prstGeom>
          <a:solidFill>
            <a:srgbClr val="ffffff"/>
          </a:solidFill>
          <a:ln w="19050">
            <a:solidFill>
              <a:srgbClr val="065a82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TR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8" name="Shape 15"/>
          <p:cNvSpPr/>
          <p:nvPr/>
        </p:nvSpPr>
        <p:spPr>
          <a:xfrm>
            <a:off x="4480560" y="2423160"/>
            <a:ext cx="2239920" cy="456840"/>
          </a:xfrm>
          <a:prstGeom prst="rect">
            <a:avLst/>
          </a:prstGeom>
          <a:solidFill>
            <a:srgbClr val="065a82"/>
          </a:solidFill>
          <a:ln w="12700">
            <a:solidFill>
              <a:srgbClr val="065a82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TR" sz="18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39" name="Text 16"/>
          <p:cNvSpPr/>
          <p:nvPr/>
        </p:nvSpPr>
        <p:spPr>
          <a:xfrm>
            <a:off x="4617720" y="2423160"/>
            <a:ext cx="196560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300" strike="noStrike" u="none">
                <a:solidFill>
                  <a:srgbClr val="ffffff"/>
                </a:solidFill>
                <a:effectLst/>
                <a:uFillTx/>
                <a:latin typeface="Cambria"/>
                <a:ea typeface="Cambria"/>
              </a:rPr>
              <a:t>①  Observe &amp; Predict</a:t>
            </a:r>
            <a:endParaRPr b="0" lang="en-TR" sz="13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240" name="Image 1" descr="preencoded.png"/>
          <p:cNvPicPr/>
          <p:nvPr/>
        </p:nvPicPr>
        <p:blipFill>
          <a:blip r:embed="rId2"/>
          <a:stretch/>
        </p:blipFill>
        <p:spPr>
          <a:xfrm>
            <a:off x="5280840" y="3200400"/>
            <a:ext cx="639720" cy="6397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41" name="Text 17"/>
          <p:cNvSpPr/>
          <p:nvPr/>
        </p:nvSpPr>
        <p:spPr>
          <a:xfrm>
            <a:off x="4663440" y="3977640"/>
            <a:ext cx="187416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400" strike="noStrike" u="none">
                <a:solidFill>
                  <a:srgbClr val="1a2233"/>
                </a:solidFill>
                <a:effectLst/>
                <a:uFillTx/>
                <a:latin typeface="Consolas"/>
                <a:ea typeface="Consolas"/>
              </a:rPr>
              <a:t>EMA → λ̂</a:t>
            </a:r>
            <a:endParaRPr b="0" lang="en-TR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2" name="Text 18"/>
          <p:cNvSpPr/>
          <p:nvPr/>
        </p:nvSpPr>
        <p:spPr>
          <a:xfrm>
            <a:off x="4663440" y="4526280"/>
            <a:ext cx="1874160" cy="1005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100" strike="noStrike" u="none">
                <a:solidFill>
                  <a:srgbClr val="334155"/>
                </a:solidFill>
                <a:effectLst/>
                <a:uFillTx/>
                <a:latin typeface="Calibri"/>
                <a:ea typeface="Calibri"/>
              </a:rPr>
              <a:t>Count arrivals in Δ; EMA predicts λ̂.</a:t>
            </a:r>
            <a:endParaRPr b="0" lang="en-TR" sz="1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3" name="Shape 19"/>
          <p:cNvSpPr/>
          <p:nvPr/>
        </p:nvSpPr>
        <p:spPr>
          <a:xfrm>
            <a:off x="6858000" y="2423160"/>
            <a:ext cx="2239920" cy="3200040"/>
          </a:xfrm>
          <a:prstGeom prst="roundRect">
            <a:avLst>
              <a:gd name="adj" fmla="val 3265"/>
            </a:avLst>
          </a:prstGeom>
          <a:solidFill>
            <a:srgbClr val="ffffff"/>
          </a:solidFill>
          <a:ln w="19050">
            <a:solidFill>
              <a:srgbClr val="1c729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TR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4" name="Shape 20"/>
          <p:cNvSpPr/>
          <p:nvPr/>
        </p:nvSpPr>
        <p:spPr>
          <a:xfrm>
            <a:off x="6858000" y="2423160"/>
            <a:ext cx="2239920" cy="456840"/>
          </a:xfrm>
          <a:prstGeom prst="rect">
            <a:avLst/>
          </a:prstGeom>
          <a:solidFill>
            <a:srgbClr val="1c7293"/>
          </a:solidFill>
          <a:ln w="12700">
            <a:solidFill>
              <a:srgbClr val="1c729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TR" sz="18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45" name="Text 21"/>
          <p:cNvSpPr/>
          <p:nvPr/>
        </p:nvSpPr>
        <p:spPr>
          <a:xfrm>
            <a:off x="6995160" y="2423160"/>
            <a:ext cx="196560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300" strike="noStrike" u="none">
                <a:solidFill>
                  <a:srgbClr val="ffffff"/>
                </a:solidFill>
                <a:effectLst/>
                <a:uFillTx/>
                <a:latin typeface="Cambria"/>
                <a:ea typeface="Cambria"/>
              </a:rPr>
              <a:t>②  Control Decision</a:t>
            </a:r>
            <a:endParaRPr b="0" lang="en-TR" sz="13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246" name="Image 2" descr="preencoded.png"/>
          <p:cNvPicPr/>
          <p:nvPr/>
        </p:nvPicPr>
        <p:blipFill>
          <a:blip r:embed="rId3"/>
          <a:stretch/>
        </p:blipFill>
        <p:spPr>
          <a:xfrm>
            <a:off x="7658280" y="3200400"/>
            <a:ext cx="639720" cy="6397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47" name="Text 22"/>
          <p:cNvSpPr/>
          <p:nvPr/>
        </p:nvSpPr>
        <p:spPr>
          <a:xfrm>
            <a:off x="7040880" y="3977640"/>
            <a:ext cx="187416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400" strike="noStrike" u="none">
                <a:solidFill>
                  <a:srgbClr val="1a2233"/>
                </a:solidFill>
                <a:effectLst/>
                <a:uFillTx/>
                <a:latin typeface="Consolas"/>
                <a:ea typeface="Consolas"/>
              </a:rPr>
              <a:t>p_acb from Q_real</a:t>
            </a:r>
            <a:endParaRPr b="0" lang="en-TR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8" name="Text 23"/>
          <p:cNvSpPr/>
          <p:nvPr/>
        </p:nvSpPr>
        <p:spPr>
          <a:xfrm>
            <a:off x="7040880" y="4526280"/>
            <a:ext cx="1874160" cy="1005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100" strike="noStrike" u="none">
                <a:solidFill>
                  <a:srgbClr val="334155"/>
                </a:solidFill>
                <a:effectLst/>
                <a:uFillTx/>
                <a:latin typeface="Calibri"/>
                <a:ea typeface="Calibri"/>
              </a:rPr>
              <a:t>Min. barring probability to keep Q_real &lt; K.</a:t>
            </a:r>
            <a:endParaRPr b="0" lang="en-TR" sz="1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9" name="Shape 24"/>
          <p:cNvSpPr/>
          <p:nvPr/>
        </p:nvSpPr>
        <p:spPr>
          <a:xfrm>
            <a:off x="9235440" y="2423160"/>
            <a:ext cx="2239920" cy="3200040"/>
          </a:xfrm>
          <a:prstGeom prst="roundRect">
            <a:avLst>
              <a:gd name="adj" fmla="val 3265"/>
            </a:avLst>
          </a:prstGeom>
          <a:solidFill>
            <a:srgbClr val="ffffff"/>
          </a:solidFill>
          <a:ln w="19050">
            <a:solidFill>
              <a:srgbClr val="f4a11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TR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0" name="Shape 25"/>
          <p:cNvSpPr/>
          <p:nvPr/>
        </p:nvSpPr>
        <p:spPr>
          <a:xfrm>
            <a:off x="9235440" y="2423160"/>
            <a:ext cx="2239920" cy="456840"/>
          </a:xfrm>
          <a:prstGeom prst="rect">
            <a:avLst/>
          </a:prstGeom>
          <a:solidFill>
            <a:srgbClr val="f4a11a"/>
          </a:solidFill>
          <a:ln w="12700">
            <a:solidFill>
              <a:srgbClr val="f4a11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TR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1" name="Text 26"/>
          <p:cNvSpPr/>
          <p:nvPr/>
        </p:nvSpPr>
        <p:spPr>
          <a:xfrm>
            <a:off x="9372600" y="2423160"/>
            <a:ext cx="196560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300" strike="noStrike" u="none">
                <a:solidFill>
                  <a:srgbClr val="ffffff"/>
                </a:solidFill>
                <a:effectLst/>
                <a:uFillTx/>
                <a:latin typeface="Cambria"/>
                <a:ea typeface="Cambria"/>
              </a:rPr>
              <a:t>③  Calibrate</a:t>
            </a:r>
            <a:endParaRPr b="0" lang="en-TR" sz="13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252" name="Image 3" descr="preencoded.png"/>
          <p:cNvPicPr/>
          <p:nvPr/>
        </p:nvPicPr>
        <p:blipFill>
          <a:blip r:embed="rId4"/>
          <a:stretch/>
        </p:blipFill>
        <p:spPr>
          <a:xfrm>
            <a:off x="10035720" y="3200400"/>
            <a:ext cx="639720" cy="6397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53" name="Text 27"/>
          <p:cNvSpPr/>
          <p:nvPr/>
        </p:nvSpPr>
        <p:spPr>
          <a:xfrm>
            <a:off x="9418320" y="3977640"/>
            <a:ext cx="187416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400" strike="noStrike" u="none">
                <a:solidFill>
                  <a:srgbClr val="1a2233"/>
                </a:solidFill>
                <a:effectLst/>
                <a:uFillTx/>
                <a:latin typeface="Consolas"/>
                <a:ea typeface="Consolas"/>
              </a:rPr>
              <a:t>α ← f(E)</a:t>
            </a:r>
            <a:endParaRPr b="0" lang="en-TR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4" name="Text 28"/>
          <p:cNvSpPr/>
          <p:nvPr/>
        </p:nvSpPr>
        <p:spPr>
          <a:xfrm>
            <a:off x="9418320" y="4526280"/>
            <a:ext cx="1874160" cy="1005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100" strike="noStrike" u="none">
                <a:solidFill>
                  <a:srgbClr val="334155"/>
                </a:solidFill>
                <a:effectLst/>
                <a:uFillTx/>
                <a:latin typeface="Calibri"/>
                <a:ea typeface="Calibri"/>
              </a:rPr>
              <a:t>Adjust α via asymmetric step rule when E &gt; ε.</a:t>
            </a:r>
            <a:endParaRPr b="0" lang="en-TR" sz="1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5" name="Shape 29"/>
          <p:cNvSpPr/>
          <p:nvPr/>
        </p:nvSpPr>
        <p:spPr>
          <a:xfrm>
            <a:off x="3291840" y="3337560"/>
            <a:ext cx="914400" cy="360"/>
          </a:xfrm>
          <a:prstGeom prst="line">
            <a:avLst/>
          </a:prstGeom>
          <a:ln w="31750">
            <a:solidFill>
              <a:srgbClr val="065a82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TR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6" name="Text 30"/>
          <p:cNvSpPr/>
          <p:nvPr/>
        </p:nvSpPr>
        <p:spPr>
          <a:xfrm>
            <a:off x="3337560" y="3063240"/>
            <a:ext cx="82260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i="1" lang="en-US" sz="1000" strike="noStrike" u="none">
                <a:solidFill>
                  <a:srgbClr val="065a82"/>
                </a:solidFill>
                <a:effectLst/>
                <a:uFillTx/>
                <a:latin typeface="Calibri"/>
                <a:ea typeface="Calibri"/>
              </a:rPr>
              <a:t>observe</a:t>
            </a:r>
            <a:endParaRPr b="0" lang="en-TR" sz="1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7" name="Shape 31"/>
          <p:cNvSpPr/>
          <p:nvPr/>
        </p:nvSpPr>
        <p:spPr>
          <a:xfrm>
            <a:off x="7977960" y="5943600"/>
            <a:ext cx="360" cy="320040"/>
          </a:xfrm>
          <a:prstGeom prst="line">
            <a:avLst/>
          </a:prstGeom>
          <a:ln w="25400">
            <a:solidFill>
              <a:srgbClr val="c039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TR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8" name="Shape 32"/>
          <p:cNvSpPr/>
          <p:nvPr/>
        </p:nvSpPr>
        <p:spPr>
          <a:xfrm>
            <a:off x="1920240" y="6263640"/>
            <a:ext cx="6057720" cy="360"/>
          </a:xfrm>
          <a:prstGeom prst="line">
            <a:avLst/>
          </a:prstGeom>
          <a:ln w="25400">
            <a:solidFill>
              <a:srgbClr val="c039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TR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9" name="Shape 33"/>
          <p:cNvSpPr/>
          <p:nvPr/>
        </p:nvSpPr>
        <p:spPr>
          <a:xfrm>
            <a:off x="1920240" y="5943600"/>
            <a:ext cx="360" cy="320040"/>
          </a:xfrm>
          <a:prstGeom prst="line">
            <a:avLst/>
          </a:prstGeom>
          <a:ln w="25400">
            <a:solidFill>
              <a:srgbClr val="c0392b"/>
            </a:solidFill>
            <a:round/>
            <a:head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TR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0" name="Text 34"/>
          <p:cNvSpPr/>
          <p:nvPr/>
        </p:nvSpPr>
        <p:spPr>
          <a:xfrm>
            <a:off x="2834640" y="6309360"/>
            <a:ext cx="411444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i="1" lang="en-US" sz="1000" strike="noStrike" u="none">
                <a:solidFill>
                  <a:srgbClr val="c0392b"/>
                </a:solidFill>
                <a:effectLst/>
                <a:uFillTx/>
                <a:latin typeface="Calibri"/>
                <a:ea typeface="Calibri"/>
              </a:rPr>
              <a:t>p_acb feedback into SIB1</a:t>
            </a:r>
            <a:endParaRPr b="0" lang="en-TR" sz="1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1" name="Shape 35"/>
          <p:cNvSpPr/>
          <p:nvPr/>
        </p:nvSpPr>
        <p:spPr>
          <a:xfrm>
            <a:off x="548640" y="6355080"/>
            <a:ext cx="11063880" cy="1044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34200" bIns="-34200" anchor="t">
            <a:noAutofit/>
          </a:bodyPr>
          <a:p>
            <a:endParaRPr b="0" lang="en-TR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2" name="Text 36"/>
          <p:cNvSpPr/>
          <p:nvPr/>
        </p:nvSpPr>
        <p:spPr>
          <a:xfrm>
            <a:off x="548640" y="6446520"/>
            <a:ext cx="731484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00" strike="noStrike" u="none">
                <a:solidFill>
                  <a:srgbClr val="64748b"/>
                </a:solidFill>
                <a:effectLst/>
                <a:uFillTx/>
                <a:latin typeface="Calibri"/>
                <a:ea typeface="Calibri"/>
              </a:rPr>
              <a:t>5G RRC Storm Mitigation  ·  Calibrated Digital Twin</a:t>
            </a:r>
            <a:endParaRPr b="0" lang="en-TR" sz="9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3" name="Text 37"/>
          <p:cNvSpPr/>
          <p:nvPr/>
        </p:nvSpPr>
        <p:spPr>
          <a:xfrm>
            <a:off x="10698480" y="6446520"/>
            <a:ext cx="91404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00" strike="noStrike" u="none">
                <a:solidFill>
                  <a:srgbClr val="64748b"/>
                </a:solidFill>
                <a:effectLst/>
                <a:uFillTx/>
                <a:latin typeface="Calibri"/>
                <a:ea typeface="Calibri"/>
              </a:rPr>
              <a:t>9 / 21</a:t>
            </a:r>
            <a:endParaRPr b="0" lang="en-TR" sz="9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Text 0"/>
          <p:cNvSpPr/>
          <p:nvPr/>
        </p:nvSpPr>
        <p:spPr>
          <a:xfrm>
            <a:off x="548640" y="411480"/>
            <a:ext cx="1097244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00" spc="400" strike="noStrike" u="none">
                <a:solidFill>
                  <a:srgbClr val="f4a11a"/>
                </a:solidFill>
                <a:effectLst/>
                <a:uFillTx/>
                <a:latin typeface="Calibri"/>
                <a:ea typeface="Calibri"/>
              </a:rPr>
              <a:t>PROPOSED METHOD</a:t>
            </a:r>
            <a:endParaRPr b="0" lang="en-TR" sz="1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5" name="Text 1"/>
          <p:cNvSpPr/>
          <p:nvPr/>
        </p:nvSpPr>
        <p:spPr>
          <a:xfrm>
            <a:off x="548640" y="713160"/>
            <a:ext cx="10972440" cy="776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3000" strike="noStrike" u="none">
                <a:solidFill>
                  <a:srgbClr val="1a2233"/>
                </a:solidFill>
                <a:effectLst/>
                <a:uFillTx/>
                <a:latin typeface="Cambria"/>
                <a:ea typeface="Cambria"/>
              </a:rPr>
              <a:t>EMA predictor and ACB control policy</a:t>
            </a:r>
            <a:endParaRPr b="0" lang="en-TR" sz="3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6" name="Shape 2"/>
          <p:cNvSpPr/>
          <p:nvPr/>
        </p:nvSpPr>
        <p:spPr>
          <a:xfrm>
            <a:off x="548640" y="1600200"/>
            <a:ext cx="5531760" cy="4525920"/>
          </a:xfrm>
          <a:prstGeom prst="rect">
            <a:avLst/>
          </a:prstGeom>
          <a:solidFill>
            <a:srgbClr val="ffffff"/>
          </a:solidFill>
          <a:ln w="9525">
            <a:solidFill>
              <a:srgbClr val="dce3e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TR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7" name="Shape 3"/>
          <p:cNvSpPr/>
          <p:nvPr/>
        </p:nvSpPr>
        <p:spPr>
          <a:xfrm>
            <a:off x="548640" y="1600200"/>
            <a:ext cx="63720" cy="4525920"/>
          </a:xfrm>
          <a:prstGeom prst="rect">
            <a:avLst/>
          </a:prstGeom>
          <a:solidFill>
            <a:srgbClr val="065a82"/>
          </a:solidFill>
          <a:ln w="12700">
            <a:solidFill>
              <a:srgbClr val="065a82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TR" sz="18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268" name="Image 0" descr="preencoded.png"/>
          <p:cNvPicPr/>
          <p:nvPr/>
        </p:nvPicPr>
        <p:blipFill>
          <a:blip r:embed="rId1"/>
          <a:stretch/>
        </p:blipFill>
        <p:spPr>
          <a:xfrm>
            <a:off x="822960" y="1783080"/>
            <a:ext cx="365400" cy="3654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69" name="Text 4"/>
          <p:cNvSpPr/>
          <p:nvPr/>
        </p:nvSpPr>
        <p:spPr>
          <a:xfrm>
            <a:off x="1325880" y="1783080"/>
            <a:ext cx="461736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500" strike="noStrike" u="none">
                <a:solidFill>
                  <a:srgbClr val="1a2233"/>
                </a:solidFill>
                <a:effectLst/>
                <a:uFillTx/>
                <a:latin typeface="Cambria"/>
                <a:ea typeface="Cambria"/>
              </a:rPr>
              <a:t>EMA arrival-rate predictor</a:t>
            </a:r>
            <a:endParaRPr b="0" lang="en-TR" sz="15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0" name="Shape 5"/>
          <p:cNvSpPr/>
          <p:nvPr/>
        </p:nvSpPr>
        <p:spPr>
          <a:xfrm>
            <a:off x="822960" y="2377440"/>
            <a:ext cx="4983120" cy="1325520"/>
          </a:xfrm>
          <a:prstGeom prst="rect">
            <a:avLst/>
          </a:prstGeom>
          <a:solidFill>
            <a:srgbClr val="f1f4f8"/>
          </a:solidFill>
          <a:ln w="12700">
            <a:solidFill>
              <a:srgbClr val="dce3e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TR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1" name="Text 6"/>
          <p:cNvSpPr/>
          <p:nvPr/>
        </p:nvSpPr>
        <p:spPr>
          <a:xfrm>
            <a:off x="914400" y="2468880"/>
            <a:ext cx="4800240" cy="1188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400" strike="noStrike" u="none">
                <a:solidFill>
                  <a:srgbClr val="1a2233"/>
                </a:solidFill>
                <a:effectLst/>
                <a:uFillTx/>
                <a:latin typeface="Consolas"/>
                <a:ea typeface="Consolas"/>
              </a:rPr>
              <a:t>EMA_t = α · λ_cur + (1 − α) · EMA_{t−1}</a:t>
            </a:r>
            <a:endParaRPr b="0" lang="en-TR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endParaRPr b="0" lang="en-TR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400" strike="noStrike" u="none">
                <a:solidFill>
                  <a:srgbClr val="1a2233"/>
                </a:solidFill>
                <a:effectLst/>
                <a:uFillTx/>
                <a:latin typeface="Consolas"/>
                <a:ea typeface="Consolas"/>
              </a:rPr>
              <a:t>λ_cur = n_win / Δ</a:t>
            </a:r>
            <a:endParaRPr b="0" lang="en-TR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2" name="Text 7"/>
          <p:cNvSpPr/>
          <p:nvPr/>
        </p:nvSpPr>
        <p:spPr>
          <a:xfrm>
            <a:off x="822960" y="3840480"/>
            <a:ext cx="4983120" cy="1188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marL="343080" indent="-343080" defTabSz="914400">
              <a:lnSpc>
                <a:spcPct val="100000"/>
              </a:lnSpc>
              <a:spcAft>
                <a:spcPts val="400"/>
              </a:spcAft>
              <a:buClr>
                <a:srgbClr val="334155"/>
              </a:buClr>
              <a:buFont typeface="Symbol" charset="2"/>
              <a:buChar char=""/>
            </a:pPr>
            <a:r>
              <a:rPr b="0" lang="en-US" sz="1200" strike="noStrike" u="none">
                <a:solidFill>
                  <a:srgbClr val="334155"/>
                </a:solidFill>
                <a:effectLst/>
                <a:uFillTx/>
                <a:latin typeface="Calibri"/>
                <a:ea typeface="Calibri"/>
              </a:rPr>
              <a:t>Initial weight α₀ = 0.20  </a:t>
            </a:r>
            <a:endParaRPr b="0" lang="en-TR" sz="1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spcAft>
                <a:spcPts val="400"/>
              </a:spcAft>
              <a:buClr>
                <a:srgbClr val="334155"/>
              </a:buClr>
              <a:buFont typeface="Symbol" charset="2"/>
              <a:buChar char=""/>
            </a:pPr>
            <a:r>
              <a:rPr b="0" lang="en-US" sz="1200" strike="noStrike" u="none">
                <a:solidFill>
                  <a:srgbClr val="334155"/>
                </a:solidFill>
                <a:effectLst/>
                <a:uFillTx/>
                <a:latin typeface="Calibri"/>
                <a:ea typeface="Calibri"/>
              </a:rPr>
              <a:t>α is dynamic — updated by the calibration loop (Stage 3)</a:t>
            </a:r>
            <a:endParaRPr b="0" lang="en-TR" sz="1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3" name="Shape 8"/>
          <p:cNvSpPr/>
          <p:nvPr/>
        </p:nvSpPr>
        <p:spPr>
          <a:xfrm>
            <a:off x="822960" y="5212080"/>
            <a:ext cx="4983120" cy="776880"/>
          </a:xfrm>
          <a:prstGeom prst="rect">
            <a:avLst/>
          </a:prstGeom>
          <a:solidFill>
            <a:srgbClr val="e8f4f8"/>
          </a:solidFill>
          <a:ln w="12700">
            <a:solidFill>
              <a:srgbClr val="1c729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TR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4" name="Text 9"/>
          <p:cNvSpPr/>
          <p:nvPr/>
        </p:nvSpPr>
        <p:spPr>
          <a:xfrm>
            <a:off x="960120" y="5212080"/>
            <a:ext cx="4754520" cy="776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i="1" lang="en-US" sz="1200" strike="noStrike" u="none">
                <a:solidFill>
                  <a:srgbClr val="1a2233"/>
                </a:solidFill>
                <a:effectLst/>
                <a:uFillTx/>
                <a:latin typeface="Calibri"/>
                <a:ea typeface="Calibri"/>
              </a:rPr>
              <a:t>Key insight: p_acb rises before Q_real reaches K — proactive throttling, not reactive.</a:t>
            </a:r>
            <a:endParaRPr b="0" lang="en-TR" sz="1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5" name="Shape 10"/>
          <p:cNvSpPr/>
          <p:nvPr/>
        </p:nvSpPr>
        <p:spPr>
          <a:xfrm>
            <a:off x="6263640" y="1600200"/>
            <a:ext cx="5531760" cy="4525920"/>
          </a:xfrm>
          <a:prstGeom prst="rect">
            <a:avLst/>
          </a:prstGeom>
          <a:solidFill>
            <a:srgbClr val="ffffff"/>
          </a:solidFill>
          <a:ln w="9525">
            <a:solidFill>
              <a:srgbClr val="dce3e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TR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6" name="Shape 11"/>
          <p:cNvSpPr/>
          <p:nvPr/>
        </p:nvSpPr>
        <p:spPr>
          <a:xfrm>
            <a:off x="6263640" y="1600200"/>
            <a:ext cx="63720" cy="4525920"/>
          </a:xfrm>
          <a:prstGeom prst="rect">
            <a:avLst/>
          </a:prstGeom>
          <a:solidFill>
            <a:srgbClr val="f4a11a"/>
          </a:solidFill>
          <a:ln w="12700">
            <a:solidFill>
              <a:srgbClr val="f4a11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TR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277" name="Image 1" descr="preencoded.png"/>
          <p:cNvPicPr/>
          <p:nvPr/>
        </p:nvPicPr>
        <p:blipFill>
          <a:blip r:embed="rId2"/>
          <a:stretch/>
        </p:blipFill>
        <p:spPr>
          <a:xfrm>
            <a:off x="6537960" y="1783080"/>
            <a:ext cx="365400" cy="3654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78" name="Text 12"/>
          <p:cNvSpPr/>
          <p:nvPr/>
        </p:nvSpPr>
        <p:spPr>
          <a:xfrm>
            <a:off x="7040880" y="1783080"/>
            <a:ext cx="461736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500" strike="noStrike" u="none">
                <a:solidFill>
                  <a:srgbClr val="1a2233"/>
                </a:solidFill>
                <a:effectLst/>
                <a:uFillTx/>
                <a:latin typeface="Cambria"/>
                <a:ea typeface="Cambria"/>
              </a:rPr>
              <a:t>Stochastic barring probability</a:t>
            </a:r>
            <a:endParaRPr b="0" lang="en-TR" sz="15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9" name="Shape 13"/>
          <p:cNvSpPr/>
          <p:nvPr/>
        </p:nvSpPr>
        <p:spPr>
          <a:xfrm>
            <a:off x="6537960" y="2377440"/>
            <a:ext cx="4983120" cy="1325520"/>
          </a:xfrm>
          <a:prstGeom prst="rect">
            <a:avLst/>
          </a:prstGeom>
          <a:solidFill>
            <a:srgbClr val="f1f4f8"/>
          </a:solidFill>
          <a:ln w="12700">
            <a:solidFill>
              <a:srgbClr val="dce3e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TR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0" name="Text 14"/>
          <p:cNvSpPr/>
          <p:nvPr/>
        </p:nvSpPr>
        <p:spPr>
          <a:xfrm>
            <a:off x="6629400" y="2468880"/>
            <a:ext cx="4800240" cy="1188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300" strike="noStrike" u="none">
                <a:solidFill>
                  <a:srgbClr val="1a2233"/>
                </a:solidFill>
                <a:effectLst/>
                <a:uFillTx/>
                <a:latin typeface="Consolas"/>
                <a:ea typeface="Consolas"/>
              </a:rPr>
              <a:t>p_acb = max(0, min(1, 1 − (K − Q_real) / max(EMA_t · Δ, 1e−9)))</a:t>
            </a:r>
            <a:endParaRPr b="0" lang="en-TR" sz="13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1" name="Text 15"/>
          <p:cNvSpPr/>
          <p:nvPr/>
        </p:nvSpPr>
        <p:spPr>
          <a:xfrm>
            <a:off x="6537960" y="3840480"/>
            <a:ext cx="4983120" cy="2194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marL="343080" indent="-343080" defTabSz="914400">
              <a:lnSpc>
                <a:spcPct val="100000"/>
              </a:lnSpc>
              <a:spcAft>
                <a:spcPts val="499"/>
              </a:spcAft>
              <a:buClr>
                <a:srgbClr val="334155"/>
              </a:buClr>
              <a:buFont typeface="Symbol" charset="2"/>
              <a:buChar char=""/>
            </a:pPr>
            <a:r>
              <a:rPr b="0" lang="en-US" sz="1200" strike="noStrike" u="none">
                <a:solidFill>
                  <a:srgbClr val="334155"/>
                </a:solidFill>
                <a:effectLst/>
                <a:uFillTx/>
                <a:latin typeface="Calibri"/>
                <a:ea typeface="Calibri"/>
              </a:rPr>
              <a:t>Minimum probability to prevent Q_real ≥ K next step</a:t>
            </a:r>
            <a:endParaRPr b="0" lang="en-TR" sz="1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spcAft>
                <a:spcPts val="499"/>
              </a:spcAft>
              <a:buClr>
                <a:srgbClr val="334155"/>
              </a:buClr>
              <a:buFont typeface="Symbol" charset="2"/>
              <a:buChar char=""/>
            </a:pPr>
            <a:r>
              <a:rPr b="0" lang="en-US" sz="1200" strike="noStrike" u="none">
                <a:solidFill>
                  <a:srgbClr val="334155"/>
                </a:solidFill>
                <a:effectLst/>
                <a:uFillTx/>
                <a:latin typeface="Calibri"/>
                <a:ea typeface="Calibri"/>
              </a:rPr>
              <a:t>Applied as a Bernoulli trial per request</a:t>
            </a:r>
            <a:endParaRPr b="0" lang="en-TR" sz="1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spcAft>
                <a:spcPts val="499"/>
              </a:spcAft>
              <a:buClr>
                <a:srgbClr val="334155"/>
              </a:buClr>
              <a:buFont typeface="Symbol" charset="2"/>
              <a:buChar char=""/>
            </a:pPr>
            <a:r>
              <a:rPr b="0" lang="en-US" sz="1200" strike="noStrike" u="none">
                <a:solidFill>
                  <a:srgbClr val="334155"/>
                </a:solidFill>
                <a:effectLst/>
                <a:uFillTx/>
                <a:latin typeface="Calibri"/>
                <a:ea typeface="Calibri"/>
              </a:rPr>
              <a:t>Maps to uac-BarringInfo in SIB1 (3GPP TS 38.331)</a:t>
            </a:r>
            <a:endParaRPr b="0" lang="en-TR" sz="1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2" name="Shape 16"/>
          <p:cNvSpPr/>
          <p:nvPr/>
        </p:nvSpPr>
        <p:spPr>
          <a:xfrm>
            <a:off x="548640" y="6355080"/>
            <a:ext cx="11063880" cy="1044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34200" bIns="-34200" anchor="t">
            <a:noAutofit/>
          </a:bodyPr>
          <a:p>
            <a:endParaRPr b="0" lang="en-TR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3" name="Text 17"/>
          <p:cNvSpPr/>
          <p:nvPr/>
        </p:nvSpPr>
        <p:spPr>
          <a:xfrm>
            <a:off x="548640" y="6446520"/>
            <a:ext cx="731484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00" strike="noStrike" u="none">
                <a:solidFill>
                  <a:srgbClr val="64748b"/>
                </a:solidFill>
                <a:effectLst/>
                <a:uFillTx/>
                <a:latin typeface="Calibri"/>
                <a:ea typeface="Calibri"/>
              </a:rPr>
              <a:t>5G RRC Storm Mitigation  ·  Calibrated Digital Twin</a:t>
            </a:r>
            <a:endParaRPr b="0" lang="en-TR" sz="9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4" name="Text 18"/>
          <p:cNvSpPr/>
          <p:nvPr/>
        </p:nvSpPr>
        <p:spPr>
          <a:xfrm>
            <a:off x="10698480" y="6446520"/>
            <a:ext cx="91404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00" strike="noStrike" u="none">
                <a:solidFill>
                  <a:srgbClr val="64748b"/>
                </a:solidFill>
                <a:effectLst/>
                <a:uFillTx/>
                <a:latin typeface="Calibri"/>
                <a:ea typeface="Calibri"/>
              </a:rPr>
              <a:t>10 / 21</a:t>
            </a:r>
            <a:endParaRPr b="0" lang="en-TR" sz="9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Text 0"/>
          <p:cNvSpPr/>
          <p:nvPr/>
        </p:nvSpPr>
        <p:spPr>
          <a:xfrm>
            <a:off x="548640" y="411480"/>
            <a:ext cx="1097244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00" spc="400" strike="noStrike" u="none">
                <a:solidFill>
                  <a:srgbClr val="f4a11a"/>
                </a:solidFill>
                <a:effectLst/>
                <a:uFillTx/>
                <a:latin typeface="Calibri"/>
                <a:ea typeface="Calibri"/>
              </a:rPr>
              <a:t>PROPOSED METHOD</a:t>
            </a:r>
            <a:endParaRPr b="0" lang="en-TR" sz="1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6" name="Text 1"/>
          <p:cNvSpPr/>
          <p:nvPr/>
        </p:nvSpPr>
        <p:spPr>
          <a:xfrm>
            <a:off x="548640" y="713160"/>
            <a:ext cx="10972440" cy="776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3000" strike="noStrike" u="none">
                <a:solidFill>
                  <a:srgbClr val="1a2233"/>
                </a:solidFill>
                <a:effectLst/>
                <a:uFillTx/>
                <a:latin typeface="Cambria"/>
                <a:ea typeface="Cambria"/>
              </a:rPr>
              <a:t>Continuous calibration loop</a:t>
            </a:r>
            <a:endParaRPr b="0" lang="en-TR" sz="3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7" name="Shape 2"/>
          <p:cNvSpPr/>
          <p:nvPr/>
        </p:nvSpPr>
        <p:spPr>
          <a:xfrm>
            <a:off x="548640" y="1554480"/>
            <a:ext cx="11063880" cy="1051200"/>
          </a:xfrm>
          <a:prstGeom prst="rect">
            <a:avLst/>
          </a:prstGeom>
          <a:solidFill>
            <a:srgbClr val="ffffff"/>
          </a:solidFill>
          <a:ln w="9525">
            <a:solidFill>
              <a:srgbClr val="dce3e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TR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8" name="Shape 3"/>
          <p:cNvSpPr/>
          <p:nvPr/>
        </p:nvSpPr>
        <p:spPr>
          <a:xfrm>
            <a:off x="548640" y="1554480"/>
            <a:ext cx="63720" cy="1051200"/>
          </a:xfrm>
          <a:prstGeom prst="rect">
            <a:avLst/>
          </a:prstGeom>
          <a:solidFill>
            <a:srgbClr val="065a82"/>
          </a:solidFill>
          <a:ln w="12700">
            <a:solidFill>
              <a:srgbClr val="065a82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TR" sz="18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89" name="Text 4"/>
          <p:cNvSpPr/>
          <p:nvPr/>
        </p:nvSpPr>
        <p:spPr>
          <a:xfrm>
            <a:off x="777240" y="1627560"/>
            <a:ext cx="365724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400" strike="noStrike" u="none">
                <a:solidFill>
                  <a:srgbClr val="065a82"/>
                </a:solidFill>
                <a:effectLst/>
                <a:uFillTx/>
                <a:latin typeface="Cambria"/>
                <a:ea typeface="Cambria"/>
              </a:rPr>
              <a:t>State-mirroring error</a:t>
            </a:r>
            <a:endParaRPr b="0" lang="en-TR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90" name="Text 5"/>
          <p:cNvSpPr/>
          <p:nvPr/>
        </p:nvSpPr>
        <p:spPr>
          <a:xfrm>
            <a:off x="777240" y="1993320"/>
            <a:ext cx="10515240" cy="54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800" strike="noStrike" u="none">
                <a:solidFill>
                  <a:srgbClr val="1a2233"/>
                </a:solidFill>
                <a:effectLst/>
                <a:uFillTx/>
                <a:latin typeface="Consolas"/>
                <a:ea typeface="Consolas"/>
              </a:rPr>
              <a:t>E(t) = | Q_real(t) − Q_virtual(t) |</a:t>
            </a:r>
            <a:endParaRPr b="0" lang="en-TR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91" name="Shape 6"/>
          <p:cNvSpPr/>
          <p:nvPr/>
        </p:nvSpPr>
        <p:spPr>
          <a:xfrm>
            <a:off x="548640" y="2743200"/>
            <a:ext cx="5531760" cy="3382920"/>
          </a:xfrm>
          <a:prstGeom prst="rect">
            <a:avLst/>
          </a:prstGeom>
          <a:solidFill>
            <a:srgbClr val="ffffff"/>
          </a:solidFill>
          <a:ln w="9525">
            <a:solidFill>
              <a:srgbClr val="dce3e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TR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92" name="Shape 7"/>
          <p:cNvSpPr/>
          <p:nvPr/>
        </p:nvSpPr>
        <p:spPr>
          <a:xfrm>
            <a:off x="548640" y="2743200"/>
            <a:ext cx="63720" cy="3382920"/>
          </a:xfrm>
          <a:prstGeom prst="rect">
            <a:avLst/>
          </a:prstGeom>
          <a:solidFill>
            <a:srgbClr val="f4a11a"/>
          </a:solidFill>
          <a:ln w="12700">
            <a:solidFill>
              <a:srgbClr val="f4a11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TR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93" name="Text 8"/>
          <p:cNvSpPr/>
          <p:nvPr/>
        </p:nvSpPr>
        <p:spPr>
          <a:xfrm>
            <a:off x="777240" y="2834640"/>
            <a:ext cx="512028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400" strike="noStrike" u="none">
                <a:solidFill>
                  <a:srgbClr val="1a2233"/>
                </a:solidFill>
                <a:effectLst/>
                <a:uFillTx/>
                <a:latin typeface="Cambria"/>
                <a:ea typeface="Cambria"/>
              </a:rPr>
              <a:t>Asymmetric step rule</a:t>
            </a:r>
            <a:endParaRPr b="0" lang="en-TR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94" name="Shape 9"/>
          <p:cNvSpPr/>
          <p:nvPr/>
        </p:nvSpPr>
        <p:spPr>
          <a:xfrm>
            <a:off x="777240" y="3246120"/>
            <a:ext cx="5074560" cy="1416960"/>
          </a:xfrm>
          <a:prstGeom prst="rect">
            <a:avLst/>
          </a:prstGeom>
          <a:solidFill>
            <a:srgbClr val="f1f4f8"/>
          </a:solidFill>
          <a:ln w="12700">
            <a:solidFill>
              <a:srgbClr val="dce3e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TR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95" name="Text 10"/>
          <p:cNvSpPr/>
          <p:nvPr/>
        </p:nvSpPr>
        <p:spPr>
          <a:xfrm>
            <a:off x="914400" y="3291840"/>
            <a:ext cx="4845960" cy="1325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300" strike="noStrike" u="none">
                <a:solidFill>
                  <a:srgbClr val="c0392b"/>
                </a:solidFill>
                <a:effectLst/>
                <a:uFillTx/>
                <a:latin typeface="Consolas"/>
                <a:ea typeface="Consolas"/>
              </a:rPr>
              <a:t>if  E &gt; ε  :</a:t>
            </a:r>
            <a:endParaRPr b="0" lang="en-TR" sz="13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300" strike="noStrike" u="none">
                <a:solidFill>
                  <a:srgbClr val="1a2233"/>
                </a:solidFill>
                <a:effectLst/>
                <a:uFillTx/>
                <a:latin typeface="Consolas"/>
                <a:ea typeface="Consolas"/>
              </a:rPr>
              <a:t>    α ← min(α_max, α + δ⁺)</a:t>
            </a:r>
            <a:endParaRPr b="0" lang="en-TR" sz="13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300" strike="noStrike" u="none">
                <a:solidFill>
                  <a:srgbClr val="0e8a6b"/>
                </a:solidFill>
                <a:effectLst/>
                <a:uFillTx/>
                <a:latin typeface="Consolas"/>
                <a:ea typeface="Consolas"/>
              </a:rPr>
              <a:t>else:</a:t>
            </a:r>
            <a:endParaRPr b="0" lang="en-TR" sz="13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300" strike="noStrike" u="none">
                <a:solidFill>
                  <a:srgbClr val="1a2233"/>
                </a:solidFill>
                <a:effectLst/>
                <a:uFillTx/>
                <a:latin typeface="Consolas"/>
                <a:ea typeface="Consolas"/>
              </a:rPr>
              <a:t>    α ← max(α_min, α − δ⁻)</a:t>
            </a:r>
            <a:endParaRPr b="0" lang="en-TR" sz="13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96" name="Shape 11"/>
          <p:cNvSpPr/>
          <p:nvPr/>
        </p:nvSpPr>
        <p:spPr>
          <a:xfrm>
            <a:off x="777240" y="4800600"/>
            <a:ext cx="1627200" cy="1142640"/>
          </a:xfrm>
          <a:prstGeom prst="roundRect">
            <a:avLst>
              <a:gd name="adj" fmla="val 4000"/>
            </a:avLst>
          </a:prstGeom>
          <a:solidFill>
            <a:srgbClr val="f7f9fc"/>
          </a:solidFill>
          <a:ln w="12700">
            <a:solidFill>
              <a:srgbClr val="dce3e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TR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97" name="Text 12"/>
          <p:cNvSpPr/>
          <p:nvPr/>
        </p:nvSpPr>
        <p:spPr>
          <a:xfrm>
            <a:off x="777240" y="4846320"/>
            <a:ext cx="1627200" cy="411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800" strike="noStrike" u="none">
                <a:solidFill>
                  <a:srgbClr val="065a82"/>
                </a:solidFill>
                <a:effectLst/>
                <a:uFillTx/>
                <a:latin typeface="Consolas"/>
                <a:ea typeface="Consolas"/>
              </a:rPr>
              <a:t>ε</a:t>
            </a:r>
            <a:endParaRPr b="0" lang="en-TR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98" name="Text 13"/>
          <p:cNvSpPr/>
          <p:nvPr/>
        </p:nvSpPr>
        <p:spPr>
          <a:xfrm>
            <a:off x="777240" y="5212080"/>
            <a:ext cx="162720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600" strike="noStrike" u="none">
                <a:solidFill>
                  <a:srgbClr val="1a2233"/>
                </a:solidFill>
                <a:effectLst/>
                <a:uFillTx/>
                <a:latin typeface="Consolas"/>
                <a:ea typeface="Consolas"/>
              </a:rPr>
              <a:t>10</a:t>
            </a:r>
            <a:endParaRPr b="0" lang="en-TR" sz="1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99" name="Text 14"/>
          <p:cNvSpPr/>
          <p:nvPr/>
        </p:nvSpPr>
        <p:spPr>
          <a:xfrm>
            <a:off x="822960" y="5577840"/>
            <a:ext cx="1535760" cy="31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50" strike="noStrike" u="none">
                <a:solidFill>
                  <a:srgbClr val="64748b"/>
                </a:solidFill>
                <a:effectLst/>
                <a:uFillTx/>
                <a:latin typeface="Calibri"/>
                <a:ea typeface="Calibri"/>
              </a:rPr>
              <a:t>calibration threshold</a:t>
            </a:r>
            <a:endParaRPr b="0" lang="en-TR" sz="95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00" name="Shape 15"/>
          <p:cNvSpPr/>
          <p:nvPr/>
        </p:nvSpPr>
        <p:spPr>
          <a:xfrm>
            <a:off x="2496240" y="4800600"/>
            <a:ext cx="1627200" cy="1142640"/>
          </a:xfrm>
          <a:prstGeom prst="roundRect">
            <a:avLst>
              <a:gd name="adj" fmla="val 4000"/>
            </a:avLst>
          </a:prstGeom>
          <a:solidFill>
            <a:srgbClr val="f7f9fc"/>
          </a:solidFill>
          <a:ln w="12700">
            <a:solidFill>
              <a:srgbClr val="dce3e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TR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01" name="Text 16"/>
          <p:cNvSpPr/>
          <p:nvPr/>
        </p:nvSpPr>
        <p:spPr>
          <a:xfrm>
            <a:off x="2496240" y="4846320"/>
            <a:ext cx="1627200" cy="411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800" strike="noStrike" u="none">
                <a:solidFill>
                  <a:srgbClr val="065a82"/>
                </a:solidFill>
                <a:effectLst/>
                <a:uFillTx/>
                <a:latin typeface="Consolas"/>
                <a:ea typeface="Consolas"/>
              </a:rPr>
              <a:t>δ⁺</a:t>
            </a:r>
            <a:endParaRPr b="0" lang="en-TR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02" name="Text 17"/>
          <p:cNvSpPr/>
          <p:nvPr/>
        </p:nvSpPr>
        <p:spPr>
          <a:xfrm>
            <a:off x="2496240" y="5212080"/>
            <a:ext cx="162720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600" strike="noStrike" u="none">
                <a:solidFill>
                  <a:srgbClr val="1a2233"/>
                </a:solidFill>
                <a:effectLst/>
                <a:uFillTx/>
                <a:latin typeface="Consolas"/>
                <a:ea typeface="Consolas"/>
              </a:rPr>
              <a:t>0.05</a:t>
            </a:r>
            <a:endParaRPr b="0" lang="en-TR" sz="1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03" name="Text 18"/>
          <p:cNvSpPr/>
          <p:nvPr/>
        </p:nvSpPr>
        <p:spPr>
          <a:xfrm>
            <a:off x="2541960" y="5577840"/>
            <a:ext cx="1535760" cy="31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50" strike="noStrike" u="none">
                <a:solidFill>
                  <a:srgbClr val="64748b"/>
                </a:solidFill>
                <a:effectLst/>
                <a:uFillTx/>
                <a:latin typeface="Calibri"/>
                <a:ea typeface="Calibri"/>
              </a:rPr>
              <a:t>fast attack response</a:t>
            </a:r>
            <a:endParaRPr b="0" lang="en-TR" sz="95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04" name="Shape 19"/>
          <p:cNvSpPr/>
          <p:nvPr/>
        </p:nvSpPr>
        <p:spPr>
          <a:xfrm>
            <a:off x="4215240" y="4800600"/>
            <a:ext cx="1627200" cy="1142640"/>
          </a:xfrm>
          <a:prstGeom prst="roundRect">
            <a:avLst>
              <a:gd name="adj" fmla="val 4000"/>
            </a:avLst>
          </a:prstGeom>
          <a:solidFill>
            <a:srgbClr val="f7f9fc"/>
          </a:solidFill>
          <a:ln w="12700">
            <a:solidFill>
              <a:srgbClr val="dce3e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TR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05" name="Text 20"/>
          <p:cNvSpPr/>
          <p:nvPr/>
        </p:nvSpPr>
        <p:spPr>
          <a:xfrm>
            <a:off x="4215240" y="4846320"/>
            <a:ext cx="1627200" cy="411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800" strike="noStrike" u="none">
                <a:solidFill>
                  <a:srgbClr val="065a82"/>
                </a:solidFill>
                <a:effectLst/>
                <a:uFillTx/>
                <a:latin typeface="Consolas"/>
                <a:ea typeface="Consolas"/>
              </a:rPr>
              <a:t>δ⁻</a:t>
            </a:r>
            <a:endParaRPr b="0" lang="en-TR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06" name="Text 21"/>
          <p:cNvSpPr/>
          <p:nvPr/>
        </p:nvSpPr>
        <p:spPr>
          <a:xfrm>
            <a:off x="4215240" y="5212080"/>
            <a:ext cx="162720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600" strike="noStrike" u="none">
                <a:solidFill>
                  <a:srgbClr val="1a2233"/>
                </a:solidFill>
                <a:effectLst/>
                <a:uFillTx/>
                <a:latin typeface="Consolas"/>
                <a:ea typeface="Consolas"/>
              </a:rPr>
              <a:t>0.01</a:t>
            </a:r>
            <a:endParaRPr b="0" lang="en-TR" sz="1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07" name="Text 22"/>
          <p:cNvSpPr/>
          <p:nvPr/>
        </p:nvSpPr>
        <p:spPr>
          <a:xfrm>
            <a:off x="4260960" y="5577840"/>
            <a:ext cx="1535760" cy="31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50" strike="noStrike" u="none">
                <a:solidFill>
                  <a:srgbClr val="64748b"/>
                </a:solidFill>
                <a:effectLst/>
                <a:uFillTx/>
                <a:latin typeface="Calibri"/>
                <a:ea typeface="Calibri"/>
              </a:rPr>
              <a:t>slow decay (stability)</a:t>
            </a:r>
            <a:endParaRPr b="0" lang="en-TR" sz="95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08" name="Shape 23"/>
          <p:cNvSpPr/>
          <p:nvPr/>
        </p:nvSpPr>
        <p:spPr>
          <a:xfrm>
            <a:off x="6263640" y="2743200"/>
            <a:ext cx="5531760" cy="1599840"/>
          </a:xfrm>
          <a:prstGeom prst="rect">
            <a:avLst/>
          </a:prstGeom>
          <a:solidFill>
            <a:srgbClr val="ffffff"/>
          </a:solidFill>
          <a:ln w="9525">
            <a:solidFill>
              <a:srgbClr val="dce3e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TR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09" name="Shape 24"/>
          <p:cNvSpPr/>
          <p:nvPr/>
        </p:nvSpPr>
        <p:spPr>
          <a:xfrm>
            <a:off x="6263640" y="2743200"/>
            <a:ext cx="63720" cy="1599840"/>
          </a:xfrm>
          <a:prstGeom prst="rect">
            <a:avLst/>
          </a:prstGeom>
          <a:solidFill>
            <a:srgbClr val="c0392b"/>
          </a:solidFill>
          <a:ln w="12700">
            <a:solidFill>
              <a:srgbClr val="c039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TR" sz="18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10" name="Text 25"/>
          <p:cNvSpPr/>
          <p:nvPr/>
        </p:nvSpPr>
        <p:spPr>
          <a:xfrm>
            <a:off x="6492240" y="2834640"/>
            <a:ext cx="516600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350" strike="noStrike" u="none">
                <a:solidFill>
                  <a:srgbClr val="c0392b"/>
                </a:solidFill>
                <a:effectLst/>
                <a:uFillTx/>
                <a:latin typeface="Cambria"/>
                <a:ea typeface="Cambria"/>
              </a:rPr>
              <a:t>Attack onset:  δ⁺ = 0.05  (fast)</a:t>
            </a:r>
            <a:endParaRPr b="0" lang="en-TR" sz="135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11" name="Text 26"/>
          <p:cNvSpPr/>
          <p:nvPr/>
        </p:nvSpPr>
        <p:spPr>
          <a:xfrm>
            <a:off x="6537960" y="3246120"/>
            <a:ext cx="5074560" cy="1005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marL="343080" indent="-343080" defTabSz="914400">
              <a:lnSpc>
                <a:spcPct val="100000"/>
              </a:lnSpc>
              <a:spcAft>
                <a:spcPts val="300"/>
              </a:spcAft>
              <a:buClr>
                <a:srgbClr val="334155"/>
              </a:buClr>
              <a:buFont typeface="Symbol" charset="2"/>
              <a:buChar char=""/>
            </a:pPr>
            <a:r>
              <a:rPr b="0" lang="en-US" sz="1200" strike="noStrike" u="none">
                <a:solidFill>
                  <a:srgbClr val="334155"/>
                </a:solidFill>
                <a:effectLst/>
                <a:uFillTx/>
                <a:latin typeface="Calibri"/>
                <a:ea typeface="Calibri"/>
              </a:rPr>
              <a:t>EMA becomes high-frequency</a:t>
            </a:r>
            <a:endParaRPr b="0" lang="en-TR" sz="1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spcAft>
                <a:spcPts val="300"/>
              </a:spcAft>
              <a:buClr>
                <a:srgbClr val="334155"/>
              </a:buClr>
              <a:buFont typeface="Symbol" charset="2"/>
              <a:buChar char=""/>
            </a:pPr>
            <a:r>
              <a:rPr b="0" lang="en-US" sz="1200" strike="noStrike" u="none">
                <a:solidFill>
                  <a:srgbClr val="334155"/>
                </a:solidFill>
                <a:effectLst/>
                <a:uFillTx/>
                <a:latin typeface="Calibri"/>
                <a:ea typeface="Calibri"/>
              </a:rPr>
              <a:t>Outdated observations discarded quickly</a:t>
            </a:r>
            <a:endParaRPr b="0" lang="en-TR" sz="1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12" name="Shape 27"/>
          <p:cNvSpPr/>
          <p:nvPr/>
        </p:nvSpPr>
        <p:spPr>
          <a:xfrm>
            <a:off x="6263640" y="4526280"/>
            <a:ext cx="5531760" cy="1599840"/>
          </a:xfrm>
          <a:prstGeom prst="rect">
            <a:avLst/>
          </a:prstGeom>
          <a:solidFill>
            <a:srgbClr val="ffffff"/>
          </a:solidFill>
          <a:ln w="9525">
            <a:solidFill>
              <a:srgbClr val="dce3e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TR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13" name="Shape 28"/>
          <p:cNvSpPr/>
          <p:nvPr/>
        </p:nvSpPr>
        <p:spPr>
          <a:xfrm>
            <a:off x="6263640" y="4526280"/>
            <a:ext cx="63720" cy="1599840"/>
          </a:xfrm>
          <a:prstGeom prst="rect">
            <a:avLst/>
          </a:prstGeom>
          <a:solidFill>
            <a:srgbClr val="0e8a6b"/>
          </a:solidFill>
          <a:ln w="12700">
            <a:solidFill>
              <a:srgbClr val="0e8a6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TR" sz="18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14" name="Text 29"/>
          <p:cNvSpPr/>
          <p:nvPr/>
        </p:nvSpPr>
        <p:spPr>
          <a:xfrm>
            <a:off x="6492240" y="4617720"/>
            <a:ext cx="516600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350" strike="noStrike" u="none">
                <a:solidFill>
                  <a:srgbClr val="0e8a6b"/>
                </a:solidFill>
                <a:effectLst/>
                <a:uFillTx/>
                <a:latin typeface="Cambria"/>
                <a:ea typeface="Cambria"/>
              </a:rPr>
              <a:t>Normal traffic:  δ⁻ = 0.01  (slow)</a:t>
            </a:r>
            <a:endParaRPr b="0" lang="en-TR" sz="135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15" name="Text 30"/>
          <p:cNvSpPr/>
          <p:nvPr/>
        </p:nvSpPr>
        <p:spPr>
          <a:xfrm>
            <a:off x="6537960" y="5029200"/>
            <a:ext cx="5074560" cy="1005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marL="343080" indent="-343080" defTabSz="914400">
              <a:lnSpc>
                <a:spcPct val="100000"/>
              </a:lnSpc>
              <a:spcAft>
                <a:spcPts val="300"/>
              </a:spcAft>
              <a:buClr>
                <a:srgbClr val="334155"/>
              </a:buClr>
              <a:buFont typeface="Symbol" charset="2"/>
              <a:buChar char=""/>
            </a:pPr>
            <a:r>
              <a:rPr b="0" lang="en-US" sz="1200" strike="noStrike" u="none">
                <a:solidFill>
                  <a:srgbClr val="334155"/>
                </a:solidFill>
                <a:effectLst/>
                <a:uFillTx/>
                <a:latin typeface="Calibri"/>
                <a:ea typeface="Calibri"/>
              </a:rPr>
              <a:t>Statistical stability preserved</a:t>
            </a:r>
            <a:endParaRPr b="0" lang="en-TR" sz="1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spcAft>
                <a:spcPts val="300"/>
              </a:spcAft>
              <a:buClr>
                <a:srgbClr val="334155"/>
              </a:buClr>
              <a:buFont typeface="Symbol" charset="2"/>
              <a:buChar char=""/>
            </a:pPr>
            <a:r>
              <a:rPr b="0" lang="en-US" sz="1200" strike="noStrike" u="none">
                <a:solidFill>
                  <a:srgbClr val="334155"/>
                </a:solidFill>
                <a:effectLst/>
                <a:uFillTx/>
                <a:latin typeface="Calibri"/>
                <a:ea typeface="Calibri"/>
              </a:rPr>
              <a:t>Avoids oscillation around ε</a:t>
            </a:r>
            <a:endParaRPr b="0" lang="en-TR" sz="1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16" name="Shape 31"/>
          <p:cNvSpPr/>
          <p:nvPr/>
        </p:nvSpPr>
        <p:spPr>
          <a:xfrm>
            <a:off x="548640" y="6355080"/>
            <a:ext cx="11063880" cy="1044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34200" bIns="-34200" anchor="t">
            <a:noAutofit/>
          </a:bodyPr>
          <a:p>
            <a:endParaRPr b="0" lang="en-TR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17" name="Text 32"/>
          <p:cNvSpPr/>
          <p:nvPr/>
        </p:nvSpPr>
        <p:spPr>
          <a:xfrm>
            <a:off x="548640" y="6446520"/>
            <a:ext cx="731484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00" strike="noStrike" u="none">
                <a:solidFill>
                  <a:srgbClr val="64748b"/>
                </a:solidFill>
                <a:effectLst/>
                <a:uFillTx/>
                <a:latin typeface="Calibri"/>
                <a:ea typeface="Calibri"/>
              </a:rPr>
              <a:t>5G RRC Storm Mitigation  ·  Calibrated Digital Twin</a:t>
            </a:r>
            <a:endParaRPr b="0" lang="en-TR" sz="9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18" name="Text 33"/>
          <p:cNvSpPr/>
          <p:nvPr/>
        </p:nvSpPr>
        <p:spPr>
          <a:xfrm>
            <a:off x="10698480" y="6446520"/>
            <a:ext cx="91404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00" strike="noStrike" u="none">
                <a:solidFill>
                  <a:srgbClr val="64748b"/>
                </a:solidFill>
                <a:effectLst/>
                <a:uFillTx/>
                <a:latin typeface="Calibri"/>
                <a:ea typeface="Calibri"/>
              </a:rPr>
              <a:t>11 / 21</a:t>
            </a:r>
            <a:endParaRPr b="0" lang="en-TR" sz="9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Text 0"/>
          <p:cNvSpPr/>
          <p:nvPr/>
        </p:nvSpPr>
        <p:spPr>
          <a:xfrm>
            <a:off x="548640" y="411480"/>
            <a:ext cx="1097244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00" spc="400" strike="noStrike" u="none">
                <a:solidFill>
                  <a:srgbClr val="f4a11a"/>
                </a:solidFill>
                <a:effectLst/>
                <a:uFillTx/>
                <a:latin typeface="Calibri"/>
                <a:ea typeface="Calibri"/>
              </a:rPr>
              <a:t>ALGORITHM 1</a:t>
            </a:r>
            <a:endParaRPr b="0" lang="en-TR" sz="1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20" name="Text 1"/>
          <p:cNvSpPr/>
          <p:nvPr/>
        </p:nvSpPr>
        <p:spPr>
          <a:xfrm>
            <a:off x="548640" y="713160"/>
            <a:ext cx="10972440" cy="776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3000" strike="noStrike" u="none">
                <a:solidFill>
                  <a:srgbClr val="1a2233"/>
                </a:solidFill>
                <a:effectLst/>
                <a:uFillTx/>
                <a:latin typeface="Cambria"/>
                <a:ea typeface="Cambria"/>
              </a:rPr>
              <a:t>Calibrated DT control loop</a:t>
            </a:r>
            <a:endParaRPr b="0" lang="en-TR" sz="3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21" name="Shape 2"/>
          <p:cNvSpPr/>
          <p:nvPr/>
        </p:nvSpPr>
        <p:spPr>
          <a:xfrm>
            <a:off x="548640" y="1600200"/>
            <a:ext cx="6949080" cy="45259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TR" sz="18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322" name="Image 0" descr="preencoded.png"/>
          <p:cNvPicPr/>
          <p:nvPr/>
        </p:nvPicPr>
        <p:blipFill>
          <a:blip r:embed="rId1"/>
          <a:stretch/>
        </p:blipFill>
        <p:spPr>
          <a:xfrm>
            <a:off x="777240" y="1783080"/>
            <a:ext cx="365400" cy="3654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323" name="Text 3"/>
          <p:cNvSpPr/>
          <p:nvPr/>
        </p:nvSpPr>
        <p:spPr>
          <a:xfrm>
            <a:off x="1280160" y="1783080"/>
            <a:ext cx="603468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300" strike="noStrike" u="none">
                <a:solidFill>
                  <a:srgbClr val="f4a11a"/>
                </a:solidFill>
                <a:effectLst/>
                <a:uFillTx/>
                <a:latin typeface="Calibri"/>
                <a:ea typeface="Calibri"/>
              </a:rPr>
              <a:t>Every Δ control step</a:t>
            </a:r>
            <a:endParaRPr b="0" lang="en-TR" sz="13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24" name="Text 4"/>
          <p:cNvSpPr/>
          <p:nvPr/>
        </p:nvSpPr>
        <p:spPr>
          <a:xfrm>
            <a:off x="822960" y="2286000"/>
            <a:ext cx="6491880" cy="3702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spcAft>
                <a:spcPts val="400"/>
              </a:spcAft>
              <a:tabLst>
                <a:tab algn="l" pos="0"/>
              </a:tabLst>
            </a:pPr>
            <a:r>
              <a:rPr b="0" lang="en-US" sz="1300" strike="noStrike" u="none">
                <a:solidFill>
                  <a:srgbClr val="e2e8f0"/>
                </a:solidFill>
                <a:effectLst/>
                <a:uFillTx/>
                <a:latin typeface="Consolas"/>
                <a:ea typeface="Consolas"/>
              </a:rPr>
              <a:t>1.  λ_cur ← n_win / Δ</a:t>
            </a:r>
            <a:endParaRPr b="0" lang="en-TR" sz="13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spcAft>
                <a:spcPts val="400"/>
              </a:spcAft>
              <a:tabLst>
                <a:tab algn="l" pos="0"/>
              </a:tabLst>
            </a:pPr>
            <a:r>
              <a:rPr b="0" lang="en-US" sz="1300" strike="noStrike" u="none">
                <a:solidFill>
                  <a:srgbClr val="e2e8f0"/>
                </a:solidFill>
                <a:effectLst/>
                <a:uFillTx/>
                <a:latin typeface="Consolas"/>
                <a:ea typeface="Consolas"/>
              </a:rPr>
              <a:t>2.  EMA_t ← α · λ_cur + (1 − α) · EMA_{t−1}</a:t>
            </a:r>
            <a:endParaRPr b="0" lang="en-TR" sz="13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spcAft>
                <a:spcPts val="400"/>
              </a:spcAft>
              <a:tabLst>
                <a:tab algn="l" pos="0"/>
              </a:tabLst>
            </a:pPr>
            <a:r>
              <a:rPr b="0" lang="en-US" sz="1300" strike="noStrike" u="none">
                <a:solidFill>
                  <a:srgbClr val="e2e8f0"/>
                </a:solidFill>
                <a:effectLst/>
                <a:uFillTx/>
                <a:latin typeface="Consolas"/>
                <a:ea typeface="Consolas"/>
              </a:rPr>
              <a:t>3.  d ← max(EMA_t · Δ, 1e−9)</a:t>
            </a:r>
            <a:endParaRPr b="0" lang="en-TR" sz="13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spcAft>
                <a:spcPts val="400"/>
              </a:spcAft>
              <a:tabLst>
                <a:tab algn="l" pos="0"/>
              </a:tabLst>
            </a:pPr>
            <a:r>
              <a:rPr b="0" lang="en-US" sz="1300" strike="noStrike" u="none">
                <a:solidFill>
                  <a:srgbClr val="e2e8f0"/>
                </a:solidFill>
                <a:effectLst/>
                <a:uFillTx/>
                <a:latin typeface="Consolas"/>
                <a:ea typeface="Consolas"/>
              </a:rPr>
              <a:t>4.  p_acb ← max(0, min(1, 1 − (K − Q_real) / d))</a:t>
            </a:r>
            <a:endParaRPr b="0" lang="en-TR" sz="13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spcAft>
                <a:spcPts val="400"/>
              </a:spcAft>
              <a:tabLst>
                <a:tab algn="l" pos="0"/>
              </a:tabLst>
            </a:pPr>
            <a:r>
              <a:rPr b="0" lang="en-US" sz="1300" strike="noStrike" u="none">
                <a:solidFill>
                  <a:srgbClr val="e2e8f0"/>
                </a:solidFill>
                <a:effectLst/>
                <a:uFillTx/>
                <a:latin typeface="Consolas"/>
                <a:ea typeface="Consolas"/>
              </a:rPr>
              <a:t>5.  Q_virtual ← clip(Q_virtual + EMA_t · (1 − p_acb) · Δ − c · Δ, 0, K)</a:t>
            </a:r>
            <a:endParaRPr b="0" lang="en-TR" sz="13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spcAft>
                <a:spcPts val="400"/>
              </a:spcAft>
              <a:tabLst>
                <a:tab algn="l" pos="0"/>
              </a:tabLst>
            </a:pPr>
            <a:r>
              <a:rPr b="0" lang="en-US" sz="1300" strike="noStrike" u="none">
                <a:solidFill>
                  <a:srgbClr val="e2e8f0"/>
                </a:solidFill>
                <a:effectLst/>
                <a:uFillTx/>
                <a:latin typeface="Consolas"/>
                <a:ea typeface="Consolas"/>
              </a:rPr>
              <a:t>6.  E ← | Q_real − Q_virtual |</a:t>
            </a:r>
            <a:endParaRPr b="0" lang="en-TR" sz="13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spcAft>
                <a:spcPts val="400"/>
              </a:spcAft>
              <a:tabLst>
                <a:tab algn="l" pos="0"/>
              </a:tabLst>
            </a:pPr>
            <a:r>
              <a:rPr b="0" lang="en-US" sz="1300" strike="noStrike" u="none">
                <a:solidFill>
                  <a:srgbClr val="e2e8f0"/>
                </a:solidFill>
                <a:effectLst/>
                <a:uFillTx/>
                <a:latin typeface="Consolas"/>
                <a:ea typeface="Consolas"/>
              </a:rPr>
              <a:t>7.  if  E &gt; ε :  α ← min(α_max, α + δ⁺)</a:t>
            </a:r>
            <a:endParaRPr b="0" lang="en-TR" sz="13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spcAft>
                <a:spcPts val="400"/>
              </a:spcAft>
              <a:tabLst>
                <a:tab algn="l" pos="0"/>
              </a:tabLst>
            </a:pPr>
            <a:r>
              <a:rPr b="0" lang="en-US" sz="1300" strike="noStrike" u="none">
                <a:solidFill>
                  <a:srgbClr val="e2e8f0"/>
                </a:solidFill>
                <a:effectLst/>
                <a:uFillTx/>
                <a:latin typeface="Consolas"/>
                <a:ea typeface="Consolas"/>
              </a:rPr>
              <a:t>8.  else      :  α ← max(α_min, α − δ⁻)</a:t>
            </a:r>
            <a:endParaRPr b="0" lang="en-TR" sz="13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spcAft>
                <a:spcPts val="400"/>
              </a:spcAft>
              <a:tabLst>
                <a:tab algn="l" pos="0"/>
              </a:tabLst>
            </a:pPr>
            <a:r>
              <a:rPr b="0" lang="en-US" sz="1300" strike="noStrike" u="none">
                <a:solidFill>
                  <a:srgbClr val="e2e8f0"/>
                </a:solidFill>
                <a:effectLst/>
                <a:uFillTx/>
                <a:latin typeface="Consolas"/>
                <a:ea typeface="Consolas"/>
              </a:rPr>
              <a:t>9.  drop_rate ← p_acb</a:t>
            </a:r>
            <a:endParaRPr b="0" lang="en-TR" sz="13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25" name="Shape 5"/>
          <p:cNvSpPr/>
          <p:nvPr/>
        </p:nvSpPr>
        <p:spPr>
          <a:xfrm>
            <a:off x="7680960" y="1600200"/>
            <a:ext cx="4114440" cy="4525920"/>
          </a:xfrm>
          <a:prstGeom prst="rect">
            <a:avLst/>
          </a:prstGeom>
          <a:solidFill>
            <a:srgbClr val="ffffff"/>
          </a:solidFill>
          <a:ln w="9525">
            <a:solidFill>
              <a:srgbClr val="dce3e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TR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26" name="Text 6"/>
          <p:cNvSpPr/>
          <p:nvPr/>
        </p:nvSpPr>
        <p:spPr>
          <a:xfrm>
            <a:off x="7909560" y="1737360"/>
            <a:ext cx="3748680" cy="31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400" strike="noStrike" u="none">
                <a:solidFill>
                  <a:srgbClr val="1a2233"/>
                </a:solidFill>
                <a:effectLst/>
                <a:uFillTx/>
                <a:latin typeface="Cambria"/>
                <a:ea typeface="Cambria"/>
              </a:rPr>
              <a:t>Complexity</a:t>
            </a:r>
            <a:endParaRPr b="0" lang="en-TR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27" name="Shape 7"/>
          <p:cNvSpPr/>
          <p:nvPr/>
        </p:nvSpPr>
        <p:spPr>
          <a:xfrm>
            <a:off x="7909560" y="2240280"/>
            <a:ext cx="3657240" cy="1508400"/>
          </a:xfrm>
          <a:prstGeom prst="roundRect">
            <a:avLst>
              <a:gd name="adj" fmla="val 4848"/>
            </a:avLst>
          </a:prstGeom>
          <a:solidFill>
            <a:srgbClr val="e8f5ef"/>
          </a:solidFill>
          <a:ln w="19050">
            <a:solidFill>
              <a:srgbClr val="0e8a6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TR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28" name="Text 8"/>
          <p:cNvSpPr/>
          <p:nvPr/>
        </p:nvSpPr>
        <p:spPr>
          <a:xfrm>
            <a:off x="8046720" y="2313360"/>
            <a:ext cx="3474360" cy="31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200" strike="noStrike" u="none">
                <a:solidFill>
                  <a:srgbClr val="0e8a6b"/>
                </a:solidFill>
                <a:effectLst/>
                <a:uFillTx/>
                <a:latin typeface="Calibri"/>
                <a:ea typeface="Calibri"/>
              </a:rPr>
              <a:t>Calibrated DT</a:t>
            </a:r>
            <a:endParaRPr b="0" lang="en-TR" sz="1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29" name="Text 9"/>
          <p:cNvSpPr/>
          <p:nvPr/>
        </p:nvSpPr>
        <p:spPr>
          <a:xfrm>
            <a:off x="8046720" y="2587680"/>
            <a:ext cx="3474360" cy="50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800" strike="noStrike" u="none">
                <a:solidFill>
                  <a:srgbClr val="0e8a6b"/>
                </a:solidFill>
                <a:effectLst/>
                <a:uFillTx/>
                <a:latin typeface="Consolas"/>
                <a:ea typeface="Consolas"/>
              </a:rPr>
              <a:t>O(1)</a:t>
            </a:r>
            <a:endParaRPr b="0" lang="en-TR" sz="2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30" name="Text 10"/>
          <p:cNvSpPr/>
          <p:nvPr/>
        </p:nvSpPr>
        <p:spPr>
          <a:xfrm>
            <a:off x="8046720" y="3154680"/>
            <a:ext cx="3474360" cy="594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50" strike="noStrike" u="none">
                <a:solidFill>
                  <a:srgbClr val="334155"/>
                </a:solidFill>
                <a:effectLst/>
                <a:uFillTx/>
                <a:latin typeface="Calibri"/>
                <a:ea typeface="Calibri"/>
              </a:rPr>
              <a:t>Fixed arithmetic · 4 state variables · μs control budget</a:t>
            </a:r>
            <a:endParaRPr b="0" lang="en-TR" sz="105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31" name="Shape 11"/>
          <p:cNvSpPr/>
          <p:nvPr/>
        </p:nvSpPr>
        <p:spPr>
          <a:xfrm>
            <a:off x="7909560" y="3931920"/>
            <a:ext cx="3657240" cy="1508400"/>
          </a:xfrm>
          <a:prstGeom prst="roundRect">
            <a:avLst>
              <a:gd name="adj" fmla="val 4848"/>
            </a:avLst>
          </a:prstGeom>
          <a:solidFill>
            <a:srgbClr val="fbe9e7"/>
          </a:solidFill>
          <a:ln w="19050">
            <a:solidFill>
              <a:srgbClr val="c039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TR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32" name="Text 12"/>
          <p:cNvSpPr/>
          <p:nvPr/>
        </p:nvSpPr>
        <p:spPr>
          <a:xfrm>
            <a:off x="8046720" y="4005000"/>
            <a:ext cx="3474360" cy="31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200" strike="noStrike" u="none">
                <a:solidFill>
                  <a:srgbClr val="c0392b"/>
                </a:solidFill>
                <a:effectLst/>
                <a:uFillTx/>
                <a:latin typeface="Calibri"/>
                <a:ea typeface="Calibri"/>
              </a:rPr>
              <a:t>DNN predictors</a:t>
            </a:r>
            <a:endParaRPr b="0" lang="en-TR" sz="1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33" name="Text 13"/>
          <p:cNvSpPr/>
          <p:nvPr/>
        </p:nvSpPr>
        <p:spPr>
          <a:xfrm>
            <a:off x="8046720" y="4279320"/>
            <a:ext cx="3474360" cy="50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800" strike="noStrike" u="none">
                <a:solidFill>
                  <a:srgbClr val="c0392b"/>
                </a:solidFill>
                <a:effectLst/>
                <a:uFillTx/>
                <a:latin typeface="Consolas"/>
                <a:ea typeface="Consolas"/>
              </a:rPr>
              <a:t>O(W)</a:t>
            </a:r>
            <a:endParaRPr b="0" lang="en-TR" sz="2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34" name="Text 14"/>
          <p:cNvSpPr/>
          <p:nvPr/>
        </p:nvSpPr>
        <p:spPr>
          <a:xfrm>
            <a:off x="8046720" y="4846320"/>
            <a:ext cx="3474360" cy="594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50" strike="noStrike" u="none">
                <a:solidFill>
                  <a:srgbClr val="334155"/>
                </a:solidFill>
                <a:effectLst/>
                <a:uFillTx/>
                <a:latin typeface="Calibri"/>
                <a:ea typeface="Calibri"/>
              </a:rPr>
              <a:t>W ~ 10⁵–10⁷ · ms latency · impractical on gNB</a:t>
            </a:r>
            <a:endParaRPr b="0" lang="en-TR" sz="105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35" name="Text 15"/>
          <p:cNvSpPr/>
          <p:nvPr/>
        </p:nvSpPr>
        <p:spPr>
          <a:xfrm>
            <a:off x="7909560" y="5623560"/>
            <a:ext cx="365724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i="1" lang="en-US" sz="1100" strike="noStrike" u="none">
                <a:solidFill>
                  <a:srgbClr val="64748b"/>
                </a:solidFill>
                <a:effectLst/>
                <a:uFillTx/>
                <a:latin typeface="Consolas"/>
                <a:ea typeface="Consolas"/>
              </a:rPr>
              <a:t>State: { EMA_t, Q_virtual, α, n_win }</a:t>
            </a:r>
            <a:endParaRPr b="0" lang="en-TR" sz="1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36" name="Shape 16"/>
          <p:cNvSpPr/>
          <p:nvPr/>
        </p:nvSpPr>
        <p:spPr>
          <a:xfrm>
            <a:off x="548640" y="6355080"/>
            <a:ext cx="11063880" cy="1044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34200" bIns="-34200" anchor="t">
            <a:noAutofit/>
          </a:bodyPr>
          <a:p>
            <a:endParaRPr b="0" lang="en-TR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37" name="Text 17"/>
          <p:cNvSpPr/>
          <p:nvPr/>
        </p:nvSpPr>
        <p:spPr>
          <a:xfrm>
            <a:off x="548640" y="6446520"/>
            <a:ext cx="731484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00" strike="noStrike" u="none">
                <a:solidFill>
                  <a:srgbClr val="64748b"/>
                </a:solidFill>
                <a:effectLst/>
                <a:uFillTx/>
                <a:latin typeface="Calibri"/>
                <a:ea typeface="Calibri"/>
              </a:rPr>
              <a:t>5G RRC Storm Mitigation  ·  Calibrated Digital Twin</a:t>
            </a:r>
            <a:endParaRPr b="0" lang="en-TR" sz="9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38" name="Text 18"/>
          <p:cNvSpPr/>
          <p:nvPr/>
        </p:nvSpPr>
        <p:spPr>
          <a:xfrm>
            <a:off x="10698480" y="6446520"/>
            <a:ext cx="91404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00" strike="noStrike" u="none">
                <a:solidFill>
                  <a:srgbClr val="64748b"/>
                </a:solidFill>
                <a:effectLst/>
                <a:uFillTx/>
                <a:latin typeface="Calibri"/>
                <a:ea typeface="Calibri"/>
              </a:rPr>
              <a:t>12 / 21</a:t>
            </a:r>
            <a:endParaRPr b="0" lang="en-TR" sz="9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9" name="Text 0"/>
          <p:cNvSpPr/>
          <p:nvPr/>
        </p:nvSpPr>
        <p:spPr>
          <a:xfrm>
            <a:off x="548640" y="411480"/>
            <a:ext cx="1097244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00" spc="400" strike="noStrike" u="none">
                <a:solidFill>
                  <a:srgbClr val="f4a11a"/>
                </a:solidFill>
                <a:effectLst/>
                <a:uFillTx/>
                <a:latin typeface="Calibri"/>
                <a:ea typeface="Calibri"/>
              </a:rPr>
              <a:t>EVALUATION</a:t>
            </a:r>
            <a:endParaRPr b="0" lang="en-TR" sz="1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40" name="Text 1"/>
          <p:cNvSpPr/>
          <p:nvPr/>
        </p:nvSpPr>
        <p:spPr>
          <a:xfrm>
            <a:off x="548640" y="713160"/>
            <a:ext cx="10972440" cy="776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3000" strike="noStrike" u="none">
                <a:solidFill>
                  <a:srgbClr val="1a2233"/>
                </a:solidFill>
                <a:effectLst/>
                <a:uFillTx/>
                <a:latin typeface="Cambria"/>
                <a:ea typeface="Cambria"/>
              </a:rPr>
              <a:t>Simulation setup</a:t>
            </a:r>
            <a:endParaRPr b="0" lang="en-TR" sz="3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41" name="Shape 2"/>
          <p:cNvSpPr/>
          <p:nvPr/>
        </p:nvSpPr>
        <p:spPr>
          <a:xfrm>
            <a:off x="548640" y="1600200"/>
            <a:ext cx="5531760" cy="4525920"/>
          </a:xfrm>
          <a:prstGeom prst="rect">
            <a:avLst/>
          </a:prstGeom>
          <a:solidFill>
            <a:srgbClr val="ffffff"/>
          </a:solidFill>
          <a:ln w="9525">
            <a:solidFill>
              <a:srgbClr val="dce3e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TR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42" name="Shape 3"/>
          <p:cNvSpPr/>
          <p:nvPr/>
        </p:nvSpPr>
        <p:spPr>
          <a:xfrm>
            <a:off x="548640" y="1600200"/>
            <a:ext cx="63720" cy="4525920"/>
          </a:xfrm>
          <a:prstGeom prst="rect">
            <a:avLst/>
          </a:prstGeom>
          <a:solidFill>
            <a:srgbClr val="065a82"/>
          </a:solidFill>
          <a:ln w="12700">
            <a:solidFill>
              <a:srgbClr val="065a82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TR" sz="18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343" name="Image 0" descr="preencoded.png"/>
          <p:cNvPicPr/>
          <p:nvPr/>
        </p:nvPicPr>
        <p:blipFill>
          <a:blip r:embed="rId1"/>
          <a:stretch/>
        </p:blipFill>
        <p:spPr>
          <a:xfrm>
            <a:off x="822960" y="1783080"/>
            <a:ext cx="365400" cy="3654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344" name="Text 4"/>
          <p:cNvSpPr/>
          <p:nvPr/>
        </p:nvSpPr>
        <p:spPr>
          <a:xfrm>
            <a:off x="1325880" y="1783080"/>
            <a:ext cx="461736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400" strike="noStrike" u="none">
                <a:solidFill>
                  <a:srgbClr val="1a2233"/>
                </a:solidFill>
                <a:effectLst/>
                <a:uFillTx/>
                <a:latin typeface="Cambria"/>
                <a:ea typeface="Cambria"/>
              </a:rPr>
              <a:t>Experimental configuration</a:t>
            </a:r>
            <a:endParaRPr b="0" lang="en-TR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45" name="Text 5"/>
          <p:cNvSpPr/>
          <p:nvPr/>
        </p:nvSpPr>
        <p:spPr>
          <a:xfrm>
            <a:off x="822960" y="2377440"/>
            <a:ext cx="4983120" cy="1828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marL="343080" indent="-343080" defTabSz="914400">
              <a:lnSpc>
                <a:spcPct val="100000"/>
              </a:lnSpc>
              <a:spcAft>
                <a:spcPts val="499"/>
              </a:spcAft>
              <a:buClr>
                <a:srgbClr val="334155"/>
              </a:buClr>
              <a:buFont typeface="Symbol" charset="2"/>
              <a:buChar char=""/>
            </a:pPr>
            <a:r>
              <a:rPr b="0" lang="en-US" sz="1250" strike="noStrike" u="none">
                <a:solidFill>
                  <a:srgbClr val="334155"/>
                </a:solidFill>
                <a:effectLst/>
                <a:uFillTx/>
                <a:latin typeface="Calibri"/>
                <a:ea typeface="Calibri"/>
              </a:rPr>
              <a:t>Discrete-event simulation:  SimPy, Python 3.10</a:t>
            </a:r>
            <a:endParaRPr b="0" lang="en-TR" sz="125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spcAft>
                <a:spcPts val="499"/>
              </a:spcAft>
              <a:buClr>
                <a:srgbClr val="334155"/>
              </a:buClr>
              <a:buFont typeface="Symbol" charset="2"/>
              <a:buChar char=""/>
            </a:pPr>
            <a:r>
              <a:rPr b="0" lang="en-US" sz="1250" strike="noStrike" u="none">
                <a:solidFill>
                  <a:srgbClr val="334155"/>
                </a:solidFill>
                <a:effectLst/>
                <a:uFillTx/>
                <a:latin typeface="Calibri"/>
                <a:ea typeface="Calibri"/>
              </a:rPr>
              <a:t>T_sim = 1000 s per run</a:t>
            </a:r>
            <a:endParaRPr b="0" lang="en-TR" sz="125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spcAft>
                <a:spcPts val="499"/>
              </a:spcAft>
              <a:buClr>
                <a:srgbClr val="334155"/>
              </a:buClr>
              <a:buFont typeface="Symbol" charset="2"/>
              <a:buChar char=""/>
            </a:pPr>
            <a:r>
              <a:rPr b="0" lang="en-US" sz="1250" strike="noStrike" u="none">
                <a:solidFill>
                  <a:srgbClr val="334155"/>
                </a:solidFill>
                <a:effectLst/>
                <a:uFillTx/>
                <a:latin typeface="Calibri"/>
                <a:ea typeface="Calibri"/>
              </a:rPr>
              <a:t>N = 10 independent seeds (Monte Carlo)</a:t>
            </a:r>
            <a:endParaRPr b="0" lang="en-TR" sz="125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spcAft>
                <a:spcPts val="499"/>
              </a:spcAft>
              <a:buClr>
                <a:srgbClr val="334155"/>
              </a:buClr>
              <a:buFont typeface="Symbol" charset="2"/>
              <a:buChar char=""/>
            </a:pPr>
            <a:r>
              <a:rPr b="0" lang="en-US" sz="1250" strike="noStrike" u="none">
                <a:solidFill>
                  <a:srgbClr val="334155"/>
                </a:solidFill>
                <a:effectLst/>
                <a:uFillTx/>
                <a:latin typeface="Calibri"/>
                <a:ea typeface="Calibri"/>
              </a:rPr>
              <a:t>95 % CI:  x̄ ± 1.96 · σ̂ / √N</a:t>
            </a:r>
            <a:endParaRPr b="0" lang="en-TR" sz="125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46" name="Text 6"/>
          <p:cNvSpPr/>
          <p:nvPr/>
        </p:nvSpPr>
        <p:spPr>
          <a:xfrm>
            <a:off x="822960" y="4389120"/>
            <a:ext cx="4983120" cy="31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300" strike="noStrike" u="none">
                <a:solidFill>
                  <a:srgbClr val="065a82"/>
                </a:solidFill>
                <a:effectLst/>
                <a:uFillTx/>
                <a:latin typeface="Cambria"/>
                <a:ea typeface="Cambria"/>
              </a:rPr>
              <a:t>Three methods compared</a:t>
            </a:r>
            <a:endParaRPr b="0" lang="en-TR" sz="13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47" name="Shape 7"/>
          <p:cNvSpPr/>
          <p:nvPr/>
        </p:nvSpPr>
        <p:spPr>
          <a:xfrm>
            <a:off x="822960" y="4846320"/>
            <a:ext cx="164160" cy="164160"/>
          </a:xfrm>
          <a:prstGeom prst="ellipse">
            <a:avLst/>
          </a:prstGeom>
          <a:solidFill>
            <a:srgbClr val="64748b"/>
          </a:solidFill>
          <a:ln w="12700">
            <a:solidFill>
              <a:srgbClr val="64748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TR" sz="18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48" name="Text 8"/>
          <p:cNvSpPr/>
          <p:nvPr/>
        </p:nvSpPr>
        <p:spPr>
          <a:xfrm>
            <a:off x="1097280" y="4754880"/>
            <a:ext cx="246852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200" strike="noStrike" u="none">
                <a:solidFill>
                  <a:srgbClr val="1a2233"/>
                </a:solidFill>
                <a:effectLst/>
                <a:uFillTx/>
                <a:latin typeface="Calibri"/>
                <a:ea typeface="Calibri"/>
              </a:rPr>
              <a:t>Reactive Baseline</a:t>
            </a:r>
            <a:endParaRPr b="0" lang="en-TR" sz="1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49" name="Text 9"/>
          <p:cNvSpPr/>
          <p:nvPr/>
        </p:nvSpPr>
        <p:spPr>
          <a:xfrm>
            <a:off x="3566160" y="4754880"/>
            <a:ext cx="223992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i="1" lang="en-US" sz="1200" strike="noStrike" u="none">
                <a:solidFill>
                  <a:srgbClr val="64748b"/>
                </a:solidFill>
                <a:effectLst/>
                <a:uFillTx/>
                <a:latin typeface="Calibri"/>
                <a:ea typeface="Calibri"/>
              </a:rPr>
              <a:t>threshold 0.8 K, drop 0.5</a:t>
            </a:r>
            <a:endParaRPr b="0" lang="en-TR" sz="1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50" name="Shape 10"/>
          <p:cNvSpPr/>
          <p:nvPr/>
        </p:nvSpPr>
        <p:spPr>
          <a:xfrm>
            <a:off x="822960" y="5303520"/>
            <a:ext cx="164160" cy="164160"/>
          </a:xfrm>
          <a:prstGeom prst="ellipse">
            <a:avLst/>
          </a:prstGeom>
          <a:solidFill>
            <a:srgbClr val="1c7293"/>
          </a:solidFill>
          <a:ln w="12700">
            <a:solidFill>
              <a:srgbClr val="1c729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TR" sz="18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51" name="Text 11"/>
          <p:cNvSpPr/>
          <p:nvPr/>
        </p:nvSpPr>
        <p:spPr>
          <a:xfrm>
            <a:off x="1097280" y="5212080"/>
            <a:ext cx="246852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200" strike="noStrike" u="none">
                <a:solidFill>
                  <a:srgbClr val="1a2233"/>
                </a:solidFill>
                <a:effectLst/>
                <a:uFillTx/>
                <a:latin typeface="Calibri"/>
                <a:ea typeface="Calibri"/>
              </a:rPr>
              <a:t>DT no-calibration</a:t>
            </a:r>
            <a:endParaRPr b="0" lang="en-TR" sz="1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52" name="Text 12"/>
          <p:cNvSpPr/>
          <p:nvPr/>
        </p:nvSpPr>
        <p:spPr>
          <a:xfrm>
            <a:off x="3566160" y="5212080"/>
            <a:ext cx="223992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i="1" lang="en-US" sz="1200" strike="noStrike" u="none">
                <a:solidFill>
                  <a:srgbClr val="64748b"/>
                </a:solidFill>
                <a:effectLst/>
                <a:uFillTx/>
                <a:latin typeface="Calibri"/>
                <a:ea typeface="Calibri"/>
              </a:rPr>
              <a:t>α fixed</a:t>
            </a:r>
            <a:endParaRPr b="0" lang="en-TR" sz="1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53" name="Shape 13"/>
          <p:cNvSpPr/>
          <p:nvPr/>
        </p:nvSpPr>
        <p:spPr>
          <a:xfrm>
            <a:off x="822960" y="5760720"/>
            <a:ext cx="164160" cy="164160"/>
          </a:xfrm>
          <a:prstGeom prst="ellipse">
            <a:avLst/>
          </a:prstGeom>
          <a:solidFill>
            <a:srgbClr val="0e8a6b"/>
          </a:solidFill>
          <a:ln w="12700">
            <a:solidFill>
              <a:srgbClr val="0e8a6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TR" sz="18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54" name="Text 14"/>
          <p:cNvSpPr/>
          <p:nvPr/>
        </p:nvSpPr>
        <p:spPr>
          <a:xfrm>
            <a:off x="1097280" y="5669280"/>
            <a:ext cx="246852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200" strike="noStrike" u="none">
                <a:solidFill>
                  <a:srgbClr val="1a2233"/>
                </a:solidFill>
                <a:effectLst/>
                <a:uFillTx/>
                <a:latin typeface="Calibri"/>
                <a:ea typeface="Calibri"/>
              </a:rPr>
              <a:t>Calibrated DT</a:t>
            </a:r>
            <a:endParaRPr b="0" lang="en-TR" sz="1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55" name="Text 15"/>
          <p:cNvSpPr/>
          <p:nvPr/>
        </p:nvSpPr>
        <p:spPr>
          <a:xfrm>
            <a:off x="3566160" y="5669280"/>
            <a:ext cx="223992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i="1" lang="en-US" sz="1200" strike="noStrike" u="none">
                <a:solidFill>
                  <a:srgbClr val="64748b"/>
                </a:solidFill>
                <a:effectLst/>
                <a:uFillTx/>
                <a:latin typeface="Calibri"/>
                <a:ea typeface="Calibri"/>
              </a:rPr>
              <a:t>asymmetric step rule</a:t>
            </a:r>
            <a:endParaRPr b="0" lang="en-TR" sz="1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56" name="Shape 16"/>
          <p:cNvSpPr/>
          <p:nvPr/>
        </p:nvSpPr>
        <p:spPr>
          <a:xfrm>
            <a:off x="6263640" y="1600200"/>
            <a:ext cx="5531760" cy="4525920"/>
          </a:xfrm>
          <a:prstGeom prst="rect">
            <a:avLst/>
          </a:prstGeom>
          <a:solidFill>
            <a:srgbClr val="ffffff"/>
          </a:solidFill>
          <a:ln w="9525">
            <a:solidFill>
              <a:srgbClr val="dce3e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TR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57" name="Shape 17"/>
          <p:cNvSpPr/>
          <p:nvPr/>
        </p:nvSpPr>
        <p:spPr>
          <a:xfrm>
            <a:off x="6263640" y="1600200"/>
            <a:ext cx="63720" cy="4525920"/>
          </a:xfrm>
          <a:prstGeom prst="rect">
            <a:avLst/>
          </a:prstGeom>
          <a:solidFill>
            <a:srgbClr val="1c7293"/>
          </a:solidFill>
          <a:ln w="12700">
            <a:solidFill>
              <a:srgbClr val="1c729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TR" sz="18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58" name="Text 18"/>
          <p:cNvSpPr/>
          <p:nvPr/>
        </p:nvSpPr>
        <p:spPr>
          <a:xfrm>
            <a:off x="6537960" y="1783080"/>
            <a:ext cx="507456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400" strike="noStrike" u="none">
                <a:solidFill>
                  <a:srgbClr val="1a2233"/>
                </a:solidFill>
                <a:effectLst/>
                <a:uFillTx/>
                <a:latin typeface="Cambria"/>
                <a:ea typeface="Cambria"/>
              </a:rPr>
              <a:t>Key parameters</a:t>
            </a:r>
            <a:endParaRPr b="0" lang="en-TR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359" name="Table 0"/>
          <p:cNvGraphicFramePr/>
          <p:nvPr/>
        </p:nvGraphicFramePr>
        <p:xfrm>
          <a:off x="6537960" y="2286000"/>
          <a:ext cx="4983120" cy="3071880"/>
        </p:xfrm>
        <a:graphic>
          <a:graphicData uri="http://schemas.openxmlformats.org/drawingml/2006/table">
            <a:tbl>
              <a:tblPr/>
              <a:tblGrid>
                <a:gridCol w="2286000"/>
                <a:gridCol w="1188720"/>
                <a:gridCol w="1508760"/>
              </a:tblGrid>
              <a:tr h="383760">
                <a:tc>
                  <a:txBody>
                    <a:bodyPr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b="1" lang="en-US" sz="1150" strike="noStrike" u="none">
                          <a:solidFill>
                            <a:srgbClr val="ffffff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Parameter</a:t>
                      </a:r>
                      <a:endParaRPr b="0" lang="en-TR" sz="1150" strike="noStrike" u="non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>
                    <a:lnL w="9360">
                      <a:solidFill>
                        <a:srgbClr val="dce3ec"/>
                      </a:solidFill>
                      <a:prstDash val="solid"/>
                    </a:lnL>
                    <a:lnR w="9360">
                      <a:solidFill>
                        <a:srgbClr val="dce3ec"/>
                      </a:solidFill>
                      <a:prstDash val="solid"/>
                    </a:lnR>
                    <a:lnT w="9360">
                      <a:solidFill>
                        <a:srgbClr val="dce3ec"/>
                      </a:solidFill>
                      <a:prstDash val="solid"/>
                    </a:lnT>
                    <a:lnB w="9360">
                      <a:solidFill>
                        <a:srgbClr val="dce3ec"/>
                      </a:solidFill>
                      <a:prstDash val="solid"/>
                    </a:lnB>
                    <a:solidFill>
                      <a:srgbClr val="065a82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b="1" lang="en-US" sz="1150" strike="noStrike" u="none">
                          <a:solidFill>
                            <a:srgbClr val="ffffff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Symbol</a:t>
                      </a:r>
                      <a:endParaRPr b="0" lang="en-TR" sz="1150" strike="noStrike" u="non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>
                    <a:lnL w="9360">
                      <a:solidFill>
                        <a:srgbClr val="dce3ec"/>
                      </a:solidFill>
                      <a:prstDash val="solid"/>
                    </a:lnL>
                    <a:lnR w="9360">
                      <a:solidFill>
                        <a:srgbClr val="dce3ec"/>
                      </a:solidFill>
                      <a:prstDash val="solid"/>
                    </a:lnR>
                    <a:lnT w="9360">
                      <a:solidFill>
                        <a:srgbClr val="dce3ec"/>
                      </a:solidFill>
                      <a:prstDash val="solid"/>
                    </a:lnT>
                    <a:lnB w="9360">
                      <a:solidFill>
                        <a:srgbClr val="dce3ec"/>
                      </a:solidFill>
                      <a:prstDash val="solid"/>
                    </a:lnB>
                    <a:solidFill>
                      <a:srgbClr val="065a82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b="1" lang="en-US" sz="1150" strike="noStrike" u="none">
                          <a:solidFill>
                            <a:srgbClr val="ffffff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Value</a:t>
                      </a:r>
                      <a:endParaRPr b="0" lang="en-TR" sz="1150" strike="noStrike" u="non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>
                    <a:lnL w="9360">
                      <a:solidFill>
                        <a:srgbClr val="dce3ec"/>
                      </a:solidFill>
                      <a:prstDash val="solid"/>
                    </a:lnL>
                    <a:lnR w="9360">
                      <a:solidFill>
                        <a:srgbClr val="dce3ec"/>
                      </a:solidFill>
                      <a:prstDash val="solid"/>
                    </a:lnR>
                    <a:lnT w="9360">
                      <a:solidFill>
                        <a:srgbClr val="dce3ec"/>
                      </a:solidFill>
                      <a:prstDash val="solid"/>
                    </a:lnT>
                    <a:lnB w="9360">
                      <a:solidFill>
                        <a:srgbClr val="dce3ec"/>
                      </a:solidFill>
                      <a:prstDash val="solid"/>
                    </a:lnB>
                    <a:solidFill>
                      <a:srgbClr val="065a82"/>
                    </a:solidFill>
                  </a:tcPr>
                </a:tc>
              </a:tr>
              <a:tr h="383760">
                <a:tc>
                  <a:txBody>
                    <a:bodyPr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b="0" lang="en-US" sz="1150" strike="noStrike" u="none">
                          <a:solidFill>
                            <a:srgbClr val="1a2233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Preamble channels</a:t>
                      </a:r>
                      <a:endParaRPr b="0" lang="en-TR" sz="115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>
                    <a:lnL w="9360">
                      <a:solidFill>
                        <a:srgbClr val="dce3ec"/>
                      </a:solidFill>
                      <a:prstDash val="solid"/>
                    </a:lnL>
                    <a:lnR w="9360">
                      <a:solidFill>
                        <a:srgbClr val="dce3ec"/>
                      </a:solidFill>
                      <a:prstDash val="solid"/>
                    </a:lnR>
                    <a:lnT w="9360">
                      <a:solidFill>
                        <a:srgbClr val="dce3ec"/>
                      </a:solidFill>
                      <a:prstDash val="solid"/>
                    </a:lnT>
                    <a:lnB w="9360">
                      <a:solidFill>
                        <a:srgbClr val="dce3ec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b="1" lang="en-US" sz="1200" strike="noStrike" u="none">
                          <a:solidFill>
                            <a:srgbClr val="1c7293"/>
                          </a:solidFill>
                          <a:effectLst/>
                          <a:uFillTx/>
                          <a:latin typeface="Consolas"/>
                          <a:ea typeface="Consolas"/>
                        </a:rPr>
                        <a:t>c</a:t>
                      </a:r>
                      <a:endParaRPr b="0" lang="en-TR" sz="12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>
                    <a:lnL w="9360">
                      <a:solidFill>
                        <a:srgbClr val="dce3ec"/>
                      </a:solidFill>
                      <a:prstDash val="solid"/>
                    </a:lnL>
                    <a:lnR w="9360">
                      <a:solidFill>
                        <a:srgbClr val="dce3ec"/>
                      </a:solidFill>
                      <a:prstDash val="solid"/>
                    </a:lnR>
                    <a:lnT w="9360">
                      <a:solidFill>
                        <a:srgbClr val="dce3ec"/>
                      </a:solidFill>
                      <a:prstDash val="solid"/>
                    </a:lnT>
                    <a:lnB w="9360">
                      <a:solidFill>
                        <a:srgbClr val="dce3ec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b="1" lang="en-US" sz="1200" strike="noStrike" u="none">
                          <a:solidFill>
                            <a:srgbClr val="1c7293"/>
                          </a:solidFill>
                          <a:effectLst/>
                          <a:uFillTx/>
                          <a:latin typeface="Consolas"/>
                          <a:ea typeface="Consolas"/>
                        </a:rPr>
                        <a:t>54</a:t>
                      </a:r>
                      <a:endParaRPr b="0" lang="en-TR" sz="12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>
                    <a:lnL w="9360">
                      <a:solidFill>
                        <a:srgbClr val="dce3ec"/>
                      </a:solidFill>
                      <a:prstDash val="solid"/>
                    </a:lnL>
                    <a:lnR w="9360">
                      <a:solidFill>
                        <a:srgbClr val="dce3ec"/>
                      </a:solidFill>
                      <a:prstDash val="solid"/>
                    </a:lnR>
                    <a:lnT w="9360">
                      <a:solidFill>
                        <a:srgbClr val="dce3ec"/>
                      </a:solidFill>
                      <a:prstDash val="solid"/>
                    </a:lnT>
                    <a:lnB w="9360">
                      <a:solidFill>
                        <a:srgbClr val="dce3ec"/>
                      </a:solidFill>
                      <a:prstDash val="solid"/>
                    </a:lnB>
                    <a:noFill/>
                  </a:tcPr>
                </a:tc>
              </a:tr>
              <a:tr h="383760">
                <a:tc>
                  <a:txBody>
                    <a:bodyPr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b="0" lang="en-US" sz="1150" strike="noStrike" u="none">
                          <a:solidFill>
                            <a:srgbClr val="1a2233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Buffer capacity</a:t>
                      </a:r>
                      <a:endParaRPr b="0" lang="en-TR" sz="115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>
                    <a:lnL w="9360">
                      <a:solidFill>
                        <a:srgbClr val="dce3ec"/>
                      </a:solidFill>
                      <a:prstDash val="solid"/>
                    </a:lnL>
                    <a:lnR w="9360">
                      <a:solidFill>
                        <a:srgbClr val="dce3ec"/>
                      </a:solidFill>
                      <a:prstDash val="solid"/>
                    </a:lnR>
                    <a:lnT w="9360">
                      <a:solidFill>
                        <a:srgbClr val="dce3ec"/>
                      </a:solidFill>
                      <a:prstDash val="solid"/>
                    </a:lnT>
                    <a:lnB w="9360">
                      <a:solidFill>
                        <a:srgbClr val="dce3ec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b="1" lang="en-US" sz="1200" strike="noStrike" u="none">
                          <a:solidFill>
                            <a:srgbClr val="1c7293"/>
                          </a:solidFill>
                          <a:effectLst/>
                          <a:uFillTx/>
                          <a:latin typeface="Consolas"/>
                          <a:ea typeface="Consolas"/>
                        </a:rPr>
                        <a:t>K</a:t>
                      </a:r>
                      <a:endParaRPr b="0" lang="en-TR" sz="12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>
                    <a:lnL w="9360">
                      <a:solidFill>
                        <a:srgbClr val="dce3ec"/>
                      </a:solidFill>
                      <a:prstDash val="solid"/>
                    </a:lnL>
                    <a:lnR w="9360">
                      <a:solidFill>
                        <a:srgbClr val="dce3ec"/>
                      </a:solidFill>
                      <a:prstDash val="solid"/>
                    </a:lnR>
                    <a:lnT w="9360">
                      <a:solidFill>
                        <a:srgbClr val="dce3ec"/>
                      </a:solidFill>
                      <a:prstDash val="solid"/>
                    </a:lnT>
                    <a:lnB w="9360">
                      <a:solidFill>
                        <a:srgbClr val="dce3ec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b="1" lang="en-US" sz="1200" strike="noStrike" u="none">
                          <a:solidFill>
                            <a:srgbClr val="1c7293"/>
                          </a:solidFill>
                          <a:effectLst/>
                          <a:uFillTx/>
                          <a:latin typeface="Consolas"/>
                          <a:ea typeface="Consolas"/>
                        </a:rPr>
                        <a:t>200</a:t>
                      </a:r>
                      <a:endParaRPr b="0" lang="en-TR" sz="12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>
                    <a:lnL w="9360">
                      <a:solidFill>
                        <a:srgbClr val="dce3ec"/>
                      </a:solidFill>
                      <a:prstDash val="solid"/>
                    </a:lnL>
                    <a:lnR w="9360">
                      <a:solidFill>
                        <a:srgbClr val="dce3ec"/>
                      </a:solidFill>
                      <a:prstDash val="solid"/>
                    </a:lnR>
                    <a:lnT w="9360">
                      <a:solidFill>
                        <a:srgbClr val="dce3ec"/>
                      </a:solidFill>
                      <a:prstDash val="solid"/>
                    </a:lnT>
                    <a:lnB w="9360">
                      <a:solidFill>
                        <a:srgbClr val="dce3ec"/>
                      </a:solidFill>
                      <a:prstDash val="solid"/>
                    </a:lnB>
                    <a:noFill/>
                  </a:tcPr>
                </a:tc>
              </a:tr>
              <a:tr h="383760">
                <a:tc>
                  <a:txBody>
                    <a:bodyPr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b="0" lang="en-US" sz="1150" strike="noStrike" u="none">
                          <a:solidFill>
                            <a:srgbClr val="1a2233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Normal arrival rate</a:t>
                      </a:r>
                      <a:endParaRPr b="0" lang="en-TR" sz="115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>
                    <a:lnL w="9360">
                      <a:solidFill>
                        <a:srgbClr val="dce3ec"/>
                      </a:solidFill>
                      <a:prstDash val="solid"/>
                    </a:lnL>
                    <a:lnR w="9360">
                      <a:solidFill>
                        <a:srgbClr val="dce3ec"/>
                      </a:solidFill>
                      <a:prstDash val="solid"/>
                    </a:lnR>
                    <a:lnT w="9360">
                      <a:solidFill>
                        <a:srgbClr val="dce3ec"/>
                      </a:solidFill>
                      <a:prstDash val="solid"/>
                    </a:lnT>
                    <a:lnB w="9360">
                      <a:solidFill>
                        <a:srgbClr val="dce3ec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b="1" lang="en-US" sz="1200" strike="noStrike" u="none">
                          <a:solidFill>
                            <a:srgbClr val="1c7293"/>
                          </a:solidFill>
                          <a:effectLst/>
                          <a:uFillTx/>
                          <a:latin typeface="Consolas"/>
                          <a:ea typeface="Consolas"/>
                        </a:rPr>
                        <a:t>λ_low</a:t>
                      </a:r>
                      <a:endParaRPr b="0" lang="en-TR" sz="12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>
                    <a:lnL w="9360">
                      <a:solidFill>
                        <a:srgbClr val="dce3ec"/>
                      </a:solidFill>
                      <a:prstDash val="solid"/>
                    </a:lnL>
                    <a:lnR w="9360">
                      <a:solidFill>
                        <a:srgbClr val="dce3ec"/>
                      </a:solidFill>
                      <a:prstDash val="solid"/>
                    </a:lnR>
                    <a:lnT w="9360">
                      <a:solidFill>
                        <a:srgbClr val="dce3ec"/>
                      </a:solidFill>
                      <a:prstDash val="solid"/>
                    </a:lnT>
                    <a:lnB w="9360">
                      <a:solidFill>
                        <a:srgbClr val="dce3ec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b="1" lang="en-US" sz="1200" strike="noStrike" u="none">
                          <a:solidFill>
                            <a:srgbClr val="1c7293"/>
                          </a:solidFill>
                          <a:effectLst/>
                          <a:uFillTx/>
                          <a:latin typeface="Consolas"/>
                          <a:ea typeface="Consolas"/>
                        </a:rPr>
                        <a:t>10 req/s</a:t>
                      </a:r>
                      <a:endParaRPr b="0" lang="en-TR" sz="12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>
                    <a:lnL w="9360">
                      <a:solidFill>
                        <a:srgbClr val="dce3ec"/>
                      </a:solidFill>
                      <a:prstDash val="solid"/>
                    </a:lnL>
                    <a:lnR w="9360">
                      <a:solidFill>
                        <a:srgbClr val="dce3ec"/>
                      </a:solidFill>
                      <a:prstDash val="solid"/>
                    </a:lnR>
                    <a:lnT w="9360">
                      <a:solidFill>
                        <a:srgbClr val="dce3ec"/>
                      </a:solidFill>
                      <a:prstDash val="solid"/>
                    </a:lnT>
                    <a:lnB w="9360">
                      <a:solidFill>
                        <a:srgbClr val="dce3ec"/>
                      </a:solidFill>
                      <a:prstDash val="solid"/>
                    </a:lnB>
                    <a:noFill/>
                  </a:tcPr>
                </a:tc>
              </a:tr>
              <a:tr h="383760">
                <a:tc>
                  <a:txBody>
                    <a:bodyPr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b="0" lang="en-US" sz="1150" strike="noStrike" u="none">
                          <a:solidFill>
                            <a:srgbClr val="1a2233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Burst arrival rate</a:t>
                      </a:r>
                      <a:endParaRPr b="0" lang="en-TR" sz="115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>
                    <a:lnL w="9360">
                      <a:solidFill>
                        <a:srgbClr val="dce3ec"/>
                      </a:solidFill>
                      <a:prstDash val="solid"/>
                    </a:lnL>
                    <a:lnR w="9360">
                      <a:solidFill>
                        <a:srgbClr val="dce3ec"/>
                      </a:solidFill>
                      <a:prstDash val="solid"/>
                    </a:lnR>
                    <a:lnT w="9360">
                      <a:solidFill>
                        <a:srgbClr val="dce3ec"/>
                      </a:solidFill>
                      <a:prstDash val="solid"/>
                    </a:lnT>
                    <a:lnB w="9360">
                      <a:solidFill>
                        <a:srgbClr val="dce3ec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b="1" lang="en-US" sz="1200" strike="noStrike" u="none">
                          <a:solidFill>
                            <a:srgbClr val="1c7293"/>
                          </a:solidFill>
                          <a:effectLst/>
                          <a:uFillTx/>
                          <a:latin typeface="Consolas"/>
                          <a:ea typeface="Consolas"/>
                        </a:rPr>
                        <a:t>λ_high</a:t>
                      </a:r>
                      <a:endParaRPr b="0" lang="en-TR" sz="12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>
                    <a:lnL w="9360">
                      <a:solidFill>
                        <a:srgbClr val="dce3ec"/>
                      </a:solidFill>
                      <a:prstDash val="solid"/>
                    </a:lnL>
                    <a:lnR w="9360">
                      <a:solidFill>
                        <a:srgbClr val="dce3ec"/>
                      </a:solidFill>
                      <a:prstDash val="solid"/>
                    </a:lnR>
                    <a:lnT w="9360">
                      <a:solidFill>
                        <a:srgbClr val="dce3ec"/>
                      </a:solidFill>
                      <a:prstDash val="solid"/>
                    </a:lnT>
                    <a:lnB w="9360">
                      <a:solidFill>
                        <a:srgbClr val="dce3ec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b="1" lang="en-US" sz="1200" strike="noStrike" u="none">
                          <a:solidFill>
                            <a:srgbClr val="1c7293"/>
                          </a:solidFill>
                          <a:effectLst/>
                          <a:uFillTx/>
                          <a:latin typeface="Consolas"/>
                          <a:ea typeface="Consolas"/>
                        </a:rPr>
                        <a:t>500 req/s</a:t>
                      </a:r>
                      <a:endParaRPr b="0" lang="en-TR" sz="12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>
                    <a:lnL w="9360">
                      <a:solidFill>
                        <a:srgbClr val="dce3ec"/>
                      </a:solidFill>
                      <a:prstDash val="solid"/>
                    </a:lnL>
                    <a:lnR w="9360">
                      <a:solidFill>
                        <a:srgbClr val="dce3ec"/>
                      </a:solidFill>
                      <a:prstDash val="solid"/>
                    </a:lnR>
                    <a:lnT w="9360">
                      <a:solidFill>
                        <a:srgbClr val="dce3ec"/>
                      </a:solidFill>
                      <a:prstDash val="solid"/>
                    </a:lnT>
                    <a:lnB w="9360">
                      <a:solidFill>
                        <a:srgbClr val="dce3ec"/>
                      </a:solidFill>
                      <a:prstDash val="solid"/>
                    </a:lnB>
                    <a:noFill/>
                  </a:tcPr>
                </a:tc>
              </a:tr>
              <a:tr h="383760">
                <a:tc>
                  <a:txBody>
                    <a:bodyPr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b="0" lang="en-US" sz="1150" strike="noStrike" u="none">
                          <a:solidFill>
                            <a:srgbClr val="1a2233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Control interval</a:t>
                      </a:r>
                      <a:endParaRPr b="0" lang="en-TR" sz="115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>
                    <a:lnL w="9360">
                      <a:solidFill>
                        <a:srgbClr val="dce3ec"/>
                      </a:solidFill>
                      <a:prstDash val="solid"/>
                    </a:lnL>
                    <a:lnR w="9360">
                      <a:solidFill>
                        <a:srgbClr val="dce3ec"/>
                      </a:solidFill>
                      <a:prstDash val="solid"/>
                    </a:lnR>
                    <a:lnT w="9360">
                      <a:solidFill>
                        <a:srgbClr val="dce3ec"/>
                      </a:solidFill>
                      <a:prstDash val="solid"/>
                    </a:lnT>
                    <a:lnB w="9360">
                      <a:solidFill>
                        <a:srgbClr val="dce3ec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b="1" lang="en-US" sz="1200" strike="noStrike" u="none">
                          <a:solidFill>
                            <a:srgbClr val="1c7293"/>
                          </a:solidFill>
                          <a:effectLst/>
                          <a:uFillTx/>
                          <a:latin typeface="Consolas"/>
                          <a:ea typeface="Consolas"/>
                        </a:rPr>
                        <a:t>Δ</a:t>
                      </a:r>
                      <a:endParaRPr b="0" lang="en-TR" sz="12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>
                    <a:lnL w="9360">
                      <a:solidFill>
                        <a:srgbClr val="dce3ec"/>
                      </a:solidFill>
                      <a:prstDash val="solid"/>
                    </a:lnL>
                    <a:lnR w="9360">
                      <a:solidFill>
                        <a:srgbClr val="dce3ec"/>
                      </a:solidFill>
                      <a:prstDash val="solid"/>
                    </a:lnR>
                    <a:lnT w="9360">
                      <a:solidFill>
                        <a:srgbClr val="dce3ec"/>
                      </a:solidFill>
                      <a:prstDash val="solid"/>
                    </a:lnT>
                    <a:lnB w="9360">
                      <a:solidFill>
                        <a:srgbClr val="dce3ec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b="1" lang="en-US" sz="1200" strike="noStrike" u="none">
                          <a:solidFill>
                            <a:srgbClr val="1c7293"/>
                          </a:solidFill>
                          <a:effectLst/>
                          <a:uFillTx/>
                          <a:latin typeface="Consolas"/>
                          <a:ea typeface="Consolas"/>
                        </a:rPr>
                        <a:t>1 s</a:t>
                      </a:r>
                      <a:endParaRPr b="0" lang="en-TR" sz="12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>
                    <a:lnL w="9360">
                      <a:solidFill>
                        <a:srgbClr val="dce3ec"/>
                      </a:solidFill>
                      <a:prstDash val="solid"/>
                    </a:lnL>
                    <a:lnR w="9360">
                      <a:solidFill>
                        <a:srgbClr val="dce3ec"/>
                      </a:solidFill>
                      <a:prstDash val="solid"/>
                    </a:lnR>
                    <a:lnT w="9360">
                      <a:solidFill>
                        <a:srgbClr val="dce3ec"/>
                      </a:solidFill>
                      <a:prstDash val="solid"/>
                    </a:lnT>
                    <a:lnB w="9360">
                      <a:solidFill>
                        <a:srgbClr val="dce3ec"/>
                      </a:solidFill>
                      <a:prstDash val="solid"/>
                    </a:lnB>
                    <a:noFill/>
                  </a:tcPr>
                </a:tc>
              </a:tr>
              <a:tr h="383760">
                <a:tc>
                  <a:txBody>
                    <a:bodyPr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b="0" lang="en-US" sz="1150" strike="noStrike" u="none">
                          <a:solidFill>
                            <a:srgbClr val="1a2233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Calibration threshold</a:t>
                      </a:r>
                      <a:endParaRPr b="0" lang="en-TR" sz="115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>
                    <a:lnL w="9360">
                      <a:solidFill>
                        <a:srgbClr val="dce3ec"/>
                      </a:solidFill>
                      <a:prstDash val="solid"/>
                    </a:lnL>
                    <a:lnR w="9360">
                      <a:solidFill>
                        <a:srgbClr val="dce3ec"/>
                      </a:solidFill>
                      <a:prstDash val="solid"/>
                    </a:lnR>
                    <a:lnT w="9360">
                      <a:solidFill>
                        <a:srgbClr val="dce3ec"/>
                      </a:solidFill>
                      <a:prstDash val="solid"/>
                    </a:lnT>
                    <a:lnB w="9360">
                      <a:solidFill>
                        <a:srgbClr val="dce3ec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b="1" lang="en-US" sz="1200" strike="noStrike" u="none">
                          <a:solidFill>
                            <a:srgbClr val="1c7293"/>
                          </a:solidFill>
                          <a:effectLst/>
                          <a:uFillTx/>
                          <a:latin typeface="Consolas"/>
                          <a:ea typeface="Consolas"/>
                        </a:rPr>
                        <a:t>ε</a:t>
                      </a:r>
                      <a:endParaRPr b="0" lang="en-TR" sz="12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>
                    <a:lnL w="9360">
                      <a:solidFill>
                        <a:srgbClr val="dce3ec"/>
                      </a:solidFill>
                      <a:prstDash val="solid"/>
                    </a:lnL>
                    <a:lnR w="9360">
                      <a:solidFill>
                        <a:srgbClr val="dce3ec"/>
                      </a:solidFill>
                      <a:prstDash val="solid"/>
                    </a:lnR>
                    <a:lnT w="9360">
                      <a:solidFill>
                        <a:srgbClr val="dce3ec"/>
                      </a:solidFill>
                      <a:prstDash val="solid"/>
                    </a:lnT>
                    <a:lnB w="9360">
                      <a:solidFill>
                        <a:srgbClr val="dce3ec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b="1" lang="en-US" sz="1200" strike="noStrike" u="none">
                          <a:solidFill>
                            <a:srgbClr val="1c7293"/>
                          </a:solidFill>
                          <a:effectLst/>
                          <a:uFillTx/>
                          <a:latin typeface="Consolas"/>
                          <a:ea typeface="Consolas"/>
                        </a:rPr>
                        <a:t>10</a:t>
                      </a:r>
                      <a:endParaRPr b="0" lang="en-TR" sz="12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>
                    <a:lnL w="9360">
                      <a:solidFill>
                        <a:srgbClr val="dce3ec"/>
                      </a:solidFill>
                      <a:prstDash val="solid"/>
                    </a:lnL>
                    <a:lnR w="9360">
                      <a:solidFill>
                        <a:srgbClr val="dce3ec"/>
                      </a:solidFill>
                      <a:prstDash val="solid"/>
                    </a:lnR>
                    <a:lnT w="9360">
                      <a:solidFill>
                        <a:srgbClr val="dce3ec"/>
                      </a:solidFill>
                      <a:prstDash val="solid"/>
                    </a:lnT>
                    <a:lnB w="9360">
                      <a:solidFill>
                        <a:srgbClr val="dce3ec"/>
                      </a:solidFill>
                      <a:prstDash val="solid"/>
                    </a:lnB>
                    <a:noFill/>
                  </a:tcPr>
                </a:tc>
              </a:tr>
              <a:tr h="383760">
                <a:tc>
                  <a:txBody>
                    <a:bodyPr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b="0" lang="en-US" sz="1150" strike="noStrike" u="none">
                          <a:solidFill>
                            <a:srgbClr val="1a2233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Initial EMA weight</a:t>
                      </a:r>
                      <a:endParaRPr b="0" lang="en-TR" sz="115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>
                    <a:lnL w="9360">
                      <a:solidFill>
                        <a:srgbClr val="dce3ec"/>
                      </a:solidFill>
                      <a:prstDash val="solid"/>
                    </a:lnL>
                    <a:lnR w="9360">
                      <a:solidFill>
                        <a:srgbClr val="dce3ec"/>
                      </a:solidFill>
                      <a:prstDash val="solid"/>
                    </a:lnR>
                    <a:lnT w="9360">
                      <a:solidFill>
                        <a:srgbClr val="dce3ec"/>
                      </a:solidFill>
                      <a:prstDash val="solid"/>
                    </a:lnT>
                    <a:lnB w="9360">
                      <a:solidFill>
                        <a:srgbClr val="dce3ec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b="1" lang="en-US" sz="1200" strike="noStrike" u="none">
                          <a:solidFill>
                            <a:srgbClr val="1c7293"/>
                          </a:solidFill>
                          <a:effectLst/>
                          <a:uFillTx/>
                          <a:latin typeface="Consolas"/>
                          <a:ea typeface="Consolas"/>
                        </a:rPr>
                        <a:t>α₀</a:t>
                      </a:r>
                      <a:endParaRPr b="0" lang="en-TR" sz="12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>
                    <a:lnL w="9360">
                      <a:solidFill>
                        <a:srgbClr val="dce3ec"/>
                      </a:solidFill>
                      <a:prstDash val="solid"/>
                    </a:lnL>
                    <a:lnR w="9360">
                      <a:solidFill>
                        <a:srgbClr val="dce3ec"/>
                      </a:solidFill>
                      <a:prstDash val="solid"/>
                    </a:lnR>
                    <a:lnT w="9360">
                      <a:solidFill>
                        <a:srgbClr val="dce3ec"/>
                      </a:solidFill>
                      <a:prstDash val="solid"/>
                    </a:lnT>
                    <a:lnB w="9360">
                      <a:solidFill>
                        <a:srgbClr val="dce3ec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b="1" lang="en-US" sz="1200" strike="noStrike" u="none">
                          <a:solidFill>
                            <a:srgbClr val="1c7293"/>
                          </a:solidFill>
                          <a:effectLst/>
                          <a:uFillTx/>
                          <a:latin typeface="Consolas"/>
                          <a:ea typeface="Consolas"/>
                        </a:rPr>
                        <a:t>0.20</a:t>
                      </a:r>
                      <a:endParaRPr b="0" lang="en-TR" sz="12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>
                    <a:lnL w="9360">
                      <a:solidFill>
                        <a:srgbClr val="dce3ec"/>
                      </a:solidFill>
                      <a:prstDash val="solid"/>
                    </a:lnL>
                    <a:lnR w="9360">
                      <a:solidFill>
                        <a:srgbClr val="dce3ec"/>
                      </a:solidFill>
                      <a:prstDash val="solid"/>
                    </a:lnR>
                    <a:lnT w="9360">
                      <a:solidFill>
                        <a:srgbClr val="dce3ec"/>
                      </a:solidFill>
                      <a:prstDash val="solid"/>
                    </a:lnT>
                    <a:lnB w="9360">
                      <a:solidFill>
                        <a:srgbClr val="dce3ec"/>
                      </a:solidFill>
                      <a:prstDash val="solid"/>
                    </a:lnB>
                    <a:noFill/>
                  </a:tcPr>
                </a:tc>
              </a:tr>
            </a:tbl>
          </a:graphicData>
        </a:graphic>
      </p:graphicFrame>
      <p:sp>
        <p:nvSpPr>
          <p:cNvPr id="360" name="Shape 19"/>
          <p:cNvSpPr/>
          <p:nvPr/>
        </p:nvSpPr>
        <p:spPr>
          <a:xfrm>
            <a:off x="548640" y="6355080"/>
            <a:ext cx="11063880" cy="1044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34200" bIns="-34200" anchor="t">
            <a:noAutofit/>
          </a:bodyPr>
          <a:p>
            <a:endParaRPr b="0" lang="en-TR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61" name="Text 20"/>
          <p:cNvSpPr/>
          <p:nvPr/>
        </p:nvSpPr>
        <p:spPr>
          <a:xfrm>
            <a:off x="548640" y="6446520"/>
            <a:ext cx="731484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00" strike="noStrike" u="none">
                <a:solidFill>
                  <a:srgbClr val="64748b"/>
                </a:solidFill>
                <a:effectLst/>
                <a:uFillTx/>
                <a:latin typeface="Calibri"/>
                <a:ea typeface="Calibri"/>
              </a:rPr>
              <a:t>5G RRC Storm Mitigation  ·  Calibrated Digital Twin</a:t>
            </a:r>
            <a:endParaRPr b="0" lang="en-TR" sz="9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62" name="Text 21"/>
          <p:cNvSpPr/>
          <p:nvPr/>
        </p:nvSpPr>
        <p:spPr>
          <a:xfrm>
            <a:off x="10698480" y="6446520"/>
            <a:ext cx="91404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00" strike="noStrike" u="none">
                <a:solidFill>
                  <a:srgbClr val="64748b"/>
                </a:solidFill>
                <a:effectLst/>
                <a:uFillTx/>
                <a:latin typeface="Calibri"/>
                <a:ea typeface="Calibri"/>
              </a:rPr>
              <a:t>13 / 21</a:t>
            </a:r>
            <a:endParaRPr b="0" lang="en-TR" sz="9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63" name="" descr=""/>
          <p:cNvPicPr/>
          <p:nvPr/>
        </p:nvPicPr>
        <p:blipFill>
          <a:blip r:embed="rId1"/>
          <a:stretch/>
        </p:blipFill>
        <p:spPr>
          <a:xfrm>
            <a:off x="1112400" y="1371600"/>
            <a:ext cx="9966960" cy="38332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364" name="Text 0"/>
          <p:cNvSpPr/>
          <p:nvPr/>
        </p:nvSpPr>
        <p:spPr>
          <a:xfrm>
            <a:off x="548640" y="411480"/>
            <a:ext cx="1097244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00" spc="400" strike="noStrike" u="none">
                <a:solidFill>
                  <a:srgbClr val="f4a11a"/>
                </a:solidFill>
                <a:effectLst/>
                <a:uFillTx/>
                <a:latin typeface="Calibri"/>
                <a:ea typeface="Calibri"/>
              </a:rPr>
              <a:t>RESULT 1</a:t>
            </a:r>
            <a:endParaRPr b="0" lang="en-TR" sz="1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65" name="Text 1"/>
          <p:cNvSpPr/>
          <p:nvPr/>
        </p:nvSpPr>
        <p:spPr>
          <a:xfrm>
            <a:off x="548640" y="713160"/>
            <a:ext cx="10972440" cy="776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3000" strike="noStrike" u="none">
                <a:solidFill>
                  <a:srgbClr val="1a2233"/>
                </a:solidFill>
                <a:effectLst/>
                <a:uFillTx/>
                <a:latin typeface="Cambria"/>
                <a:ea typeface="Cambria"/>
              </a:rPr>
              <a:t>State-mirroring error — 42% reduction</a:t>
            </a:r>
            <a:endParaRPr b="0" lang="en-TR" sz="3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66" name="Shape 5"/>
          <p:cNvSpPr/>
          <p:nvPr/>
        </p:nvSpPr>
        <p:spPr>
          <a:xfrm>
            <a:off x="548640" y="5257800"/>
            <a:ext cx="3565800" cy="1051200"/>
          </a:xfrm>
          <a:prstGeom prst="rect">
            <a:avLst/>
          </a:prstGeom>
          <a:solidFill>
            <a:srgbClr val="ffffff"/>
          </a:solidFill>
          <a:ln w="9525">
            <a:solidFill>
              <a:srgbClr val="dce3e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TR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67" name="Shape 6"/>
          <p:cNvSpPr/>
          <p:nvPr/>
        </p:nvSpPr>
        <p:spPr>
          <a:xfrm>
            <a:off x="548640" y="5257800"/>
            <a:ext cx="63720" cy="1051200"/>
          </a:xfrm>
          <a:prstGeom prst="rect">
            <a:avLst/>
          </a:prstGeom>
          <a:solidFill>
            <a:srgbClr val="0e8a6b"/>
          </a:solidFill>
          <a:ln w="12700">
            <a:solidFill>
              <a:srgbClr val="0e8a6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TR" sz="18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68" name="Text 7"/>
          <p:cNvSpPr/>
          <p:nvPr/>
        </p:nvSpPr>
        <p:spPr>
          <a:xfrm>
            <a:off x="731520" y="5303520"/>
            <a:ext cx="3291480" cy="63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3600" strike="noStrike" u="none">
                <a:solidFill>
                  <a:srgbClr val="0e8a6b"/>
                </a:solidFill>
                <a:effectLst/>
                <a:uFillTx/>
                <a:latin typeface="Cambria"/>
                <a:ea typeface="Cambria"/>
              </a:rPr>
              <a:t>42 %</a:t>
            </a:r>
            <a:endParaRPr b="0" lang="en-TR" sz="3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69" name="Text 8"/>
          <p:cNvSpPr/>
          <p:nvPr/>
        </p:nvSpPr>
        <p:spPr>
          <a:xfrm>
            <a:off x="731520" y="5897880"/>
            <a:ext cx="329148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i="1" lang="en-US" sz="1100" strike="noStrike" u="none">
                <a:solidFill>
                  <a:srgbClr val="334155"/>
                </a:solidFill>
                <a:effectLst/>
                <a:uFillTx/>
                <a:latin typeface="Calibri"/>
                <a:ea typeface="Calibri"/>
              </a:rPr>
              <a:t>reduction in E_mean</a:t>
            </a:r>
            <a:endParaRPr b="0" lang="en-TR" sz="1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70" name="Shape 9"/>
          <p:cNvSpPr/>
          <p:nvPr/>
        </p:nvSpPr>
        <p:spPr>
          <a:xfrm>
            <a:off x="4297680" y="5257800"/>
            <a:ext cx="3565800" cy="1051200"/>
          </a:xfrm>
          <a:prstGeom prst="rect">
            <a:avLst/>
          </a:prstGeom>
          <a:solidFill>
            <a:srgbClr val="ffffff"/>
          </a:solidFill>
          <a:ln w="9525">
            <a:solidFill>
              <a:srgbClr val="dce3e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TR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71" name="Shape 10"/>
          <p:cNvSpPr/>
          <p:nvPr/>
        </p:nvSpPr>
        <p:spPr>
          <a:xfrm>
            <a:off x="4297680" y="5257800"/>
            <a:ext cx="63720" cy="1051200"/>
          </a:xfrm>
          <a:prstGeom prst="rect">
            <a:avLst/>
          </a:prstGeom>
          <a:solidFill>
            <a:srgbClr val="065a82"/>
          </a:solidFill>
          <a:ln w="12700">
            <a:solidFill>
              <a:srgbClr val="065a82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TR" sz="18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72" name="Text 11"/>
          <p:cNvSpPr/>
          <p:nvPr/>
        </p:nvSpPr>
        <p:spPr>
          <a:xfrm>
            <a:off x="4480560" y="5312520"/>
            <a:ext cx="329148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00" strike="noStrike" u="none">
                <a:solidFill>
                  <a:srgbClr val="065a82"/>
                </a:solidFill>
                <a:effectLst/>
                <a:uFillTx/>
                <a:latin typeface="Cambria"/>
                <a:ea typeface="Cambria"/>
              </a:rPr>
              <a:t>E_mean  (N = 10, 95 % CI)</a:t>
            </a:r>
            <a:endParaRPr b="0" lang="en-TR" sz="1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73" name="Text 12"/>
          <p:cNvSpPr/>
          <p:nvPr/>
        </p:nvSpPr>
        <p:spPr>
          <a:xfrm>
            <a:off x="4480560" y="5623560"/>
            <a:ext cx="1810080" cy="63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spcAft>
                <a:spcPts val="201"/>
              </a:spcAft>
              <a:tabLst>
                <a:tab algn="l" pos="0"/>
              </a:tabLst>
            </a:pPr>
            <a:r>
              <a:rPr b="0" lang="en-US" sz="1100" strike="noStrike" u="none">
                <a:solidFill>
                  <a:srgbClr val="1a2233"/>
                </a:solidFill>
                <a:effectLst/>
                <a:uFillTx/>
                <a:latin typeface="Calibri"/>
                <a:ea typeface="Calibri"/>
              </a:rPr>
              <a:t>DT (no calib.)</a:t>
            </a:r>
            <a:endParaRPr b="0" lang="en-TR" sz="1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spcAft>
                <a:spcPts val="201"/>
              </a:spcAft>
              <a:tabLst>
                <a:tab algn="l" pos="0"/>
              </a:tabLst>
            </a:pPr>
            <a:r>
              <a:rPr b="1" lang="en-US" sz="1100" strike="noStrike" u="none">
                <a:solidFill>
                  <a:srgbClr val="0e8a6b"/>
                </a:solidFill>
                <a:effectLst/>
                <a:uFillTx/>
                <a:latin typeface="Calibri"/>
                <a:ea typeface="Calibri"/>
              </a:rPr>
              <a:t>Calibrated DT</a:t>
            </a:r>
            <a:endParaRPr b="0" lang="en-TR" sz="1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74" name="Text 13"/>
          <p:cNvSpPr/>
          <p:nvPr/>
        </p:nvSpPr>
        <p:spPr>
          <a:xfrm>
            <a:off x="6291000" y="5623560"/>
            <a:ext cx="1481040" cy="63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r" defTabSz="914400">
              <a:lnSpc>
                <a:spcPct val="100000"/>
              </a:lnSpc>
              <a:spcAft>
                <a:spcPts val="201"/>
              </a:spcAft>
              <a:tabLst>
                <a:tab algn="l" pos="0"/>
              </a:tabLst>
            </a:pPr>
            <a:r>
              <a:rPr b="0" lang="en-US" sz="1100" strike="noStrike" u="none">
                <a:solidFill>
                  <a:srgbClr val="1a2233"/>
                </a:solidFill>
                <a:effectLst/>
                <a:uFillTx/>
                <a:latin typeface="Consolas"/>
                <a:ea typeface="Consolas"/>
              </a:rPr>
              <a:t>85.03 ± 4.40</a:t>
            </a:r>
            <a:endParaRPr b="0" lang="en-TR" sz="1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r" defTabSz="914400">
              <a:lnSpc>
                <a:spcPct val="100000"/>
              </a:lnSpc>
              <a:spcAft>
                <a:spcPts val="201"/>
              </a:spcAft>
              <a:tabLst>
                <a:tab algn="l" pos="0"/>
              </a:tabLst>
            </a:pPr>
            <a:r>
              <a:rPr b="1" lang="en-US" sz="1100" strike="noStrike" u="none">
                <a:solidFill>
                  <a:srgbClr val="0e8a6b"/>
                </a:solidFill>
                <a:effectLst/>
                <a:uFillTx/>
                <a:latin typeface="Consolas"/>
                <a:ea typeface="Consolas"/>
              </a:rPr>
              <a:t>49.14 ± 3.09</a:t>
            </a:r>
            <a:endParaRPr b="0" lang="en-TR" sz="1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75" name="Shape 14"/>
          <p:cNvSpPr/>
          <p:nvPr/>
        </p:nvSpPr>
        <p:spPr>
          <a:xfrm>
            <a:off x="8046720" y="5257800"/>
            <a:ext cx="3565800" cy="1051200"/>
          </a:xfrm>
          <a:prstGeom prst="rect">
            <a:avLst/>
          </a:prstGeom>
          <a:solidFill>
            <a:srgbClr val="ffffff"/>
          </a:solidFill>
          <a:ln w="9525">
            <a:solidFill>
              <a:srgbClr val="dce3e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TR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76" name="Shape 15"/>
          <p:cNvSpPr/>
          <p:nvPr/>
        </p:nvSpPr>
        <p:spPr>
          <a:xfrm>
            <a:off x="8046720" y="5257800"/>
            <a:ext cx="63720" cy="1051200"/>
          </a:xfrm>
          <a:prstGeom prst="rect">
            <a:avLst/>
          </a:prstGeom>
          <a:solidFill>
            <a:srgbClr val="f4a11a"/>
          </a:solidFill>
          <a:ln w="12700">
            <a:solidFill>
              <a:srgbClr val="f4a11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TR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77" name="Text 16"/>
          <p:cNvSpPr/>
          <p:nvPr/>
        </p:nvSpPr>
        <p:spPr>
          <a:xfrm>
            <a:off x="8229600" y="5312520"/>
            <a:ext cx="329148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000" spc="300" strike="noStrike" u="none">
                <a:solidFill>
                  <a:srgbClr val="64748b"/>
                </a:solidFill>
                <a:effectLst/>
                <a:uFillTx/>
                <a:latin typeface="Calibri"/>
                <a:ea typeface="Calibri"/>
              </a:rPr>
              <a:t>Takeaway</a:t>
            </a:r>
            <a:endParaRPr b="0" lang="en-TR" sz="1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78" name="Text 17"/>
          <p:cNvSpPr/>
          <p:nvPr/>
        </p:nvSpPr>
        <p:spPr>
          <a:xfrm>
            <a:off x="8229600" y="5586840"/>
            <a:ext cx="3291480" cy="685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50" strike="noStrike" u="none">
                <a:solidFill>
                  <a:srgbClr val="334155"/>
                </a:solidFill>
                <a:effectLst/>
                <a:uFillTx/>
                <a:latin typeface="Calibri"/>
                <a:ea typeface="Calibri"/>
              </a:rPr>
              <a:t>Calibration suppresses model drift continuously during the burst — CIs do not overlap.</a:t>
            </a:r>
            <a:endParaRPr b="0" lang="en-TR" sz="105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79" name="Shape 18"/>
          <p:cNvSpPr/>
          <p:nvPr/>
        </p:nvSpPr>
        <p:spPr>
          <a:xfrm>
            <a:off x="548640" y="6355080"/>
            <a:ext cx="11063880" cy="1044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34200" bIns="-34200" anchor="t">
            <a:noAutofit/>
          </a:bodyPr>
          <a:p>
            <a:endParaRPr b="0" lang="en-TR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80" name="Text 19"/>
          <p:cNvSpPr/>
          <p:nvPr/>
        </p:nvSpPr>
        <p:spPr>
          <a:xfrm>
            <a:off x="548640" y="6446520"/>
            <a:ext cx="731484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00" strike="noStrike" u="none">
                <a:solidFill>
                  <a:srgbClr val="64748b"/>
                </a:solidFill>
                <a:effectLst/>
                <a:uFillTx/>
                <a:latin typeface="Calibri"/>
                <a:ea typeface="Calibri"/>
              </a:rPr>
              <a:t>5G RRC Storm Mitigation  ·  Calibrated Digital Twin</a:t>
            </a:r>
            <a:endParaRPr b="0" lang="en-TR" sz="9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81" name="Text 20"/>
          <p:cNvSpPr/>
          <p:nvPr/>
        </p:nvSpPr>
        <p:spPr>
          <a:xfrm>
            <a:off x="10698480" y="6446520"/>
            <a:ext cx="91404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00" strike="noStrike" u="none">
                <a:solidFill>
                  <a:srgbClr val="64748b"/>
                </a:solidFill>
                <a:effectLst/>
                <a:uFillTx/>
                <a:latin typeface="Calibri"/>
                <a:ea typeface="Calibri"/>
              </a:rPr>
              <a:t>14 / 21</a:t>
            </a:r>
            <a:endParaRPr b="0" lang="en-TR" sz="9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2" name="Text 0"/>
          <p:cNvSpPr/>
          <p:nvPr/>
        </p:nvSpPr>
        <p:spPr>
          <a:xfrm>
            <a:off x="548640" y="411480"/>
            <a:ext cx="1097244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00" spc="400" strike="noStrike" u="none">
                <a:solidFill>
                  <a:srgbClr val="f4a11a"/>
                </a:solidFill>
                <a:effectLst/>
                <a:uFillTx/>
                <a:latin typeface="Calibri"/>
                <a:ea typeface="Calibri"/>
              </a:rPr>
              <a:t>RESULT 2</a:t>
            </a:r>
            <a:endParaRPr b="0" lang="en-TR" sz="1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83" name="Text 1"/>
          <p:cNvSpPr/>
          <p:nvPr/>
        </p:nvSpPr>
        <p:spPr>
          <a:xfrm>
            <a:off x="548640" y="713160"/>
            <a:ext cx="10972440" cy="776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3000" strike="noStrike" u="none">
                <a:solidFill>
                  <a:srgbClr val="1a2233"/>
                </a:solidFill>
                <a:effectLst/>
                <a:uFillTx/>
                <a:latin typeface="Cambria"/>
                <a:ea typeface="Cambria"/>
              </a:rPr>
              <a:t>Queue stability</a:t>
            </a:r>
            <a:endParaRPr b="0" lang="en-TR" sz="3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84" name="Shape 5"/>
          <p:cNvSpPr/>
          <p:nvPr/>
        </p:nvSpPr>
        <p:spPr>
          <a:xfrm>
            <a:off x="548640" y="5257800"/>
            <a:ext cx="3565800" cy="1051200"/>
          </a:xfrm>
          <a:prstGeom prst="rect">
            <a:avLst/>
          </a:prstGeom>
          <a:solidFill>
            <a:srgbClr val="ffffff"/>
          </a:solidFill>
          <a:ln w="9525">
            <a:solidFill>
              <a:srgbClr val="dce3e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TR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85" name="Shape 6"/>
          <p:cNvSpPr/>
          <p:nvPr/>
        </p:nvSpPr>
        <p:spPr>
          <a:xfrm>
            <a:off x="548640" y="5257800"/>
            <a:ext cx="63720" cy="1051200"/>
          </a:xfrm>
          <a:prstGeom prst="rect">
            <a:avLst/>
          </a:prstGeom>
          <a:solidFill>
            <a:srgbClr val="065a82"/>
          </a:solidFill>
          <a:ln w="12700">
            <a:solidFill>
              <a:srgbClr val="065a82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TR" sz="18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86" name="Text 7"/>
          <p:cNvSpPr/>
          <p:nvPr/>
        </p:nvSpPr>
        <p:spPr>
          <a:xfrm>
            <a:off x="713160" y="5294520"/>
            <a:ext cx="3309840" cy="255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050" strike="noStrike" u="none">
                <a:solidFill>
                  <a:srgbClr val="065a82"/>
                </a:solidFill>
                <a:effectLst/>
                <a:uFillTx/>
                <a:latin typeface="Cambria"/>
                <a:ea typeface="Cambria"/>
              </a:rPr>
              <a:t>P_success  (N = 10, 95 % CI)</a:t>
            </a:r>
            <a:endParaRPr b="0" lang="en-TR" sz="105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87" name="Text 8"/>
          <p:cNvSpPr/>
          <p:nvPr/>
        </p:nvSpPr>
        <p:spPr>
          <a:xfrm>
            <a:off x="713160" y="5550480"/>
            <a:ext cx="1820160" cy="776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spcAft>
                <a:spcPts val="99"/>
              </a:spcAft>
              <a:tabLst>
                <a:tab algn="l" pos="0"/>
              </a:tabLst>
            </a:pPr>
            <a:r>
              <a:rPr b="0" lang="en-US" sz="1000" strike="noStrike" u="none">
                <a:solidFill>
                  <a:srgbClr val="1a2233"/>
                </a:solidFill>
                <a:effectLst/>
                <a:uFillTx/>
                <a:latin typeface="Calibri"/>
                <a:ea typeface="Calibri"/>
              </a:rPr>
              <a:t>Reactive</a:t>
            </a:r>
            <a:endParaRPr b="0" lang="en-TR" sz="1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spcAft>
                <a:spcPts val="99"/>
              </a:spcAft>
              <a:tabLst>
                <a:tab algn="l" pos="0"/>
              </a:tabLst>
            </a:pPr>
            <a:r>
              <a:rPr b="0" lang="en-US" sz="1000" strike="noStrike" u="none">
                <a:solidFill>
                  <a:srgbClr val="1a2233"/>
                </a:solidFill>
                <a:effectLst/>
                <a:uFillTx/>
                <a:latin typeface="Calibri"/>
                <a:ea typeface="Calibri"/>
              </a:rPr>
              <a:t>DT (no calib.)</a:t>
            </a:r>
            <a:endParaRPr b="0" lang="en-TR" sz="1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spcAft>
                <a:spcPts val="99"/>
              </a:spcAft>
              <a:tabLst>
                <a:tab algn="l" pos="0"/>
              </a:tabLst>
            </a:pPr>
            <a:r>
              <a:rPr b="1" lang="en-US" sz="1000" strike="noStrike" u="none">
                <a:solidFill>
                  <a:srgbClr val="0e8a6b"/>
                </a:solidFill>
                <a:effectLst/>
                <a:uFillTx/>
                <a:latin typeface="Calibri"/>
                <a:ea typeface="Calibri"/>
              </a:rPr>
              <a:t>Calibrated DT</a:t>
            </a:r>
            <a:endParaRPr b="0" lang="en-TR" sz="1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88" name="Text 9"/>
          <p:cNvSpPr/>
          <p:nvPr/>
        </p:nvSpPr>
        <p:spPr>
          <a:xfrm>
            <a:off x="2533680" y="5550480"/>
            <a:ext cx="1489320" cy="776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r" defTabSz="914400">
              <a:lnSpc>
                <a:spcPct val="100000"/>
              </a:lnSpc>
              <a:spcAft>
                <a:spcPts val="99"/>
              </a:spcAft>
              <a:tabLst>
                <a:tab algn="l" pos="0"/>
              </a:tabLst>
            </a:pPr>
            <a:r>
              <a:rPr b="0" lang="en-US" sz="1000" strike="noStrike" u="none">
                <a:solidFill>
                  <a:srgbClr val="1a2233"/>
                </a:solidFill>
                <a:effectLst/>
                <a:uFillTx/>
                <a:latin typeface="Consolas"/>
                <a:ea typeface="Consolas"/>
              </a:rPr>
              <a:t>0.310 ± 0.015</a:t>
            </a:r>
            <a:endParaRPr b="0" lang="en-TR" sz="1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r" defTabSz="914400">
              <a:lnSpc>
                <a:spcPct val="100000"/>
              </a:lnSpc>
              <a:spcAft>
                <a:spcPts val="99"/>
              </a:spcAft>
              <a:tabLst>
                <a:tab algn="l" pos="0"/>
              </a:tabLst>
            </a:pPr>
            <a:r>
              <a:rPr b="0" lang="en-US" sz="1000" strike="noStrike" u="none">
                <a:solidFill>
                  <a:srgbClr val="1a2233"/>
                </a:solidFill>
                <a:effectLst/>
                <a:uFillTx/>
                <a:latin typeface="Consolas"/>
                <a:ea typeface="Consolas"/>
              </a:rPr>
              <a:t>0.301 ± 0.011</a:t>
            </a:r>
            <a:endParaRPr b="0" lang="en-TR" sz="1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r" defTabSz="914400">
              <a:lnSpc>
                <a:spcPct val="100000"/>
              </a:lnSpc>
              <a:spcAft>
                <a:spcPts val="99"/>
              </a:spcAft>
              <a:tabLst>
                <a:tab algn="l" pos="0"/>
              </a:tabLst>
            </a:pPr>
            <a:r>
              <a:rPr b="1" lang="en-US" sz="1000" strike="noStrike" u="none">
                <a:solidFill>
                  <a:srgbClr val="0e8a6b"/>
                </a:solidFill>
                <a:effectLst/>
                <a:uFillTx/>
                <a:latin typeface="Consolas"/>
                <a:ea typeface="Consolas"/>
              </a:rPr>
              <a:t>0.309 ± 0.019</a:t>
            </a:r>
            <a:endParaRPr b="0" lang="en-TR" sz="1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89" name="Shape 10"/>
          <p:cNvSpPr/>
          <p:nvPr/>
        </p:nvSpPr>
        <p:spPr>
          <a:xfrm>
            <a:off x="4297680" y="5257800"/>
            <a:ext cx="3565800" cy="1051200"/>
          </a:xfrm>
          <a:prstGeom prst="rect">
            <a:avLst/>
          </a:prstGeom>
          <a:solidFill>
            <a:srgbClr val="ffffff"/>
          </a:solidFill>
          <a:ln w="9525">
            <a:solidFill>
              <a:srgbClr val="dce3e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TR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90" name="Shape 11"/>
          <p:cNvSpPr/>
          <p:nvPr/>
        </p:nvSpPr>
        <p:spPr>
          <a:xfrm>
            <a:off x="4297680" y="5257800"/>
            <a:ext cx="63720" cy="1051200"/>
          </a:xfrm>
          <a:prstGeom prst="rect">
            <a:avLst/>
          </a:prstGeom>
          <a:solidFill>
            <a:srgbClr val="0e8a6b"/>
          </a:solidFill>
          <a:ln w="12700">
            <a:solidFill>
              <a:srgbClr val="0e8a6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TR" sz="18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91" name="Text 12"/>
          <p:cNvSpPr/>
          <p:nvPr/>
        </p:nvSpPr>
        <p:spPr>
          <a:xfrm>
            <a:off x="4462200" y="5257800"/>
            <a:ext cx="3309840" cy="63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4000" strike="noStrike" u="none">
                <a:solidFill>
                  <a:srgbClr val="0e8a6b"/>
                </a:solidFill>
                <a:effectLst/>
                <a:uFillTx/>
                <a:latin typeface="Cambria"/>
                <a:ea typeface="Cambria"/>
              </a:rPr>
              <a:t>≈</a:t>
            </a:r>
            <a:endParaRPr b="0" lang="en-TR" sz="4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92" name="Text 13"/>
          <p:cNvSpPr/>
          <p:nvPr/>
        </p:nvSpPr>
        <p:spPr>
          <a:xfrm>
            <a:off x="4462200" y="5806440"/>
            <a:ext cx="330984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i="1" lang="en-US" sz="1050" strike="noStrike" u="none">
                <a:solidFill>
                  <a:srgbClr val="334155"/>
                </a:solidFill>
                <a:effectLst/>
                <a:uFillTx/>
                <a:latin typeface="Calibri"/>
                <a:ea typeface="Calibri"/>
              </a:rPr>
              <a:t>statistically equivalent to baseline; no throughput penalty</a:t>
            </a:r>
            <a:endParaRPr b="0" lang="en-TR" sz="105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93" name="Shape 14"/>
          <p:cNvSpPr/>
          <p:nvPr/>
        </p:nvSpPr>
        <p:spPr>
          <a:xfrm>
            <a:off x="8046720" y="5257800"/>
            <a:ext cx="3565800" cy="1051200"/>
          </a:xfrm>
          <a:prstGeom prst="rect">
            <a:avLst/>
          </a:prstGeom>
          <a:solidFill>
            <a:srgbClr val="ffffff"/>
          </a:solidFill>
          <a:ln w="9525">
            <a:solidFill>
              <a:srgbClr val="dce3e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TR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94" name="Shape 15"/>
          <p:cNvSpPr/>
          <p:nvPr/>
        </p:nvSpPr>
        <p:spPr>
          <a:xfrm>
            <a:off x="8046720" y="5257800"/>
            <a:ext cx="63720" cy="1051200"/>
          </a:xfrm>
          <a:prstGeom prst="rect">
            <a:avLst/>
          </a:prstGeom>
          <a:solidFill>
            <a:srgbClr val="f4a11a"/>
          </a:solidFill>
          <a:ln w="12700">
            <a:solidFill>
              <a:srgbClr val="f4a11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TR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95" name="Text 16"/>
          <p:cNvSpPr/>
          <p:nvPr/>
        </p:nvSpPr>
        <p:spPr>
          <a:xfrm>
            <a:off x="8211240" y="5294520"/>
            <a:ext cx="3309840" cy="255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000" spc="300" strike="noStrike" u="none">
                <a:solidFill>
                  <a:srgbClr val="64748b"/>
                </a:solidFill>
                <a:effectLst/>
                <a:uFillTx/>
                <a:latin typeface="Calibri"/>
                <a:ea typeface="Calibri"/>
              </a:rPr>
              <a:t>Interpretation</a:t>
            </a:r>
            <a:endParaRPr b="0" lang="en-TR" sz="1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96" name="Text 17"/>
          <p:cNvSpPr/>
          <p:nvPr/>
        </p:nvSpPr>
        <p:spPr>
          <a:xfrm>
            <a:off x="8211240" y="5550480"/>
            <a:ext cx="3309840" cy="776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marL="343080" indent="-343080" defTabSz="914400">
              <a:lnSpc>
                <a:spcPct val="100000"/>
              </a:lnSpc>
              <a:spcAft>
                <a:spcPts val="201"/>
              </a:spcAft>
              <a:buClr>
                <a:srgbClr val="334155"/>
              </a:buClr>
              <a:buFont typeface="Symbol" charset="2"/>
              <a:buChar char=""/>
            </a:pPr>
            <a:r>
              <a:rPr b="0" lang="en-US" sz="1000" strike="noStrike" u="none">
                <a:solidFill>
                  <a:srgbClr val="334155"/>
                </a:solidFill>
                <a:effectLst/>
                <a:uFillTx/>
                <a:latin typeface="Calibri"/>
                <a:ea typeface="Calibri"/>
              </a:rPr>
              <a:t>Reactive only acts after Q &gt; 0.8 K</a:t>
            </a:r>
            <a:endParaRPr b="0" lang="en-TR" sz="1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spcAft>
                <a:spcPts val="201"/>
              </a:spcAft>
              <a:buClr>
                <a:srgbClr val="334155"/>
              </a:buClr>
              <a:buFont typeface="Symbol" charset="2"/>
              <a:buChar char=""/>
            </a:pPr>
            <a:r>
              <a:rPr b="0" lang="en-US" sz="1000" strike="noStrike" u="none">
                <a:solidFill>
                  <a:srgbClr val="334155"/>
                </a:solidFill>
                <a:effectLst/>
                <a:uFillTx/>
                <a:latin typeface="Calibri"/>
                <a:ea typeface="Calibri"/>
              </a:rPr>
              <a:t>Calibrated DT raises p_acb before saturation</a:t>
            </a:r>
            <a:endParaRPr b="0" lang="en-TR" sz="1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97" name="Shape 18"/>
          <p:cNvSpPr/>
          <p:nvPr/>
        </p:nvSpPr>
        <p:spPr>
          <a:xfrm>
            <a:off x="548640" y="6355080"/>
            <a:ext cx="11063880" cy="1044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34200" bIns="-34200" anchor="t">
            <a:noAutofit/>
          </a:bodyPr>
          <a:p>
            <a:endParaRPr b="0" lang="en-TR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98" name="Text 19"/>
          <p:cNvSpPr/>
          <p:nvPr/>
        </p:nvSpPr>
        <p:spPr>
          <a:xfrm>
            <a:off x="548640" y="6446520"/>
            <a:ext cx="731484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00" strike="noStrike" u="none">
                <a:solidFill>
                  <a:srgbClr val="64748b"/>
                </a:solidFill>
                <a:effectLst/>
                <a:uFillTx/>
                <a:latin typeface="Calibri"/>
                <a:ea typeface="Calibri"/>
              </a:rPr>
              <a:t>5G RRC Storm Mitigation  ·  Calibrated Digital Twin</a:t>
            </a:r>
            <a:endParaRPr b="0" lang="en-TR" sz="9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99" name="Text 20"/>
          <p:cNvSpPr/>
          <p:nvPr/>
        </p:nvSpPr>
        <p:spPr>
          <a:xfrm>
            <a:off x="10698480" y="6446520"/>
            <a:ext cx="91404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00" strike="noStrike" u="none">
                <a:solidFill>
                  <a:srgbClr val="64748b"/>
                </a:solidFill>
                <a:effectLst/>
                <a:uFillTx/>
                <a:latin typeface="Calibri"/>
                <a:ea typeface="Calibri"/>
              </a:rPr>
              <a:t>15 / 21</a:t>
            </a:r>
            <a:endParaRPr b="0" lang="en-TR" sz="9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400" name="" descr=""/>
          <p:cNvPicPr/>
          <p:nvPr/>
        </p:nvPicPr>
        <p:blipFill>
          <a:blip r:embed="rId1"/>
          <a:stretch/>
        </p:blipFill>
        <p:spPr>
          <a:xfrm>
            <a:off x="1149120" y="1363320"/>
            <a:ext cx="9893520" cy="380484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1" name="Text 0"/>
          <p:cNvSpPr/>
          <p:nvPr/>
        </p:nvSpPr>
        <p:spPr>
          <a:xfrm>
            <a:off x="548640" y="411480"/>
            <a:ext cx="1097244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00" spc="400" strike="noStrike" u="none">
                <a:solidFill>
                  <a:srgbClr val="f4a11a"/>
                </a:solidFill>
                <a:effectLst/>
                <a:uFillTx/>
                <a:latin typeface="Calibri"/>
                <a:ea typeface="Calibri"/>
              </a:rPr>
              <a:t>RESULT 3</a:t>
            </a:r>
            <a:endParaRPr b="0" lang="en-TR" sz="1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02" name="Text 1"/>
          <p:cNvSpPr/>
          <p:nvPr/>
        </p:nvSpPr>
        <p:spPr>
          <a:xfrm>
            <a:off x="548640" y="713160"/>
            <a:ext cx="10972440" cy="776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3000" strike="noStrike" u="none">
                <a:solidFill>
                  <a:srgbClr val="1a2233"/>
                </a:solidFill>
                <a:effectLst/>
                <a:uFillTx/>
                <a:latin typeface="Cambria"/>
                <a:ea typeface="Cambria"/>
              </a:rPr>
              <a:t>Queueing delay — CDF</a:t>
            </a:r>
            <a:endParaRPr b="0" lang="en-TR" sz="3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03" name="Shape 5"/>
          <p:cNvSpPr/>
          <p:nvPr/>
        </p:nvSpPr>
        <p:spPr>
          <a:xfrm>
            <a:off x="548640" y="5257800"/>
            <a:ext cx="3565800" cy="1051200"/>
          </a:xfrm>
          <a:prstGeom prst="rect">
            <a:avLst/>
          </a:prstGeom>
          <a:solidFill>
            <a:srgbClr val="ffffff"/>
          </a:solidFill>
          <a:ln w="9525">
            <a:solidFill>
              <a:srgbClr val="dce3e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TR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04" name="Shape 6"/>
          <p:cNvSpPr/>
          <p:nvPr/>
        </p:nvSpPr>
        <p:spPr>
          <a:xfrm>
            <a:off x="548640" y="5257800"/>
            <a:ext cx="63720" cy="1051200"/>
          </a:xfrm>
          <a:prstGeom prst="rect">
            <a:avLst/>
          </a:prstGeom>
          <a:solidFill>
            <a:srgbClr val="1c7293"/>
          </a:solidFill>
          <a:ln w="12700">
            <a:solidFill>
              <a:srgbClr val="1c729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TR" sz="18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05" name="Text 7"/>
          <p:cNvSpPr/>
          <p:nvPr/>
        </p:nvSpPr>
        <p:spPr>
          <a:xfrm>
            <a:off x="713160" y="5294520"/>
            <a:ext cx="330984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200" strike="noStrike" u="none">
                <a:solidFill>
                  <a:srgbClr val="1a2233"/>
                </a:solidFill>
                <a:effectLst/>
                <a:uFillTx/>
                <a:latin typeface="Cambria"/>
                <a:ea typeface="Cambria"/>
              </a:rPr>
              <a:t>CDF left-shift</a:t>
            </a:r>
            <a:endParaRPr b="0" lang="en-TR" sz="1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06" name="Text 8"/>
          <p:cNvSpPr/>
          <p:nvPr/>
        </p:nvSpPr>
        <p:spPr>
          <a:xfrm>
            <a:off x="713160" y="5568840"/>
            <a:ext cx="3309840" cy="73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50" strike="noStrike" u="none">
                <a:solidFill>
                  <a:srgbClr val="334155"/>
                </a:solidFill>
                <a:effectLst/>
                <a:uFillTx/>
                <a:latin typeface="Calibri"/>
                <a:ea typeface="Calibri"/>
              </a:rPr>
              <a:t>Calibrated DT curve sits left of the others — lower delay across all reported percentiles.</a:t>
            </a:r>
            <a:endParaRPr b="0" lang="en-TR" sz="105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07" name="Shape 9"/>
          <p:cNvSpPr/>
          <p:nvPr/>
        </p:nvSpPr>
        <p:spPr>
          <a:xfrm>
            <a:off x="4297680" y="5257800"/>
            <a:ext cx="3565800" cy="1051200"/>
          </a:xfrm>
          <a:prstGeom prst="rect">
            <a:avLst/>
          </a:prstGeom>
          <a:solidFill>
            <a:srgbClr val="ffffff"/>
          </a:solidFill>
          <a:ln w="9525">
            <a:solidFill>
              <a:srgbClr val="dce3e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TR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08" name="Shape 10"/>
          <p:cNvSpPr/>
          <p:nvPr/>
        </p:nvSpPr>
        <p:spPr>
          <a:xfrm>
            <a:off x="4297680" y="5257800"/>
            <a:ext cx="63720" cy="1051200"/>
          </a:xfrm>
          <a:prstGeom prst="rect">
            <a:avLst/>
          </a:prstGeom>
          <a:solidFill>
            <a:srgbClr val="0e8a6b"/>
          </a:solidFill>
          <a:ln w="12700">
            <a:solidFill>
              <a:srgbClr val="0e8a6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TR" sz="18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09" name="Text 11"/>
          <p:cNvSpPr/>
          <p:nvPr/>
        </p:nvSpPr>
        <p:spPr>
          <a:xfrm>
            <a:off x="4462200" y="5294520"/>
            <a:ext cx="330984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200" strike="noStrike" u="none">
                <a:solidFill>
                  <a:srgbClr val="1a2233"/>
                </a:solidFill>
                <a:effectLst/>
                <a:uFillTx/>
                <a:latin typeface="Cambria"/>
                <a:ea typeface="Cambria"/>
              </a:rPr>
              <a:t>Tail suppressed</a:t>
            </a:r>
            <a:endParaRPr b="0" lang="en-TR" sz="1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10" name="Text 12"/>
          <p:cNvSpPr/>
          <p:nvPr/>
        </p:nvSpPr>
        <p:spPr>
          <a:xfrm>
            <a:off x="4462200" y="5568840"/>
            <a:ext cx="3309840" cy="73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50" strike="noStrike" u="none">
                <a:solidFill>
                  <a:srgbClr val="334155"/>
                </a:solidFill>
                <a:effectLst/>
                <a:uFillTx/>
                <a:latin typeface="Calibri"/>
                <a:ea typeface="Calibri"/>
              </a:rPr>
              <a:t>P90 / P99 queueing delay roughly halved — critical for URLLC latency budgets.</a:t>
            </a:r>
            <a:endParaRPr b="0" lang="en-TR" sz="105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11" name="Shape 13"/>
          <p:cNvSpPr/>
          <p:nvPr/>
        </p:nvSpPr>
        <p:spPr>
          <a:xfrm>
            <a:off x="8046720" y="5257800"/>
            <a:ext cx="3565800" cy="1051200"/>
          </a:xfrm>
          <a:prstGeom prst="rect">
            <a:avLst/>
          </a:prstGeom>
          <a:solidFill>
            <a:srgbClr val="ffffff"/>
          </a:solidFill>
          <a:ln w="9525">
            <a:solidFill>
              <a:srgbClr val="dce3e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TR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12" name="Shape 14"/>
          <p:cNvSpPr/>
          <p:nvPr/>
        </p:nvSpPr>
        <p:spPr>
          <a:xfrm>
            <a:off x="8046720" y="5257800"/>
            <a:ext cx="63720" cy="1051200"/>
          </a:xfrm>
          <a:prstGeom prst="rect">
            <a:avLst/>
          </a:prstGeom>
          <a:solidFill>
            <a:srgbClr val="f4a11a"/>
          </a:solidFill>
          <a:ln w="12700">
            <a:solidFill>
              <a:srgbClr val="f4a11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TR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13" name="Text 15"/>
          <p:cNvSpPr/>
          <p:nvPr/>
        </p:nvSpPr>
        <p:spPr>
          <a:xfrm>
            <a:off x="8211240" y="5294520"/>
            <a:ext cx="330984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000" spc="300" strike="noStrike" u="none">
                <a:solidFill>
                  <a:srgbClr val="64748b"/>
                </a:solidFill>
                <a:effectLst/>
                <a:uFillTx/>
                <a:latin typeface="Calibri"/>
                <a:ea typeface="Calibri"/>
              </a:rPr>
              <a:t>Mechanism</a:t>
            </a:r>
            <a:endParaRPr b="0" lang="en-TR" sz="1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14" name="Text 16"/>
          <p:cNvSpPr/>
          <p:nvPr/>
        </p:nvSpPr>
        <p:spPr>
          <a:xfrm>
            <a:off x="8211240" y="5550480"/>
            <a:ext cx="3309840" cy="776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marL="343080" indent="-343080" defTabSz="914400">
              <a:lnSpc>
                <a:spcPct val="100000"/>
              </a:lnSpc>
              <a:spcAft>
                <a:spcPts val="201"/>
              </a:spcAft>
              <a:buClr>
                <a:srgbClr val="334155"/>
              </a:buClr>
              <a:buFont typeface="Symbol" charset="2"/>
              <a:buChar char=""/>
            </a:pPr>
            <a:r>
              <a:rPr b="0" lang="en-US" sz="950" strike="noStrike" u="none">
                <a:solidFill>
                  <a:srgbClr val="334155"/>
                </a:solidFill>
                <a:effectLst/>
                <a:uFillTx/>
                <a:latin typeface="Calibri"/>
                <a:ea typeface="Calibri"/>
              </a:rPr>
              <a:t>Reactive admits requests into a deeply loaded queue</a:t>
            </a:r>
            <a:endParaRPr b="0" lang="en-TR" sz="95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spcAft>
                <a:spcPts val="201"/>
              </a:spcAft>
              <a:buClr>
                <a:srgbClr val="334155"/>
              </a:buClr>
              <a:buFont typeface="Symbol" charset="2"/>
              <a:buChar char=""/>
            </a:pPr>
            <a:r>
              <a:rPr b="0" lang="en-US" sz="950" strike="noStrike" u="none">
                <a:solidFill>
                  <a:srgbClr val="334155"/>
                </a:solidFill>
                <a:effectLst/>
                <a:uFillTx/>
                <a:latin typeface="Calibri"/>
                <a:ea typeface="Calibri"/>
              </a:rPr>
              <a:t>Calibrated DT keeps Q_real low → short waits</a:t>
            </a:r>
            <a:endParaRPr b="0" lang="en-TR" sz="95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15" name="Shape 17"/>
          <p:cNvSpPr/>
          <p:nvPr/>
        </p:nvSpPr>
        <p:spPr>
          <a:xfrm>
            <a:off x="548640" y="6355080"/>
            <a:ext cx="11063880" cy="1044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34200" bIns="-34200" anchor="t">
            <a:noAutofit/>
          </a:bodyPr>
          <a:p>
            <a:endParaRPr b="0" lang="en-TR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16" name="Text 18"/>
          <p:cNvSpPr/>
          <p:nvPr/>
        </p:nvSpPr>
        <p:spPr>
          <a:xfrm>
            <a:off x="548640" y="6446520"/>
            <a:ext cx="731484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00" strike="noStrike" u="none">
                <a:solidFill>
                  <a:srgbClr val="64748b"/>
                </a:solidFill>
                <a:effectLst/>
                <a:uFillTx/>
                <a:latin typeface="Calibri"/>
                <a:ea typeface="Calibri"/>
              </a:rPr>
              <a:t>5G RRC Storm Mitigation  ·  Calibrated Digital Twin</a:t>
            </a:r>
            <a:endParaRPr b="0" lang="en-TR" sz="9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17" name="Text 19"/>
          <p:cNvSpPr/>
          <p:nvPr/>
        </p:nvSpPr>
        <p:spPr>
          <a:xfrm>
            <a:off x="10698480" y="6446520"/>
            <a:ext cx="91404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00" strike="noStrike" u="none">
                <a:solidFill>
                  <a:srgbClr val="64748b"/>
                </a:solidFill>
                <a:effectLst/>
                <a:uFillTx/>
                <a:latin typeface="Calibri"/>
                <a:ea typeface="Calibri"/>
              </a:rPr>
              <a:t>16 / 21</a:t>
            </a:r>
            <a:endParaRPr b="0" lang="en-TR" sz="9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418" name="" descr=""/>
          <p:cNvPicPr/>
          <p:nvPr/>
        </p:nvPicPr>
        <p:blipFill>
          <a:blip r:embed="rId1"/>
          <a:stretch/>
        </p:blipFill>
        <p:spPr>
          <a:xfrm>
            <a:off x="1866960" y="1371600"/>
            <a:ext cx="8458200" cy="384408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9" name="Text 0"/>
          <p:cNvSpPr/>
          <p:nvPr/>
        </p:nvSpPr>
        <p:spPr>
          <a:xfrm>
            <a:off x="548640" y="411480"/>
            <a:ext cx="1097244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00" spc="400" strike="noStrike" u="none">
                <a:solidFill>
                  <a:srgbClr val="f4a11a"/>
                </a:solidFill>
                <a:effectLst/>
                <a:uFillTx/>
                <a:latin typeface="Calibri"/>
                <a:ea typeface="Calibri"/>
              </a:rPr>
              <a:t>RESULT 4</a:t>
            </a:r>
            <a:endParaRPr b="0" lang="en-TR" sz="1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20" name="Text 1"/>
          <p:cNvSpPr/>
          <p:nvPr/>
        </p:nvSpPr>
        <p:spPr>
          <a:xfrm>
            <a:off x="548640" y="713160"/>
            <a:ext cx="10972440" cy="776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3000" strike="noStrike" u="none">
                <a:solidFill>
                  <a:srgbClr val="1a2233"/>
                </a:solidFill>
                <a:effectLst/>
                <a:uFillTx/>
                <a:latin typeface="Cambria"/>
                <a:ea typeface="Cambria"/>
              </a:rPr>
              <a:t>ε-sensitivity analysis</a:t>
            </a:r>
            <a:endParaRPr b="0" lang="en-TR" sz="3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21" name="Shape 5"/>
          <p:cNvSpPr/>
          <p:nvPr/>
        </p:nvSpPr>
        <p:spPr>
          <a:xfrm>
            <a:off x="548640" y="5257800"/>
            <a:ext cx="3565800" cy="1051200"/>
          </a:xfrm>
          <a:prstGeom prst="rect">
            <a:avLst/>
          </a:prstGeom>
          <a:solidFill>
            <a:srgbClr val="ffffff"/>
          </a:solidFill>
          <a:ln w="9525">
            <a:solidFill>
              <a:srgbClr val="dce3e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TR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22" name="Shape 6"/>
          <p:cNvSpPr/>
          <p:nvPr/>
        </p:nvSpPr>
        <p:spPr>
          <a:xfrm>
            <a:off x="548640" y="5257800"/>
            <a:ext cx="63720" cy="1051200"/>
          </a:xfrm>
          <a:prstGeom prst="rect">
            <a:avLst/>
          </a:prstGeom>
          <a:solidFill>
            <a:srgbClr val="f4a11a"/>
          </a:solidFill>
          <a:ln w="12700">
            <a:solidFill>
              <a:srgbClr val="f4a11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TR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23" name="Text 7"/>
          <p:cNvSpPr/>
          <p:nvPr/>
        </p:nvSpPr>
        <p:spPr>
          <a:xfrm>
            <a:off x="713160" y="5294520"/>
            <a:ext cx="330984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00" strike="noStrike" u="none">
                <a:solidFill>
                  <a:srgbClr val="065a82"/>
                </a:solidFill>
                <a:effectLst/>
                <a:uFillTx/>
                <a:latin typeface="Cambria"/>
                <a:ea typeface="Cambria"/>
              </a:rPr>
              <a:t>Tested values</a:t>
            </a:r>
            <a:endParaRPr b="0" lang="en-TR" sz="1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24" name="Text 8"/>
          <p:cNvSpPr/>
          <p:nvPr/>
        </p:nvSpPr>
        <p:spPr>
          <a:xfrm>
            <a:off x="713160" y="5586840"/>
            <a:ext cx="3309840" cy="411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400" strike="noStrike" u="none">
                <a:solidFill>
                  <a:srgbClr val="1a2233"/>
                </a:solidFill>
                <a:effectLst/>
                <a:uFillTx/>
                <a:latin typeface="Consolas"/>
                <a:ea typeface="Consolas"/>
              </a:rPr>
              <a:t>ε ∈ { 5, 10, 20, 40, 80 }</a:t>
            </a:r>
            <a:endParaRPr b="0" lang="en-TR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25" name="Text 9"/>
          <p:cNvSpPr/>
          <p:nvPr/>
        </p:nvSpPr>
        <p:spPr>
          <a:xfrm>
            <a:off x="713160" y="6007680"/>
            <a:ext cx="330984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i="1" lang="en-US" sz="950" strike="noStrike" u="none">
                <a:solidFill>
                  <a:srgbClr val="64748b"/>
                </a:solidFill>
                <a:effectLst/>
                <a:uFillTx/>
                <a:latin typeface="Calibri"/>
                <a:ea typeface="Calibri"/>
              </a:rPr>
              <a:t>Single-seed sweep (seed = 42)</a:t>
            </a:r>
            <a:endParaRPr b="0" lang="en-TR" sz="95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26" name="Shape 10"/>
          <p:cNvSpPr/>
          <p:nvPr/>
        </p:nvSpPr>
        <p:spPr>
          <a:xfrm>
            <a:off x="4297680" y="5257800"/>
            <a:ext cx="3565800" cy="1051200"/>
          </a:xfrm>
          <a:prstGeom prst="rect">
            <a:avLst/>
          </a:prstGeom>
          <a:solidFill>
            <a:srgbClr val="ffffff"/>
          </a:solidFill>
          <a:ln w="9525">
            <a:solidFill>
              <a:srgbClr val="dce3e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TR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27" name="Shape 11"/>
          <p:cNvSpPr/>
          <p:nvPr/>
        </p:nvSpPr>
        <p:spPr>
          <a:xfrm>
            <a:off x="4297680" y="5257800"/>
            <a:ext cx="63720" cy="1051200"/>
          </a:xfrm>
          <a:prstGeom prst="rect">
            <a:avLst/>
          </a:prstGeom>
          <a:solidFill>
            <a:srgbClr val="065a82"/>
          </a:solidFill>
          <a:ln w="12700">
            <a:solidFill>
              <a:srgbClr val="065a82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TR" sz="18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28" name="Text 12"/>
          <p:cNvSpPr/>
          <p:nvPr/>
        </p:nvSpPr>
        <p:spPr>
          <a:xfrm>
            <a:off x="4462200" y="5294520"/>
            <a:ext cx="330984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00" strike="noStrike" u="none">
                <a:solidFill>
                  <a:srgbClr val="065a82"/>
                </a:solidFill>
                <a:effectLst/>
                <a:uFillTx/>
                <a:latin typeface="Cambria"/>
                <a:ea typeface="Cambria"/>
              </a:rPr>
              <a:t>Interpretation</a:t>
            </a:r>
            <a:endParaRPr b="0" lang="en-TR" sz="1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29" name="Text 13"/>
          <p:cNvSpPr/>
          <p:nvPr/>
        </p:nvSpPr>
        <p:spPr>
          <a:xfrm>
            <a:off x="4462200" y="5550480"/>
            <a:ext cx="3309840" cy="776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marL="343080" indent="-343080" defTabSz="914400">
              <a:lnSpc>
                <a:spcPct val="100000"/>
              </a:lnSpc>
              <a:spcAft>
                <a:spcPts val="99"/>
              </a:spcAft>
              <a:buClr>
                <a:srgbClr val="334155"/>
              </a:buClr>
              <a:buFont typeface="Symbol" charset="2"/>
              <a:buChar char=""/>
            </a:pPr>
            <a:r>
              <a:rPr b="0" lang="en-US" sz="950" strike="noStrike" u="none">
                <a:solidFill>
                  <a:srgbClr val="334155"/>
                </a:solidFill>
                <a:effectLst/>
                <a:uFillTx/>
                <a:latin typeface="Calibri"/>
                <a:ea typeface="Calibri"/>
              </a:rPr>
              <a:t>ε = 5 → over-calibrates on normal traffic</a:t>
            </a:r>
            <a:endParaRPr b="0" lang="en-TR" sz="95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spcAft>
                <a:spcPts val="99"/>
              </a:spcAft>
              <a:buClr>
                <a:srgbClr val="334155"/>
              </a:buClr>
              <a:buFont typeface="Symbol" charset="2"/>
              <a:buChar char=""/>
            </a:pPr>
            <a:r>
              <a:rPr b="0" lang="en-US" sz="950" strike="noStrike" u="none">
                <a:solidFill>
                  <a:srgbClr val="334155"/>
                </a:solidFill>
                <a:effectLst/>
                <a:uFillTx/>
                <a:latin typeface="Calibri"/>
                <a:ea typeface="Calibri"/>
              </a:rPr>
              <a:t>ε = 80 → calibration rarely triggers</a:t>
            </a:r>
            <a:endParaRPr b="0" lang="en-TR" sz="95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spcAft>
                <a:spcPts val="99"/>
              </a:spcAft>
              <a:buClr>
                <a:srgbClr val="334155"/>
              </a:buClr>
              <a:buFont typeface="Symbol" charset="2"/>
              <a:buChar char=""/>
            </a:pPr>
            <a:r>
              <a:rPr b="0" lang="en-US" sz="950" strike="noStrike" u="none">
                <a:solidFill>
                  <a:srgbClr val="334155"/>
                </a:solidFill>
                <a:effectLst/>
                <a:uFillTx/>
                <a:latin typeface="Calibri"/>
                <a:ea typeface="Calibri"/>
              </a:rPr>
              <a:t>ε = 40 → best composite in this sweep</a:t>
            </a:r>
            <a:endParaRPr b="0" lang="en-TR" sz="95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30" name="Shape 14"/>
          <p:cNvSpPr/>
          <p:nvPr/>
        </p:nvSpPr>
        <p:spPr>
          <a:xfrm>
            <a:off x="8046720" y="5257800"/>
            <a:ext cx="3565800" cy="1051200"/>
          </a:xfrm>
          <a:prstGeom prst="rect">
            <a:avLst/>
          </a:prstGeom>
          <a:solidFill>
            <a:srgbClr val="ffffff"/>
          </a:solidFill>
          <a:ln w="9525">
            <a:solidFill>
              <a:srgbClr val="dce3e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TR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31" name="Shape 15"/>
          <p:cNvSpPr/>
          <p:nvPr/>
        </p:nvSpPr>
        <p:spPr>
          <a:xfrm>
            <a:off x="8046720" y="5257800"/>
            <a:ext cx="63720" cy="1051200"/>
          </a:xfrm>
          <a:prstGeom prst="rect">
            <a:avLst/>
          </a:prstGeom>
          <a:solidFill>
            <a:srgbClr val="0e8a6b"/>
          </a:solidFill>
          <a:ln w="12700">
            <a:solidFill>
              <a:srgbClr val="0e8a6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TR" sz="18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32" name="Text 16"/>
          <p:cNvSpPr/>
          <p:nvPr/>
        </p:nvSpPr>
        <p:spPr>
          <a:xfrm>
            <a:off x="8211240" y="5294520"/>
            <a:ext cx="330984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000" spc="300" strike="noStrike" u="none">
                <a:solidFill>
                  <a:srgbClr val="64748b"/>
                </a:solidFill>
                <a:effectLst/>
                <a:uFillTx/>
                <a:latin typeface="Calibri"/>
                <a:ea typeface="Calibri"/>
              </a:rPr>
              <a:t>Adopted default</a:t>
            </a:r>
            <a:endParaRPr b="0" lang="en-TR" sz="1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33" name="Text 17"/>
          <p:cNvSpPr/>
          <p:nvPr/>
        </p:nvSpPr>
        <p:spPr>
          <a:xfrm>
            <a:off x="8211240" y="5532120"/>
            <a:ext cx="3309840" cy="411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200" strike="noStrike" u="none">
                <a:solidFill>
                  <a:srgbClr val="0e8a6b"/>
                </a:solidFill>
                <a:effectLst/>
                <a:uFillTx/>
                <a:latin typeface="Cambria"/>
                <a:ea typeface="Cambria"/>
              </a:rPr>
              <a:t>ε = 10</a:t>
            </a:r>
            <a:endParaRPr b="0" lang="en-TR" sz="2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34" name="Text 18"/>
          <p:cNvSpPr/>
          <p:nvPr/>
        </p:nvSpPr>
        <p:spPr>
          <a:xfrm>
            <a:off x="8211240" y="5970960"/>
            <a:ext cx="330984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i="1" lang="en-US" sz="1000" strike="noStrike" u="none">
                <a:solidFill>
                  <a:srgbClr val="334155"/>
                </a:solidFill>
                <a:effectLst/>
                <a:uFillTx/>
                <a:latin typeface="Calibri"/>
                <a:ea typeface="Calibri"/>
              </a:rPr>
              <a:t>conservative — just above the normal-traffic noise floor</a:t>
            </a:r>
            <a:endParaRPr b="0" lang="en-TR" sz="1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35" name="Shape 19"/>
          <p:cNvSpPr/>
          <p:nvPr/>
        </p:nvSpPr>
        <p:spPr>
          <a:xfrm>
            <a:off x="548640" y="6355080"/>
            <a:ext cx="11063880" cy="1044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34200" bIns="-34200" anchor="t">
            <a:noAutofit/>
          </a:bodyPr>
          <a:p>
            <a:endParaRPr b="0" lang="en-TR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36" name="Text 20"/>
          <p:cNvSpPr/>
          <p:nvPr/>
        </p:nvSpPr>
        <p:spPr>
          <a:xfrm>
            <a:off x="548640" y="6446520"/>
            <a:ext cx="731484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00" strike="noStrike" u="none">
                <a:solidFill>
                  <a:srgbClr val="64748b"/>
                </a:solidFill>
                <a:effectLst/>
                <a:uFillTx/>
                <a:latin typeface="Calibri"/>
                <a:ea typeface="Calibri"/>
              </a:rPr>
              <a:t>5G RRC Storm Mitigation  ·  Calibrated Digital Twin</a:t>
            </a:r>
            <a:endParaRPr b="0" lang="en-TR" sz="9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37" name="Text 21"/>
          <p:cNvSpPr/>
          <p:nvPr/>
        </p:nvSpPr>
        <p:spPr>
          <a:xfrm>
            <a:off x="10698480" y="6446520"/>
            <a:ext cx="91404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00" strike="noStrike" u="none">
                <a:solidFill>
                  <a:srgbClr val="64748b"/>
                </a:solidFill>
                <a:effectLst/>
                <a:uFillTx/>
                <a:latin typeface="Calibri"/>
                <a:ea typeface="Calibri"/>
              </a:rPr>
              <a:t>17 / 21</a:t>
            </a:r>
            <a:endParaRPr b="0" lang="en-TR" sz="9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438" name="" descr=""/>
          <p:cNvPicPr/>
          <p:nvPr/>
        </p:nvPicPr>
        <p:blipFill>
          <a:blip r:embed="rId1"/>
          <a:stretch/>
        </p:blipFill>
        <p:spPr>
          <a:xfrm>
            <a:off x="0" y="1371600"/>
            <a:ext cx="12191760" cy="348300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9" name="Text 0"/>
          <p:cNvSpPr/>
          <p:nvPr/>
        </p:nvSpPr>
        <p:spPr>
          <a:xfrm>
            <a:off x="548640" y="411480"/>
            <a:ext cx="1097244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00" spc="400" strike="noStrike" u="none">
                <a:solidFill>
                  <a:srgbClr val="f4a11a"/>
                </a:solidFill>
                <a:effectLst/>
                <a:uFillTx/>
                <a:latin typeface="Calibri"/>
                <a:ea typeface="Calibri"/>
              </a:rPr>
              <a:t>DEPLOYMENT</a:t>
            </a:r>
            <a:endParaRPr b="0" lang="en-TR" sz="1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40" name="Text 1"/>
          <p:cNvSpPr/>
          <p:nvPr/>
        </p:nvSpPr>
        <p:spPr>
          <a:xfrm>
            <a:off x="548640" y="713160"/>
            <a:ext cx="10972440" cy="776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3000" strike="noStrike" u="none">
                <a:solidFill>
                  <a:srgbClr val="1a2233"/>
                </a:solidFill>
                <a:effectLst/>
                <a:uFillTx/>
                <a:latin typeface="Cambria"/>
                <a:ea typeface="Cambria"/>
              </a:rPr>
              <a:t>O(1) complexity and O-RAN integration</a:t>
            </a:r>
            <a:endParaRPr b="0" lang="en-TR" sz="3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41" name="Shape 2"/>
          <p:cNvSpPr/>
          <p:nvPr/>
        </p:nvSpPr>
        <p:spPr>
          <a:xfrm>
            <a:off x="548640" y="1600200"/>
            <a:ext cx="5943240" cy="4525920"/>
          </a:xfrm>
          <a:prstGeom prst="rect">
            <a:avLst/>
          </a:prstGeom>
          <a:solidFill>
            <a:srgbClr val="ffffff"/>
          </a:solidFill>
          <a:ln w="9525">
            <a:solidFill>
              <a:srgbClr val="dce3e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TR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42" name="Text 3"/>
          <p:cNvSpPr/>
          <p:nvPr/>
        </p:nvSpPr>
        <p:spPr>
          <a:xfrm>
            <a:off x="822960" y="1737360"/>
            <a:ext cx="548604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400" strike="noStrike" u="none">
                <a:solidFill>
                  <a:srgbClr val="1a2233"/>
                </a:solidFill>
                <a:effectLst/>
                <a:uFillTx/>
                <a:latin typeface="Cambria"/>
                <a:ea typeface="Cambria"/>
              </a:rPr>
              <a:t>O-RAN integration</a:t>
            </a:r>
            <a:endParaRPr b="0" lang="en-TR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43" name="Shape 4"/>
          <p:cNvSpPr/>
          <p:nvPr/>
        </p:nvSpPr>
        <p:spPr>
          <a:xfrm>
            <a:off x="1005840" y="2240280"/>
            <a:ext cx="5028840" cy="868320"/>
          </a:xfrm>
          <a:prstGeom prst="roundRect">
            <a:avLst>
              <a:gd name="adj" fmla="val 8421"/>
            </a:avLst>
          </a:prstGeom>
          <a:solidFill>
            <a:srgbClr val="0b1e3f"/>
          </a:solidFill>
          <a:ln w="12700">
            <a:solidFill>
              <a:srgbClr val="0b1e3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TR" sz="18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44" name="Text 5"/>
          <p:cNvSpPr/>
          <p:nvPr/>
        </p:nvSpPr>
        <p:spPr>
          <a:xfrm>
            <a:off x="1005840" y="2240280"/>
            <a:ext cx="5028840" cy="868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400" strike="noStrike" u="non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Non-RT RIC</a:t>
            </a:r>
            <a:endParaRPr b="0" lang="en-TR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100" strike="noStrike" u="none">
                <a:solidFill>
                  <a:srgbClr val="cfe2f3"/>
                </a:solidFill>
                <a:effectLst/>
                <a:uFillTx/>
                <a:latin typeface="Calibri"/>
                <a:ea typeface="Calibri"/>
              </a:rPr>
              <a:t>policy: ε, δ⁺, δ⁻</a:t>
            </a:r>
            <a:endParaRPr b="0" lang="en-TR" sz="1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45" name="Shape 6"/>
          <p:cNvSpPr/>
          <p:nvPr/>
        </p:nvSpPr>
        <p:spPr>
          <a:xfrm>
            <a:off x="3520440" y="3108960"/>
            <a:ext cx="360" cy="411480"/>
          </a:xfrm>
          <a:prstGeom prst="line">
            <a:avLst/>
          </a:prstGeom>
          <a:ln w="31750">
            <a:solidFill>
              <a:srgbClr val="065a82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TR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46" name="Text 7"/>
          <p:cNvSpPr/>
          <p:nvPr/>
        </p:nvSpPr>
        <p:spPr>
          <a:xfrm>
            <a:off x="3611880" y="3154680"/>
            <a:ext cx="91404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00" strike="noStrike" u="none">
                <a:solidFill>
                  <a:srgbClr val="065a82"/>
                </a:solidFill>
                <a:effectLst/>
                <a:uFillTx/>
                <a:latin typeface="Consolas"/>
                <a:ea typeface="Consolas"/>
              </a:rPr>
              <a:t>A1</a:t>
            </a:r>
            <a:endParaRPr b="0" lang="en-TR" sz="1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47" name="Shape 8"/>
          <p:cNvSpPr/>
          <p:nvPr/>
        </p:nvSpPr>
        <p:spPr>
          <a:xfrm>
            <a:off x="1005840" y="3520440"/>
            <a:ext cx="5028840" cy="868320"/>
          </a:xfrm>
          <a:prstGeom prst="roundRect">
            <a:avLst>
              <a:gd name="adj" fmla="val 8421"/>
            </a:avLst>
          </a:prstGeom>
          <a:solidFill>
            <a:srgbClr val="065a82"/>
          </a:solidFill>
          <a:ln w="12700">
            <a:solidFill>
              <a:srgbClr val="065a82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TR" sz="18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48" name="Text 9"/>
          <p:cNvSpPr/>
          <p:nvPr/>
        </p:nvSpPr>
        <p:spPr>
          <a:xfrm>
            <a:off x="1005840" y="3520440"/>
            <a:ext cx="5028840" cy="868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400" strike="noStrike" u="non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Near-RT RIC</a:t>
            </a:r>
            <a:endParaRPr b="0" lang="en-TR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100" strike="noStrike" u="none">
                <a:solidFill>
                  <a:srgbClr val="cfe2f3"/>
                </a:solidFill>
                <a:effectLst/>
                <a:uFillTx/>
                <a:latin typeface="Calibri"/>
                <a:ea typeface="Calibri"/>
              </a:rPr>
              <a:t>xApp running Algorithm 1</a:t>
            </a:r>
            <a:endParaRPr b="0" lang="en-TR" sz="1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49" name="Shape 10"/>
          <p:cNvSpPr/>
          <p:nvPr/>
        </p:nvSpPr>
        <p:spPr>
          <a:xfrm>
            <a:off x="3154680" y="4389120"/>
            <a:ext cx="360" cy="594360"/>
          </a:xfrm>
          <a:prstGeom prst="line">
            <a:avLst/>
          </a:prstGeom>
          <a:ln w="31750">
            <a:solidFill>
              <a:srgbClr val="1c7293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TR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50" name="Text 11"/>
          <p:cNvSpPr/>
          <p:nvPr/>
        </p:nvSpPr>
        <p:spPr>
          <a:xfrm>
            <a:off x="1280160" y="4480560"/>
            <a:ext cx="155412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050" strike="noStrike" u="none">
                <a:solidFill>
                  <a:srgbClr val="1c7293"/>
                </a:solidFill>
                <a:effectLst/>
                <a:uFillTx/>
                <a:latin typeface="Consolas"/>
                <a:ea typeface="Consolas"/>
              </a:rPr>
              <a:t>E2SM-RC</a:t>
            </a:r>
            <a:endParaRPr b="0" lang="en-TR" sz="105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51" name="Shape 12"/>
          <p:cNvSpPr/>
          <p:nvPr/>
        </p:nvSpPr>
        <p:spPr>
          <a:xfrm flipV="1">
            <a:off x="3886200" y="4389120"/>
            <a:ext cx="360" cy="594360"/>
          </a:xfrm>
          <a:prstGeom prst="line">
            <a:avLst/>
          </a:prstGeom>
          <a:ln w="25400">
            <a:solidFill>
              <a:srgbClr val="64748b"/>
            </a:solidFill>
            <a:prstDash val="dash"/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TR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52" name="Text 13"/>
          <p:cNvSpPr/>
          <p:nvPr/>
        </p:nvSpPr>
        <p:spPr>
          <a:xfrm>
            <a:off x="4069080" y="4480560"/>
            <a:ext cx="155412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i="1" lang="en-US" sz="1050" strike="noStrike" u="none">
                <a:solidFill>
                  <a:srgbClr val="64748b"/>
                </a:solidFill>
                <a:effectLst/>
                <a:uFillTx/>
                <a:latin typeface="Consolas"/>
                <a:ea typeface="Consolas"/>
              </a:rPr>
              <a:t>E2SM-KPM</a:t>
            </a:r>
            <a:endParaRPr b="0" lang="en-TR" sz="105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53" name="Shape 14"/>
          <p:cNvSpPr/>
          <p:nvPr/>
        </p:nvSpPr>
        <p:spPr>
          <a:xfrm>
            <a:off x="1005840" y="4983480"/>
            <a:ext cx="5028840" cy="868320"/>
          </a:xfrm>
          <a:prstGeom prst="roundRect">
            <a:avLst>
              <a:gd name="adj" fmla="val 8421"/>
            </a:avLst>
          </a:prstGeom>
          <a:solidFill>
            <a:srgbClr val="1c7293"/>
          </a:solidFill>
          <a:ln w="12700">
            <a:solidFill>
              <a:srgbClr val="1c729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TR" sz="18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54" name="Text 15"/>
          <p:cNvSpPr/>
          <p:nvPr/>
        </p:nvSpPr>
        <p:spPr>
          <a:xfrm>
            <a:off x="1005840" y="4983480"/>
            <a:ext cx="5028840" cy="868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400" strike="noStrike" u="non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gNB CU-CP</a:t>
            </a:r>
            <a:endParaRPr b="0" lang="en-TR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100" strike="noStrike" u="none">
                <a:solidFill>
                  <a:srgbClr val="e0f2f7"/>
                </a:solidFill>
                <a:effectLst/>
                <a:uFillTx/>
                <a:latin typeface="Calibri"/>
                <a:ea typeface="Calibri"/>
              </a:rPr>
              <a:t>SIB1 uac-BarringInfo</a:t>
            </a:r>
            <a:endParaRPr b="0" lang="en-TR" sz="1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55" name="Shape 16"/>
          <p:cNvSpPr/>
          <p:nvPr/>
        </p:nvSpPr>
        <p:spPr>
          <a:xfrm>
            <a:off x="6720840" y="1600200"/>
            <a:ext cx="5074560" cy="4525920"/>
          </a:xfrm>
          <a:prstGeom prst="rect">
            <a:avLst/>
          </a:prstGeom>
          <a:solidFill>
            <a:srgbClr val="ffffff"/>
          </a:solidFill>
          <a:ln w="9525">
            <a:solidFill>
              <a:srgbClr val="dce3e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TR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56" name="Shape 17"/>
          <p:cNvSpPr/>
          <p:nvPr/>
        </p:nvSpPr>
        <p:spPr>
          <a:xfrm>
            <a:off x="6720840" y="1600200"/>
            <a:ext cx="63720" cy="4525920"/>
          </a:xfrm>
          <a:prstGeom prst="rect">
            <a:avLst/>
          </a:prstGeom>
          <a:solidFill>
            <a:srgbClr val="f4a11a"/>
          </a:solidFill>
          <a:ln w="12700">
            <a:solidFill>
              <a:srgbClr val="f4a11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TR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457" name="Image 0" descr="preencoded.png"/>
          <p:cNvPicPr/>
          <p:nvPr/>
        </p:nvPicPr>
        <p:blipFill>
          <a:blip r:embed="rId1"/>
          <a:stretch/>
        </p:blipFill>
        <p:spPr>
          <a:xfrm>
            <a:off x="6995160" y="1783080"/>
            <a:ext cx="365400" cy="3654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458" name="Text 18"/>
          <p:cNvSpPr/>
          <p:nvPr/>
        </p:nvSpPr>
        <p:spPr>
          <a:xfrm>
            <a:off x="7498080" y="1783080"/>
            <a:ext cx="416016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400" strike="noStrike" u="none">
                <a:solidFill>
                  <a:srgbClr val="1a2233"/>
                </a:solidFill>
                <a:effectLst/>
                <a:uFillTx/>
                <a:latin typeface="Cambria"/>
                <a:ea typeface="Cambria"/>
              </a:rPr>
              <a:t>Deployment notes</a:t>
            </a:r>
            <a:endParaRPr b="0" lang="en-TR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59" name="Text 19"/>
          <p:cNvSpPr/>
          <p:nvPr/>
        </p:nvSpPr>
        <p:spPr>
          <a:xfrm>
            <a:off x="6995160" y="2377440"/>
            <a:ext cx="4525920" cy="2742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marL="343080" indent="-343080" defTabSz="914400">
              <a:lnSpc>
                <a:spcPct val="100000"/>
              </a:lnSpc>
              <a:spcAft>
                <a:spcPts val="601"/>
              </a:spcAft>
              <a:buClr>
                <a:srgbClr val="334155"/>
              </a:buClr>
              <a:buFont typeface="Symbol" charset="2"/>
              <a:buChar char=""/>
            </a:pPr>
            <a:r>
              <a:rPr b="0" lang="en-US" sz="1250" strike="noStrike" u="none">
                <a:solidFill>
                  <a:srgbClr val="334155"/>
                </a:solidFill>
                <a:effectLst/>
                <a:uFillTx/>
                <a:latin typeface="Calibri"/>
                <a:ea typeface="Calibri"/>
              </a:rPr>
              <a:t>Δ = 1 s fits Near-RT RIC range (10 ms – 1 s)</a:t>
            </a:r>
            <a:endParaRPr b="0" lang="en-TR" sz="125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spcAft>
                <a:spcPts val="601"/>
              </a:spcAft>
              <a:buClr>
                <a:srgbClr val="334155"/>
              </a:buClr>
              <a:buFont typeface="Symbol" charset="2"/>
              <a:buChar char=""/>
            </a:pPr>
            <a:r>
              <a:rPr b="0" lang="en-US" sz="1250" strike="noStrike" u="none">
                <a:solidFill>
                  <a:srgbClr val="334155"/>
                </a:solidFill>
                <a:effectLst/>
                <a:uFillTx/>
                <a:latin typeface="Calibri"/>
                <a:ea typeface="Calibri"/>
              </a:rPr>
              <a:t>No protocol modifications required</a:t>
            </a:r>
            <a:endParaRPr b="0" lang="en-TR" sz="125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spcAft>
                <a:spcPts val="601"/>
              </a:spcAft>
              <a:buClr>
                <a:srgbClr val="334155"/>
              </a:buClr>
              <a:buFont typeface="Symbol" charset="2"/>
              <a:buChar char=""/>
            </a:pPr>
            <a:r>
              <a:rPr b="0" lang="en-US" sz="1250" strike="noStrike" u="none">
                <a:solidFill>
                  <a:srgbClr val="334155"/>
                </a:solidFill>
                <a:effectLst/>
                <a:uFillTx/>
                <a:latin typeface="Calibri"/>
                <a:ea typeface="Calibri"/>
              </a:rPr>
              <a:t>Vendor-independent xApp — standard E2 service models</a:t>
            </a:r>
            <a:endParaRPr b="0" lang="en-TR" sz="125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spcAft>
                <a:spcPts val="601"/>
              </a:spcAft>
              <a:buClr>
                <a:srgbClr val="334155"/>
              </a:buClr>
              <a:buFont typeface="Symbol" charset="2"/>
              <a:buChar char=""/>
            </a:pPr>
            <a:r>
              <a:rPr b="0" lang="en-US" sz="1250" strike="noStrike" u="none">
                <a:solidFill>
                  <a:srgbClr val="334155"/>
                </a:solidFill>
                <a:effectLst/>
                <a:uFillTx/>
                <a:latin typeface="Calibri"/>
                <a:ea typeface="Calibri"/>
              </a:rPr>
              <a:t>O(1) per step — fixed-cost arithmetic, suitable for tight gNB control budgets after hardware benchmarking</a:t>
            </a:r>
            <a:endParaRPr b="0" lang="en-TR" sz="125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60" name="Shape 20"/>
          <p:cNvSpPr/>
          <p:nvPr/>
        </p:nvSpPr>
        <p:spPr>
          <a:xfrm>
            <a:off x="6995160" y="5303520"/>
            <a:ext cx="4525920" cy="639720"/>
          </a:xfrm>
          <a:prstGeom prst="rect">
            <a:avLst/>
          </a:prstGeom>
          <a:solidFill>
            <a:srgbClr val="e8f5ef"/>
          </a:solidFill>
          <a:ln w="12700">
            <a:solidFill>
              <a:srgbClr val="0e8a6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TR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61" name="Text 21"/>
          <p:cNvSpPr/>
          <p:nvPr/>
        </p:nvSpPr>
        <p:spPr>
          <a:xfrm>
            <a:off x="7132320" y="5303520"/>
            <a:ext cx="4251600" cy="63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i="1" lang="en-US" sz="1150" strike="noStrike" u="none">
                <a:solidFill>
                  <a:srgbClr val="1a2233"/>
                </a:solidFill>
                <a:effectLst/>
                <a:uFillTx/>
                <a:latin typeface="Calibri"/>
                <a:ea typeface="Calibri"/>
              </a:rPr>
              <a:t>Calibrated DT runs in μs vs. ms-class DNN inference — practical for commercial gNB software.</a:t>
            </a:r>
            <a:endParaRPr b="0" lang="en-TR" sz="115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62" name="Shape 22"/>
          <p:cNvSpPr/>
          <p:nvPr/>
        </p:nvSpPr>
        <p:spPr>
          <a:xfrm>
            <a:off x="548640" y="6355080"/>
            <a:ext cx="11063880" cy="1044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34200" bIns="-34200" anchor="t">
            <a:noAutofit/>
          </a:bodyPr>
          <a:p>
            <a:endParaRPr b="0" lang="en-TR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63" name="Text 23"/>
          <p:cNvSpPr/>
          <p:nvPr/>
        </p:nvSpPr>
        <p:spPr>
          <a:xfrm>
            <a:off x="548640" y="6446520"/>
            <a:ext cx="731484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00" strike="noStrike" u="none">
                <a:solidFill>
                  <a:srgbClr val="64748b"/>
                </a:solidFill>
                <a:effectLst/>
                <a:uFillTx/>
                <a:latin typeface="Calibri"/>
                <a:ea typeface="Calibri"/>
              </a:rPr>
              <a:t>5G RRC Storm Mitigation  ·  Calibrated Digital Twin</a:t>
            </a:r>
            <a:endParaRPr b="0" lang="en-TR" sz="9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64" name="Text 24"/>
          <p:cNvSpPr/>
          <p:nvPr/>
        </p:nvSpPr>
        <p:spPr>
          <a:xfrm>
            <a:off x="10698480" y="6446520"/>
            <a:ext cx="91404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00" strike="noStrike" u="none">
                <a:solidFill>
                  <a:srgbClr val="64748b"/>
                </a:solidFill>
                <a:effectLst/>
                <a:uFillTx/>
                <a:latin typeface="Calibri"/>
                <a:ea typeface="Calibri"/>
              </a:rPr>
              <a:t>18 / 21</a:t>
            </a:r>
            <a:endParaRPr b="0" lang="en-TR" sz="9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5" name="Text 0"/>
          <p:cNvSpPr/>
          <p:nvPr/>
        </p:nvSpPr>
        <p:spPr>
          <a:xfrm>
            <a:off x="548640" y="411480"/>
            <a:ext cx="1097244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00" spc="400" strike="noStrike" u="none">
                <a:solidFill>
                  <a:srgbClr val="f4a11a"/>
                </a:solidFill>
                <a:effectLst/>
                <a:uFillTx/>
                <a:latin typeface="Calibri"/>
                <a:ea typeface="Calibri"/>
              </a:rPr>
              <a:t>CONCLUSION</a:t>
            </a:r>
            <a:endParaRPr b="0" lang="en-TR" sz="1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66" name="Text 1"/>
          <p:cNvSpPr/>
          <p:nvPr/>
        </p:nvSpPr>
        <p:spPr>
          <a:xfrm>
            <a:off x="548640" y="713160"/>
            <a:ext cx="10972440" cy="776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3000" strike="noStrike" u="none">
                <a:solidFill>
                  <a:srgbClr val="1a2233"/>
                </a:solidFill>
                <a:effectLst/>
                <a:uFillTx/>
                <a:latin typeface="Cambria"/>
                <a:ea typeface="Cambria"/>
              </a:rPr>
              <a:t>Findings and future work</a:t>
            </a:r>
            <a:endParaRPr b="0" lang="en-TR" sz="3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67" name="Shape 2"/>
          <p:cNvSpPr/>
          <p:nvPr/>
        </p:nvSpPr>
        <p:spPr>
          <a:xfrm>
            <a:off x="548640" y="1600200"/>
            <a:ext cx="3611520" cy="1416960"/>
          </a:xfrm>
          <a:prstGeom prst="rect">
            <a:avLst/>
          </a:prstGeom>
          <a:solidFill>
            <a:srgbClr val="ffffff"/>
          </a:solidFill>
          <a:ln w="9525">
            <a:solidFill>
              <a:srgbClr val="dce3e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TR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68" name="Shape 3"/>
          <p:cNvSpPr/>
          <p:nvPr/>
        </p:nvSpPr>
        <p:spPr>
          <a:xfrm>
            <a:off x="548640" y="1600200"/>
            <a:ext cx="63720" cy="1416960"/>
          </a:xfrm>
          <a:prstGeom prst="rect">
            <a:avLst/>
          </a:prstGeom>
          <a:solidFill>
            <a:srgbClr val="0e8a6b"/>
          </a:solidFill>
          <a:ln w="12700">
            <a:solidFill>
              <a:srgbClr val="0e8a6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TR" sz="18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69" name="Text 4"/>
          <p:cNvSpPr/>
          <p:nvPr/>
        </p:nvSpPr>
        <p:spPr>
          <a:xfrm>
            <a:off x="777240" y="1691640"/>
            <a:ext cx="3245760" cy="63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3000" strike="noStrike" u="none">
                <a:solidFill>
                  <a:srgbClr val="0e8a6b"/>
                </a:solidFill>
                <a:effectLst/>
                <a:uFillTx/>
                <a:latin typeface="Cambria"/>
                <a:ea typeface="Cambria"/>
              </a:rPr>
              <a:t>42 %</a:t>
            </a:r>
            <a:endParaRPr b="0" lang="en-TR" sz="3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70" name="Text 5"/>
          <p:cNvSpPr/>
          <p:nvPr/>
        </p:nvSpPr>
        <p:spPr>
          <a:xfrm>
            <a:off x="777240" y="2377440"/>
            <a:ext cx="3245760" cy="594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150" strike="noStrike" u="none">
                <a:solidFill>
                  <a:srgbClr val="334155"/>
                </a:solidFill>
                <a:effectLst/>
                <a:uFillTx/>
                <a:latin typeface="Calibri"/>
                <a:ea typeface="Calibri"/>
              </a:rPr>
              <a:t>reduction in state-mirroring error vs. uncalibrated DT</a:t>
            </a:r>
            <a:endParaRPr b="0" lang="en-TR" sz="115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71" name="Shape 6"/>
          <p:cNvSpPr/>
          <p:nvPr/>
        </p:nvSpPr>
        <p:spPr>
          <a:xfrm>
            <a:off x="4434840" y="1600200"/>
            <a:ext cx="3611520" cy="1416960"/>
          </a:xfrm>
          <a:prstGeom prst="rect">
            <a:avLst/>
          </a:prstGeom>
          <a:solidFill>
            <a:srgbClr val="ffffff"/>
          </a:solidFill>
          <a:ln w="9525">
            <a:solidFill>
              <a:srgbClr val="dce3e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TR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72" name="Shape 7"/>
          <p:cNvSpPr/>
          <p:nvPr/>
        </p:nvSpPr>
        <p:spPr>
          <a:xfrm>
            <a:off x="4434840" y="1600200"/>
            <a:ext cx="63720" cy="1416960"/>
          </a:xfrm>
          <a:prstGeom prst="rect">
            <a:avLst/>
          </a:prstGeom>
          <a:solidFill>
            <a:srgbClr val="065a82"/>
          </a:solidFill>
          <a:ln w="12700">
            <a:solidFill>
              <a:srgbClr val="065a82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TR" sz="18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73" name="Text 8"/>
          <p:cNvSpPr/>
          <p:nvPr/>
        </p:nvSpPr>
        <p:spPr>
          <a:xfrm>
            <a:off x="4663440" y="1691640"/>
            <a:ext cx="3245760" cy="63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3000" strike="noStrike" u="none">
                <a:solidFill>
                  <a:srgbClr val="065a82"/>
                </a:solidFill>
                <a:effectLst/>
                <a:uFillTx/>
                <a:latin typeface="Cambria"/>
                <a:ea typeface="Cambria"/>
              </a:rPr>
              <a:t>≈</a:t>
            </a:r>
            <a:endParaRPr b="0" lang="en-TR" sz="3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74" name="Text 9"/>
          <p:cNvSpPr/>
          <p:nvPr/>
        </p:nvSpPr>
        <p:spPr>
          <a:xfrm>
            <a:off x="4663440" y="2377440"/>
            <a:ext cx="3245760" cy="594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150" strike="noStrike" u="none">
                <a:solidFill>
                  <a:srgbClr val="334155"/>
                </a:solidFill>
                <a:effectLst/>
                <a:uFillTx/>
                <a:latin typeface="Calibri"/>
                <a:ea typeface="Calibri"/>
              </a:rPr>
              <a:t>P_success statistically equivalent to baseline; P90/P99 delay reduced</a:t>
            </a:r>
            <a:endParaRPr b="0" lang="en-TR" sz="115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75" name="Shape 10"/>
          <p:cNvSpPr/>
          <p:nvPr/>
        </p:nvSpPr>
        <p:spPr>
          <a:xfrm>
            <a:off x="8321040" y="1600200"/>
            <a:ext cx="3611520" cy="1416960"/>
          </a:xfrm>
          <a:prstGeom prst="rect">
            <a:avLst/>
          </a:prstGeom>
          <a:solidFill>
            <a:srgbClr val="ffffff"/>
          </a:solidFill>
          <a:ln w="9525">
            <a:solidFill>
              <a:srgbClr val="dce3e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TR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76" name="Shape 11"/>
          <p:cNvSpPr/>
          <p:nvPr/>
        </p:nvSpPr>
        <p:spPr>
          <a:xfrm>
            <a:off x="8321040" y="1600200"/>
            <a:ext cx="63720" cy="1416960"/>
          </a:xfrm>
          <a:prstGeom prst="rect">
            <a:avLst/>
          </a:prstGeom>
          <a:solidFill>
            <a:srgbClr val="f4a11a"/>
          </a:solidFill>
          <a:ln w="12700">
            <a:solidFill>
              <a:srgbClr val="f4a11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TR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77" name="Text 12"/>
          <p:cNvSpPr/>
          <p:nvPr/>
        </p:nvSpPr>
        <p:spPr>
          <a:xfrm>
            <a:off x="8549640" y="1691640"/>
            <a:ext cx="3245760" cy="63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3000" strike="noStrike" u="none">
                <a:solidFill>
                  <a:srgbClr val="f4a11a"/>
                </a:solidFill>
                <a:effectLst/>
                <a:uFillTx/>
                <a:latin typeface="Cambria"/>
                <a:ea typeface="Cambria"/>
              </a:rPr>
              <a:t>O(1)</a:t>
            </a:r>
            <a:endParaRPr b="0" lang="en-TR" sz="3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78" name="Text 13"/>
          <p:cNvSpPr/>
          <p:nvPr/>
        </p:nvSpPr>
        <p:spPr>
          <a:xfrm>
            <a:off x="8549640" y="2377440"/>
            <a:ext cx="3245760" cy="594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150" strike="noStrike" u="none">
                <a:solidFill>
                  <a:srgbClr val="334155"/>
                </a:solidFill>
                <a:effectLst/>
                <a:uFillTx/>
                <a:latin typeface="Calibri"/>
                <a:ea typeface="Calibri"/>
              </a:rPr>
              <a:t>deployable in commercial gNB software via O-RAN xApp</a:t>
            </a:r>
            <a:endParaRPr b="0" lang="en-TR" sz="115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79" name="Shape 14"/>
          <p:cNvSpPr/>
          <p:nvPr/>
        </p:nvSpPr>
        <p:spPr>
          <a:xfrm>
            <a:off x="548640" y="3200400"/>
            <a:ext cx="11063880" cy="731160"/>
          </a:xfrm>
          <a:prstGeom prst="rect">
            <a:avLst/>
          </a:prstGeom>
          <a:solidFill>
            <a:srgbClr val="0b1e3f"/>
          </a:solidFill>
          <a:ln w="12700">
            <a:solidFill>
              <a:srgbClr val="0b1e3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TR" sz="18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480" name="Image 0" descr="preencoded.png"/>
          <p:cNvPicPr/>
          <p:nvPr/>
        </p:nvPicPr>
        <p:blipFill>
          <a:blip r:embed="rId1"/>
          <a:stretch/>
        </p:blipFill>
        <p:spPr>
          <a:xfrm>
            <a:off x="713160" y="3337560"/>
            <a:ext cx="456840" cy="4568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481" name="Text 15"/>
          <p:cNvSpPr/>
          <p:nvPr/>
        </p:nvSpPr>
        <p:spPr>
          <a:xfrm>
            <a:off x="1280160" y="3200400"/>
            <a:ext cx="10240920" cy="73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i="1" lang="en-US" sz="1300" strike="noStrike" u="non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Proactive control in non-stationary 5G environments requires both a sound control policy and tight virtual-physical alignment.</a:t>
            </a:r>
            <a:endParaRPr b="0" lang="en-TR" sz="13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82" name="Shape 16"/>
          <p:cNvSpPr/>
          <p:nvPr/>
        </p:nvSpPr>
        <p:spPr>
          <a:xfrm>
            <a:off x="548640" y="4160520"/>
            <a:ext cx="5486040" cy="1965600"/>
          </a:xfrm>
          <a:prstGeom prst="rect">
            <a:avLst/>
          </a:prstGeom>
          <a:solidFill>
            <a:srgbClr val="ffffff"/>
          </a:solidFill>
          <a:ln w="9525">
            <a:solidFill>
              <a:srgbClr val="dce3e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TR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83" name="Shape 17"/>
          <p:cNvSpPr/>
          <p:nvPr/>
        </p:nvSpPr>
        <p:spPr>
          <a:xfrm>
            <a:off x="548640" y="4160520"/>
            <a:ext cx="63720" cy="1965600"/>
          </a:xfrm>
          <a:prstGeom prst="rect">
            <a:avLst/>
          </a:prstGeom>
          <a:solidFill>
            <a:srgbClr val="1c7293"/>
          </a:solidFill>
          <a:ln w="12700">
            <a:solidFill>
              <a:srgbClr val="1c729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TR" sz="18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84" name="Text 18"/>
          <p:cNvSpPr/>
          <p:nvPr/>
        </p:nvSpPr>
        <p:spPr>
          <a:xfrm>
            <a:off x="777240" y="4297680"/>
            <a:ext cx="512028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400" strike="noStrike" u="none">
                <a:solidFill>
                  <a:srgbClr val="1a2233"/>
                </a:solidFill>
                <a:effectLst/>
                <a:uFillTx/>
                <a:latin typeface="Cambria"/>
                <a:ea typeface="Cambria"/>
              </a:rPr>
              <a:t>Multi-cell extension</a:t>
            </a:r>
            <a:endParaRPr b="0" lang="en-TR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85" name="Text 19"/>
          <p:cNvSpPr/>
          <p:nvPr/>
        </p:nvSpPr>
        <p:spPr>
          <a:xfrm>
            <a:off x="777240" y="4709160"/>
            <a:ext cx="5120280" cy="1371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150" strike="noStrike" u="none">
                <a:solidFill>
                  <a:srgbClr val="334155"/>
                </a:solidFill>
                <a:effectLst/>
                <a:uFillTx/>
                <a:latin typeface="Calibri"/>
                <a:ea typeface="Calibri"/>
              </a:rPr>
              <a:t>Current model treats one gNB cell independently. Real deployments involve handover correlations and inter-cell interference — a distributed DT with inter-cell state sharing is required.</a:t>
            </a:r>
            <a:endParaRPr b="0" lang="en-TR" sz="115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86" name="Shape 20"/>
          <p:cNvSpPr/>
          <p:nvPr/>
        </p:nvSpPr>
        <p:spPr>
          <a:xfrm>
            <a:off x="6263640" y="4160520"/>
            <a:ext cx="5486040" cy="1965600"/>
          </a:xfrm>
          <a:prstGeom prst="rect">
            <a:avLst/>
          </a:prstGeom>
          <a:solidFill>
            <a:srgbClr val="ffffff"/>
          </a:solidFill>
          <a:ln w="9525">
            <a:solidFill>
              <a:srgbClr val="dce3e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TR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87" name="Shape 21"/>
          <p:cNvSpPr/>
          <p:nvPr/>
        </p:nvSpPr>
        <p:spPr>
          <a:xfrm>
            <a:off x="6263640" y="4160520"/>
            <a:ext cx="63720" cy="1965600"/>
          </a:xfrm>
          <a:prstGeom prst="rect">
            <a:avLst/>
          </a:prstGeom>
          <a:solidFill>
            <a:srgbClr val="f4a11a"/>
          </a:solidFill>
          <a:ln w="12700">
            <a:solidFill>
              <a:srgbClr val="f4a11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TR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88" name="Text 22"/>
          <p:cNvSpPr/>
          <p:nvPr/>
        </p:nvSpPr>
        <p:spPr>
          <a:xfrm>
            <a:off x="6492240" y="4297680"/>
            <a:ext cx="512028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400" strike="noStrike" u="none">
                <a:solidFill>
                  <a:srgbClr val="1a2233"/>
                </a:solidFill>
                <a:effectLst/>
                <a:uFillTx/>
                <a:latin typeface="Cambria"/>
                <a:ea typeface="Cambria"/>
              </a:rPr>
              <a:t>RL-based calibration</a:t>
            </a:r>
            <a:endParaRPr b="0" lang="en-TR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89" name="Text 23"/>
          <p:cNvSpPr/>
          <p:nvPr/>
        </p:nvSpPr>
        <p:spPr>
          <a:xfrm>
            <a:off x="6492240" y="4709160"/>
            <a:ext cx="5120280" cy="1371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150" strike="noStrike" u="none">
                <a:solidFill>
                  <a:srgbClr val="334155"/>
                </a:solidFill>
                <a:effectLst/>
                <a:uFillTx/>
                <a:latin typeface="Calibri"/>
                <a:ea typeface="Calibri"/>
              </a:rPr>
              <a:t>Fixed δ⁺ and δ⁻ are vulnerable to slow ramp-up attacks. An RL agent can learn step sizes dynamically using state-mirroring error E as a reward signal.</a:t>
            </a:r>
            <a:endParaRPr b="0" lang="en-TR" sz="115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90" name="Shape 24"/>
          <p:cNvSpPr/>
          <p:nvPr/>
        </p:nvSpPr>
        <p:spPr>
          <a:xfrm>
            <a:off x="548640" y="6355080"/>
            <a:ext cx="11063880" cy="1044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34200" bIns="-34200" anchor="t">
            <a:noAutofit/>
          </a:bodyPr>
          <a:p>
            <a:endParaRPr b="0" lang="en-TR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91" name="Text 25"/>
          <p:cNvSpPr/>
          <p:nvPr/>
        </p:nvSpPr>
        <p:spPr>
          <a:xfrm>
            <a:off x="548640" y="6446520"/>
            <a:ext cx="731484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00" strike="noStrike" u="none">
                <a:solidFill>
                  <a:srgbClr val="64748b"/>
                </a:solidFill>
                <a:effectLst/>
                <a:uFillTx/>
                <a:latin typeface="Calibri"/>
                <a:ea typeface="Calibri"/>
              </a:rPr>
              <a:t>5G RRC Storm Mitigation  ·  Calibrated Digital Twin</a:t>
            </a:r>
            <a:endParaRPr b="0" lang="en-TR" sz="9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92" name="Text 26"/>
          <p:cNvSpPr/>
          <p:nvPr/>
        </p:nvSpPr>
        <p:spPr>
          <a:xfrm>
            <a:off x="10698480" y="6446520"/>
            <a:ext cx="91404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00" strike="noStrike" u="none">
                <a:solidFill>
                  <a:srgbClr val="64748b"/>
                </a:solidFill>
                <a:effectLst/>
                <a:uFillTx/>
                <a:latin typeface="Calibri"/>
                <a:ea typeface="Calibri"/>
              </a:rPr>
              <a:t>19 / 21</a:t>
            </a:r>
            <a:endParaRPr b="0" lang="en-TR" sz="9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b1e3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3" name="Shape 0"/>
          <p:cNvSpPr/>
          <p:nvPr/>
        </p:nvSpPr>
        <p:spPr>
          <a:xfrm>
            <a:off x="914400" y="2194560"/>
            <a:ext cx="2377080" cy="2377080"/>
          </a:xfrm>
          <a:prstGeom prst="ellipse">
            <a:avLst/>
          </a:prstGeom>
          <a:solidFill>
            <a:srgbClr val="f4a11a"/>
          </a:solidFill>
          <a:ln w="12700">
            <a:solidFill>
              <a:srgbClr val="f4a11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TR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94" name="Text 1"/>
          <p:cNvSpPr/>
          <p:nvPr/>
        </p:nvSpPr>
        <p:spPr>
          <a:xfrm>
            <a:off x="914400" y="2148840"/>
            <a:ext cx="2377080" cy="2468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3000" strike="noStrike" u="none">
                <a:solidFill>
                  <a:srgbClr val="ffffff"/>
                </a:solidFill>
                <a:effectLst/>
                <a:uFillTx/>
                <a:latin typeface="Cambria"/>
                <a:ea typeface="Cambria"/>
              </a:rPr>
              <a:t>?</a:t>
            </a:r>
            <a:endParaRPr b="0" lang="en-TR" sz="130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95" name="Shape 2"/>
          <p:cNvSpPr/>
          <p:nvPr/>
        </p:nvSpPr>
        <p:spPr>
          <a:xfrm>
            <a:off x="4023360" y="2194560"/>
            <a:ext cx="63720" cy="2742840"/>
          </a:xfrm>
          <a:prstGeom prst="rect">
            <a:avLst/>
          </a:prstGeom>
          <a:solidFill>
            <a:srgbClr val="f4a11a"/>
          </a:solidFill>
          <a:ln w="12700">
            <a:solidFill>
              <a:srgbClr val="f4a11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TR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96" name="Text 3"/>
          <p:cNvSpPr/>
          <p:nvPr/>
        </p:nvSpPr>
        <p:spPr>
          <a:xfrm>
            <a:off x="4297680" y="2194560"/>
            <a:ext cx="7497720" cy="914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5600" strike="noStrike" u="none">
                <a:solidFill>
                  <a:srgbClr val="ffffff"/>
                </a:solidFill>
                <a:effectLst/>
                <a:uFillTx/>
                <a:latin typeface="Cambria"/>
                <a:ea typeface="Cambria"/>
              </a:rPr>
              <a:t>Questions?</a:t>
            </a:r>
            <a:endParaRPr b="0" lang="en-TR" sz="56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97" name="Text 4"/>
          <p:cNvSpPr/>
          <p:nvPr/>
        </p:nvSpPr>
        <p:spPr>
          <a:xfrm>
            <a:off x="4297680" y="3154680"/>
            <a:ext cx="7497720" cy="1096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i="1" lang="en-US" sz="1600" strike="noStrike" u="none">
                <a:solidFill>
                  <a:srgbClr val="cfe2f3"/>
                </a:solidFill>
                <a:effectLst/>
                <a:uFillTx/>
                <a:latin typeface="Cambria"/>
                <a:ea typeface="Cambria"/>
              </a:rPr>
              <a:t>5G RRC Signaling Storm Mitigation via a Proactive Digital Twin Architecture with Continuous Calibration</a:t>
            </a:r>
            <a:endParaRPr b="0" lang="en-TR" sz="16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98" name="Text 5"/>
          <p:cNvSpPr/>
          <p:nvPr/>
        </p:nvSpPr>
        <p:spPr>
          <a:xfrm>
            <a:off x="4297680" y="4572000"/>
            <a:ext cx="7497720" cy="1279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600" strike="noStrike" u="non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Omer Dikyol</a:t>
            </a:r>
            <a:endParaRPr b="0" lang="en-TR" sz="16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300" strike="noStrike" u="none">
                <a:solidFill>
                  <a:srgbClr val="cfe2f3"/>
                </a:solidFill>
                <a:effectLst/>
                <a:uFillTx/>
                <a:latin typeface="Calibri"/>
                <a:ea typeface="Calibri"/>
              </a:rPr>
              <a:t>dikyol25@itu.edu.tr</a:t>
            </a:r>
            <a:endParaRPr b="0" lang="en-TR" sz="13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300" strike="noStrike" u="none">
                <a:solidFill>
                  <a:srgbClr val="cfe2f3"/>
                </a:solidFill>
                <a:effectLst/>
                <a:uFillTx/>
                <a:latin typeface="Calibri"/>
                <a:ea typeface="Calibri"/>
              </a:rPr>
              <a:t>BLG 632E  ·  ITU</a:t>
            </a:r>
            <a:endParaRPr b="0" lang="en-TR" sz="13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9" name="Text 0"/>
          <p:cNvSpPr/>
          <p:nvPr/>
        </p:nvSpPr>
        <p:spPr>
          <a:xfrm>
            <a:off x="548640" y="411480"/>
            <a:ext cx="1097244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00" spc="400" strike="noStrike" u="none">
                <a:solidFill>
                  <a:srgbClr val="f4a11a"/>
                </a:solidFill>
                <a:effectLst/>
                <a:uFillTx/>
                <a:latin typeface="Calibri"/>
                <a:ea typeface="Calibri"/>
              </a:rPr>
              <a:t>REFERENCES</a:t>
            </a:r>
            <a:endParaRPr b="0" lang="en-TR" sz="1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00" name="Text 1"/>
          <p:cNvSpPr/>
          <p:nvPr/>
        </p:nvSpPr>
        <p:spPr>
          <a:xfrm>
            <a:off x="548640" y="713160"/>
            <a:ext cx="10972440" cy="776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3000" strike="noStrike" u="none">
                <a:solidFill>
                  <a:srgbClr val="1a2233"/>
                </a:solidFill>
                <a:effectLst/>
                <a:uFillTx/>
                <a:latin typeface="Cambria"/>
                <a:ea typeface="Cambria"/>
              </a:rPr>
              <a:t>Selected references</a:t>
            </a:r>
            <a:endParaRPr b="0" lang="en-TR" sz="3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01" name="Text 2"/>
          <p:cNvSpPr/>
          <p:nvPr/>
        </p:nvSpPr>
        <p:spPr>
          <a:xfrm>
            <a:off x="548640" y="1691640"/>
            <a:ext cx="594000" cy="383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00" strike="noStrike" u="none">
                <a:solidFill>
                  <a:srgbClr val="f4a11a"/>
                </a:solidFill>
                <a:effectLst/>
                <a:uFillTx/>
                <a:latin typeface="Consolas"/>
                <a:ea typeface="Consolas"/>
              </a:rPr>
              <a:t>[b1]</a:t>
            </a:r>
            <a:endParaRPr b="0" lang="en-TR" sz="1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02" name="Text 3"/>
          <p:cNvSpPr/>
          <p:nvPr/>
        </p:nvSpPr>
        <p:spPr>
          <a:xfrm>
            <a:off x="1143000" y="1691640"/>
            <a:ext cx="4845960" cy="475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50" strike="noStrike" u="none">
                <a:solidFill>
                  <a:srgbClr val="334155"/>
                </a:solidFill>
                <a:effectLst/>
                <a:uFillTx/>
                <a:latin typeface="Calibri"/>
                <a:ea typeface="Calibri"/>
              </a:rPr>
              <a:t>D. Rupprecht et al., "Breaking LTE on Layer Two," Proc. IEEE S&amp;P, May 2019, pp. 1121–1136.</a:t>
            </a:r>
            <a:endParaRPr b="0" lang="en-TR" sz="105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03" name="Text 4"/>
          <p:cNvSpPr/>
          <p:nvPr/>
        </p:nvSpPr>
        <p:spPr>
          <a:xfrm>
            <a:off x="548640" y="2167200"/>
            <a:ext cx="594000" cy="383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00" strike="noStrike" u="none">
                <a:solidFill>
                  <a:srgbClr val="f4a11a"/>
                </a:solidFill>
                <a:effectLst/>
                <a:uFillTx/>
                <a:latin typeface="Consolas"/>
                <a:ea typeface="Consolas"/>
              </a:rPr>
              <a:t>[b2]</a:t>
            </a:r>
            <a:endParaRPr b="0" lang="en-TR" sz="1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04" name="Text 5"/>
          <p:cNvSpPr/>
          <p:nvPr/>
        </p:nvSpPr>
        <p:spPr>
          <a:xfrm>
            <a:off x="1143000" y="2167200"/>
            <a:ext cx="4845960" cy="475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50" strike="noStrike" u="none">
                <a:solidFill>
                  <a:srgbClr val="334155"/>
                </a:solidFill>
                <a:effectLst/>
                <a:uFillTx/>
                <a:latin typeface="Calibri"/>
                <a:ea typeface="Calibri"/>
              </a:rPr>
              <a:t>B. H. Lee et al., "Enhanced Random Access for Massive-MTC," IEEE IoT J., vol. 8, no. 8, 2021.</a:t>
            </a:r>
            <a:endParaRPr b="0" lang="en-TR" sz="105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05" name="Text 6"/>
          <p:cNvSpPr/>
          <p:nvPr/>
        </p:nvSpPr>
        <p:spPr>
          <a:xfrm>
            <a:off x="548640" y="2642760"/>
            <a:ext cx="594000" cy="383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00" strike="noStrike" u="none">
                <a:solidFill>
                  <a:srgbClr val="f4a11a"/>
                </a:solidFill>
                <a:effectLst/>
                <a:uFillTx/>
                <a:latin typeface="Consolas"/>
                <a:ea typeface="Consolas"/>
              </a:rPr>
              <a:t>[b3]</a:t>
            </a:r>
            <a:endParaRPr b="0" lang="en-TR" sz="1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06" name="Text 7"/>
          <p:cNvSpPr/>
          <p:nvPr/>
        </p:nvSpPr>
        <p:spPr>
          <a:xfrm>
            <a:off x="1143000" y="2642760"/>
            <a:ext cx="4845960" cy="475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50" strike="noStrike" u="none">
                <a:solidFill>
                  <a:srgbClr val="334155"/>
                </a:solidFill>
                <a:effectLst/>
                <a:uFillTx/>
                <a:latin typeface="Calibri"/>
                <a:ea typeface="Calibri"/>
              </a:rPr>
              <a:t>M. Grieves and J. Vickers, "Digital Twin: Mitigating Unpredictable Emergent Behavior," Springer, 2017.</a:t>
            </a:r>
            <a:endParaRPr b="0" lang="en-TR" sz="105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07" name="Text 8"/>
          <p:cNvSpPr/>
          <p:nvPr/>
        </p:nvSpPr>
        <p:spPr>
          <a:xfrm>
            <a:off x="548640" y="3117960"/>
            <a:ext cx="594000" cy="383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00" strike="noStrike" u="none">
                <a:solidFill>
                  <a:srgbClr val="f4a11a"/>
                </a:solidFill>
                <a:effectLst/>
                <a:uFillTx/>
                <a:latin typeface="Consolas"/>
                <a:ea typeface="Consolas"/>
              </a:rPr>
              <a:t>[b4]</a:t>
            </a:r>
            <a:endParaRPr b="0" lang="en-TR" sz="1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08" name="Text 9"/>
          <p:cNvSpPr/>
          <p:nvPr/>
        </p:nvSpPr>
        <p:spPr>
          <a:xfrm>
            <a:off x="1143000" y="3117960"/>
            <a:ext cx="4845960" cy="475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50" strike="noStrike" u="none">
                <a:solidFill>
                  <a:srgbClr val="334155"/>
                </a:solidFill>
                <a:effectLst/>
                <a:uFillTx/>
                <a:latin typeface="Calibri"/>
                <a:ea typeface="Calibri"/>
              </a:rPr>
              <a:t>3GPP, "NR; RRC Protocol Specification," TS 38.331, Rel. 17.3.0, 2022.</a:t>
            </a:r>
            <a:endParaRPr b="0" lang="en-TR" sz="105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09" name="Text 10"/>
          <p:cNvSpPr/>
          <p:nvPr/>
        </p:nvSpPr>
        <p:spPr>
          <a:xfrm>
            <a:off x="548640" y="3593520"/>
            <a:ext cx="594000" cy="383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00" strike="noStrike" u="none">
                <a:solidFill>
                  <a:srgbClr val="f4a11a"/>
                </a:solidFill>
                <a:effectLst/>
                <a:uFillTx/>
                <a:latin typeface="Consolas"/>
                <a:ea typeface="Consolas"/>
              </a:rPr>
              <a:t>[b5]</a:t>
            </a:r>
            <a:endParaRPr b="0" lang="en-TR" sz="1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10" name="Text 11"/>
          <p:cNvSpPr/>
          <p:nvPr/>
        </p:nvSpPr>
        <p:spPr>
          <a:xfrm>
            <a:off x="1143000" y="3593520"/>
            <a:ext cx="4845960" cy="475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50" strike="noStrike" u="none">
                <a:solidFill>
                  <a:srgbClr val="334155"/>
                </a:solidFill>
                <a:effectLst/>
                <a:uFillTx/>
                <a:latin typeface="Calibri"/>
                <a:ea typeface="Calibri"/>
              </a:rPr>
              <a:t>L. Miuccio et al., "Joint Control of Random Access for Massive MTC in 5G NR," IEEE IoT J., vol. 7, no. 6, 2020.</a:t>
            </a:r>
            <a:endParaRPr b="0" lang="en-TR" sz="105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11" name="Text 12"/>
          <p:cNvSpPr/>
          <p:nvPr/>
        </p:nvSpPr>
        <p:spPr>
          <a:xfrm>
            <a:off x="548640" y="4069080"/>
            <a:ext cx="594000" cy="383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00" strike="noStrike" u="none">
                <a:solidFill>
                  <a:srgbClr val="f4a11a"/>
                </a:solidFill>
                <a:effectLst/>
                <a:uFillTx/>
                <a:latin typeface="Consolas"/>
                <a:ea typeface="Consolas"/>
              </a:rPr>
              <a:t>[b6]</a:t>
            </a:r>
            <a:endParaRPr b="0" lang="en-TR" sz="1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12" name="Text 13"/>
          <p:cNvSpPr/>
          <p:nvPr/>
        </p:nvSpPr>
        <p:spPr>
          <a:xfrm>
            <a:off x="1143000" y="4069080"/>
            <a:ext cx="4845960" cy="475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50" strike="noStrike" u="none">
                <a:solidFill>
                  <a:srgbClr val="334155"/>
                </a:solidFill>
                <a:effectLst/>
                <a:uFillTx/>
                <a:latin typeface="Calibri"/>
                <a:ea typeface="Calibri"/>
              </a:rPr>
              <a:t>M. Kotuliak et al., "Performance Evaluation of 5G NR Non-Standalone Network," IEEE Access, vol. 9, 2021.</a:t>
            </a:r>
            <a:endParaRPr b="0" lang="en-TR" sz="105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13" name="Text 14"/>
          <p:cNvSpPr/>
          <p:nvPr/>
        </p:nvSpPr>
        <p:spPr>
          <a:xfrm>
            <a:off x="6172200" y="1691640"/>
            <a:ext cx="594000" cy="383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00" strike="noStrike" u="none">
                <a:solidFill>
                  <a:srgbClr val="f4a11a"/>
                </a:solidFill>
                <a:effectLst/>
                <a:uFillTx/>
                <a:latin typeface="Consolas"/>
                <a:ea typeface="Consolas"/>
              </a:rPr>
              <a:t>[b7]</a:t>
            </a:r>
            <a:endParaRPr b="0" lang="en-TR" sz="1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14" name="Text 15"/>
          <p:cNvSpPr/>
          <p:nvPr/>
        </p:nvSpPr>
        <p:spPr>
          <a:xfrm>
            <a:off x="6766560" y="1691640"/>
            <a:ext cx="4845960" cy="475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50" strike="noStrike" u="none">
                <a:solidFill>
                  <a:srgbClr val="334155"/>
                </a:solidFill>
                <a:effectLst/>
                <a:uFillTx/>
                <a:latin typeface="Calibri"/>
                <a:ea typeface="Calibri"/>
              </a:rPr>
              <a:t>S. K. Sharma and X. Wang, "Toward Massive MTC in Ultra-Dense Cellular IoT Networks," IEEE COMST, 2020.</a:t>
            </a:r>
            <a:endParaRPr b="0" lang="en-TR" sz="105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15" name="Text 16"/>
          <p:cNvSpPr/>
          <p:nvPr/>
        </p:nvSpPr>
        <p:spPr>
          <a:xfrm>
            <a:off x="6172200" y="2167200"/>
            <a:ext cx="594000" cy="383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00" strike="noStrike" u="none">
                <a:solidFill>
                  <a:srgbClr val="f4a11a"/>
                </a:solidFill>
                <a:effectLst/>
                <a:uFillTx/>
                <a:latin typeface="Consolas"/>
                <a:ea typeface="Consolas"/>
              </a:rPr>
              <a:t>[b8]</a:t>
            </a:r>
            <a:endParaRPr b="0" lang="en-TR" sz="1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16" name="Text 17"/>
          <p:cNvSpPr/>
          <p:nvPr/>
        </p:nvSpPr>
        <p:spPr>
          <a:xfrm>
            <a:off x="6766560" y="2167200"/>
            <a:ext cx="4845960" cy="475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50" strike="noStrike" u="none">
                <a:solidFill>
                  <a:srgbClr val="334155"/>
                </a:solidFill>
                <a:effectLst/>
                <a:uFillTx/>
                <a:latin typeface="Calibri"/>
                <a:ea typeface="Calibri"/>
              </a:rPr>
              <a:t>R. Dong et al., "Deep Learning for Radio Resource Allocation in 5G," IEEE TWC, vol. 20, no. 4, 2021.</a:t>
            </a:r>
            <a:endParaRPr b="0" lang="en-TR" sz="105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17" name="Text 18"/>
          <p:cNvSpPr/>
          <p:nvPr/>
        </p:nvSpPr>
        <p:spPr>
          <a:xfrm>
            <a:off x="6172200" y="2642760"/>
            <a:ext cx="594000" cy="383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00" strike="noStrike" u="none">
                <a:solidFill>
                  <a:srgbClr val="f4a11a"/>
                </a:solidFill>
                <a:effectLst/>
                <a:uFillTx/>
                <a:latin typeface="Consolas"/>
                <a:ea typeface="Consolas"/>
              </a:rPr>
              <a:t>[b9]</a:t>
            </a:r>
            <a:endParaRPr b="0" lang="en-TR" sz="1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18" name="Text 19"/>
          <p:cNvSpPr/>
          <p:nvPr/>
        </p:nvSpPr>
        <p:spPr>
          <a:xfrm>
            <a:off x="6766560" y="2642760"/>
            <a:ext cx="4845960" cy="475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50" strike="noStrike" u="none">
                <a:solidFill>
                  <a:srgbClr val="334155"/>
                </a:solidFill>
                <a:effectLst/>
                <a:uFillTx/>
                <a:latin typeface="Calibri"/>
                <a:ea typeface="Calibri"/>
              </a:rPr>
              <a:t>C. Zhang et al., "Deep Learning in Mobile and Wireless Networking: A Survey," IEEE COMST, 2019.</a:t>
            </a:r>
            <a:endParaRPr b="0" lang="en-TR" sz="105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19" name="Text 20"/>
          <p:cNvSpPr/>
          <p:nvPr/>
        </p:nvSpPr>
        <p:spPr>
          <a:xfrm>
            <a:off x="6172200" y="3117960"/>
            <a:ext cx="594000" cy="383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00" strike="noStrike" u="none">
                <a:solidFill>
                  <a:srgbClr val="f4a11a"/>
                </a:solidFill>
                <a:effectLst/>
                <a:uFillTx/>
                <a:latin typeface="Consolas"/>
                <a:ea typeface="Consolas"/>
              </a:rPr>
              <a:t>[b10]</a:t>
            </a:r>
            <a:endParaRPr b="0" lang="en-TR" sz="1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20" name="Text 21"/>
          <p:cNvSpPr/>
          <p:nvPr/>
        </p:nvSpPr>
        <p:spPr>
          <a:xfrm>
            <a:off x="6766560" y="3117960"/>
            <a:ext cx="4845960" cy="475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50" strike="noStrike" u="none">
                <a:solidFill>
                  <a:srgbClr val="334155"/>
                </a:solidFill>
                <a:effectLst/>
                <a:uFillTx/>
                <a:latin typeface="Calibri"/>
                <a:ea typeface="Calibri"/>
              </a:rPr>
              <a:t>H. X. Nguyen et al., "Digital Twin for 5G and Beyond," IEEE Commun. Mag., vol. 59, no. 2, 2021.</a:t>
            </a:r>
            <a:endParaRPr b="0" lang="en-TR" sz="105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21" name="Text 22"/>
          <p:cNvSpPr/>
          <p:nvPr/>
        </p:nvSpPr>
        <p:spPr>
          <a:xfrm>
            <a:off x="6172200" y="3593520"/>
            <a:ext cx="594000" cy="383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00" strike="noStrike" u="none">
                <a:solidFill>
                  <a:srgbClr val="f4a11a"/>
                </a:solidFill>
                <a:effectLst/>
                <a:uFillTx/>
                <a:latin typeface="Consolas"/>
                <a:ea typeface="Consolas"/>
              </a:rPr>
              <a:t>[b14]</a:t>
            </a:r>
            <a:endParaRPr b="0" lang="en-TR" sz="1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22" name="Text 23"/>
          <p:cNvSpPr/>
          <p:nvPr/>
        </p:nvSpPr>
        <p:spPr>
          <a:xfrm>
            <a:off x="6766560" y="3593520"/>
            <a:ext cx="4845960" cy="475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50" strike="noStrike" u="none">
                <a:solidFill>
                  <a:srgbClr val="334155"/>
                </a:solidFill>
                <a:effectLst/>
                <a:uFillTx/>
                <a:latin typeface="Calibri"/>
                <a:ea typeface="Calibri"/>
              </a:rPr>
              <a:t>M. Polese et al., "Understanding O-RAN," IEEE COMST, vol. 25, no. 2, 2023.</a:t>
            </a:r>
            <a:endParaRPr b="0" lang="en-TR" sz="105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23" name="Shape 24"/>
          <p:cNvSpPr/>
          <p:nvPr/>
        </p:nvSpPr>
        <p:spPr>
          <a:xfrm>
            <a:off x="548640" y="6355080"/>
            <a:ext cx="11063880" cy="1044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34200" bIns="-34200" anchor="t">
            <a:noAutofit/>
          </a:bodyPr>
          <a:p>
            <a:endParaRPr b="0" lang="en-TR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24" name="Text 25"/>
          <p:cNvSpPr/>
          <p:nvPr/>
        </p:nvSpPr>
        <p:spPr>
          <a:xfrm>
            <a:off x="548640" y="6446520"/>
            <a:ext cx="731484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00" strike="noStrike" u="none">
                <a:solidFill>
                  <a:srgbClr val="64748b"/>
                </a:solidFill>
                <a:effectLst/>
                <a:uFillTx/>
                <a:latin typeface="Calibri"/>
                <a:ea typeface="Calibri"/>
              </a:rPr>
              <a:t>5G RRC Storm Mitigation  ·  Calibrated Digital Twin</a:t>
            </a:r>
            <a:endParaRPr b="0" lang="en-TR" sz="9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25" name="Text 26"/>
          <p:cNvSpPr/>
          <p:nvPr/>
        </p:nvSpPr>
        <p:spPr>
          <a:xfrm>
            <a:off x="10698480" y="6446520"/>
            <a:ext cx="91404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00" strike="noStrike" u="none">
                <a:solidFill>
                  <a:srgbClr val="64748b"/>
                </a:solidFill>
                <a:effectLst/>
                <a:uFillTx/>
                <a:latin typeface="Calibri"/>
                <a:ea typeface="Calibri"/>
              </a:rPr>
              <a:t>21 / 21</a:t>
            </a:r>
            <a:endParaRPr b="0" lang="en-TR" sz="9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 pitchFamily="0" charset="1"/>
        <a:ea typeface=""/>
        <a:cs typeface=""/>
      </a:majorFont>
      <a:minorFont>
        <a:latin typeface="Calibri" panose="020F0502020204030204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 l="0" t="0" r="0" b="0"/>
        </a:gradFill>
      </a:fillStyleLst>
      <a:lnStyleLst>
        <a:ln w="6350" cap="flat" cmpd="sng" algn="ctr">
          <a:prstDash val="solid"/>
          <a:miter lim="800000"/>
        </a:ln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LibreOffice">
      <a:dk1>
        <a:srgbClr val="000000"/>
      </a:dk1>
      <a:lt1>
        <a:srgbClr val="ffffff"/>
      </a:lt1>
      <a:dk2>
        <a:srgbClr val="000000"/>
      </a:dk2>
      <a:lt2>
        <a:srgbClr val="ffffff"/>
      </a:lt2>
      <a:accent1>
        <a:srgbClr val="18a303"/>
      </a:accent1>
      <a:accent2>
        <a:srgbClr val="0369a3"/>
      </a:accent2>
      <a:accent3>
        <a:srgbClr val="a33e03"/>
      </a:accent3>
      <a:accent4>
        <a:srgbClr val="8e03a3"/>
      </a:accent4>
      <a:accent5>
        <a:srgbClr val="c99c00"/>
      </a:accent5>
      <a:accent6>
        <a:srgbClr val="c9211e"/>
      </a:accent6>
      <a:hlink>
        <a:srgbClr val="0000ee"/>
      </a:hlink>
      <a:folHlink>
        <a:srgbClr val="551a8b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8</TotalTime>
  <Application>LibreOffice/25.2.1.2$MacOSX_AARCH64 LibreOffice_project/d3abf4aee5fd705e4a92bba33a32f40bc4e56f49</Application>
  <AppVersion>15.0000</AppVersion>
  <Words>0</Words>
  <Paragraphs>0</Paragraphs>
  <Company>PptxGenJS</Company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2026-05-05T11:03:18Z</dcterms:created>
  <dc:creator>Omer Dikyol</dc:creator>
  <dc:description/>
  <dc:language>en-TR</dc:language>
  <cp:lastModifiedBy/>
  <dcterms:modified xsi:type="dcterms:W3CDTF">2026-05-05T14:14:10Z</dcterms:modified>
  <cp:revision>3</cp:revision>
  <dc:subject>PptxGenJS Presentation</dc:subject>
  <dc:title>5G RRC Signaling Storm Mitigation via a Proactive Digital Twin</dc:title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Notes">
    <vt:i4>21</vt:i4>
  </property>
  <property fmtid="{D5CDD505-2E9C-101B-9397-08002B2CF9AE}" pid="3" name="PresentationFormat">
    <vt:lpwstr>On-screen Show (16:9)</vt:lpwstr>
  </property>
  <property fmtid="{D5CDD505-2E9C-101B-9397-08002B2CF9AE}" pid="4" name="Slides">
    <vt:i4>21</vt:i4>
  </property>
</Properties>
</file>