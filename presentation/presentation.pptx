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7.png" ContentType="image/png"/>
  <Override PartName="/ppt/media/image15.png" ContentType="image/png"/>
  <Override PartName="/ppt/media/image16.png" ContentType="image/png"/>
  <Override PartName="/ppt/media/image8.png" ContentType="image/png"/>
  <Override PartName="/ppt/media/image10.png" ContentType="image/png"/>
  <Override PartName="/ppt/media/image2.png" ContentType="image/png"/>
  <Override PartName="/ppt/media/image17.png" ContentType="image/png"/>
  <Override PartName="/ppt/media/image9.png" ContentType="image/png"/>
  <Override PartName="/ppt/media/image11.png" ContentType="image/png"/>
  <Override PartName="/ppt/media/image3.png" ContentType="image/png"/>
  <Override PartName="/ppt/media/image18.png" ContentType="image/png"/>
  <Override PartName="/ppt/media/image19.png" ContentType="image/png"/>
  <Override PartName="/ppt/media/image20.png" ContentType="image/png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4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T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T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b="0" lang="en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8E4E1C-5CA8-41D1-84E7-2025BFBB70CD}" type="slidenum">
              <a:rPr b="0" lang="en-T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T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BBDD06-1352-4C7F-B447-9F0086BC94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1890F5-3F93-4DF8-92A3-841C704A990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666F2C-6447-47EB-BC17-9B5A7A6726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9852BB-D454-43D0-AA9D-FD20AA5F7D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82CAB4-C397-4308-A6CC-C7B9439E98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7E4B6F-9B29-4177-8888-D2D7E5B21E1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2E7D0A-1994-4D4A-B92D-3DF1615E823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444CE8-1AB7-4CA6-AFDD-AFCF24BDFA4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51AD2B-67B0-474C-A3CD-0653C29141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4A55F00-CBCA-40B2-B40B-EC541DA7F5F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C758FC-5DE8-4EAE-9884-84222307F8D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DF3B9C2-4983-48AF-B60D-9EFD85FFC6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AD57DA-C0D4-429F-9C37-EE1F94600CE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2E38FB-5E07-4DFE-8C0B-DEDBFBFAB7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124819D-9A4E-4723-9A98-5414D019A4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2238CD-D7B0-482B-8FBD-7030B154CA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4CDA1F-52EC-4DD9-968C-8AAFDD1DA7D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7F06F7-D5D8-4DD7-A63D-9D3C5344EE7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C59A43-D29C-4ED5-858B-FD9B5A94266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71E5D0-028A-4669-80DD-294D2ADBCDA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359BB5-F42C-4B31-8297-F135925E8FC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T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T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T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T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T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T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T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T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T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T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T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11064240" y="5760720"/>
            <a:ext cx="2193840" cy="219384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1c7293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332720" y="5029200"/>
            <a:ext cx="3656880" cy="365688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1c7293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601200" y="4297680"/>
            <a:ext cx="5119920" cy="511992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1c7293">
                <a:alpha val="6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8869680" y="3566160"/>
            <a:ext cx="6582960" cy="658296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1c7293">
                <a:alpha val="7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8138160" y="2834640"/>
            <a:ext cx="8046000" cy="8046000"/>
          </a:xfrm>
          <a:prstGeom prst="ellipse">
            <a:avLst/>
          </a:prstGeom>
          <a:solidFill>
            <a:srgbClr val="0b1e3f"/>
          </a:solidFill>
          <a:ln w="12700">
            <a:solidFill>
              <a:srgbClr val="1c7293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1658600" y="6355080"/>
            <a:ext cx="410760" cy="410760"/>
          </a:xfrm>
          <a:prstGeom prst="ellipse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731520" y="914400"/>
            <a:ext cx="10057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601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BLG 632E  ·  NEXT-GEN WIRELESS NETWORKS  ·  SPRING 2025–2026</a:t>
            </a:r>
            <a:endParaRPr b="0" lang="en-T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731520" y="1417320"/>
            <a:ext cx="639360" cy="5400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31520" y="1645920"/>
            <a:ext cx="1051488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5G RRC Signaling Storm Mitigation</a:t>
            </a:r>
            <a:endParaRPr b="0" lang="en-T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31520" y="260604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cfe2f3"/>
                </a:solidFill>
                <a:effectLst/>
                <a:uFillTx/>
                <a:latin typeface="Cambria"/>
                <a:ea typeface="Cambria"/>
              </a:rPr>
              <a:t>via a Proactive Digital Twin Architecture</a:t>
            </a:r>
            <a:endParaRPr b="0" lang="en-T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31520" y="3154680"/>
            <a:ext cx="10514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800" strike="noStrike" u="none">
                <a:solidFill>
                  <a:srgbClr val="cfe2f3"/>
                </a:solidFill>
                <a:effectLst/>
                <a:uFillTx/>
                <a:latin typeface="Cambria"/>
                <a:ea typeface="Cambria"/>
              </a:rPr>
              <a:t>with Continuous Calibration</a:t>
            </a:r>
            <a:endParaRPr b="0" lang="en-T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31520" y="4572000"/>
            <a:ext cx="63360" cy="146232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960120" y="4572000"/>
            <a:ext cx="73144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Ömer Dikyol</a:t>
            </a:r>
            <a:endParaRPr b="0" lang="en-T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Department of Computer Engineering</a:t>
            </a:r>
            <a:endParaRPr b="0" lang="en-T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Istanbul Technical University</a:t>
            </a:r>
            <a:endParaRPr b="0" lang="en-T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Outline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731520" y="1874520"/>
            <a:ext cx="547920" cy="547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731520" y="18745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1508760" y="182880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Problem Definition &amp; Research Gap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508760" y="2167200"/>
            <a:ext cx="9600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Why availability matters; the storm; control-loop latency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1508760" y="2541960"/>
            <a:ext cx="960048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731520" y="2651760"/>
            <a:ext cx="547920" cy="547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731520" y="265176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1508760" y="260604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System Model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1508760" y="2944440"/>
            <a:ext cx="9600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MMPP/M/c/K queue and gNB RACH parameters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1"/>
          <p:cNvSpPr/>
          <p:nvPr/>
        </p:nvSpPr>
        <p:spPr>
          <a:xfrm>
            <a:off x="1508760" y="3319200"/>
            <a:ext cx="960048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2"/>
          <p:cNvSpPr/>
          <p:nvPr/>
        </p:nvSpPr>
        <p:spPr>
          <a:xfrm>
            <a:off x="731520" y="3429000"/>
            <a:ext cx="547920" cy="547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731520" y="342900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1508760" y="338328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Proposed Method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5"/>
          <p:cNvSpPr/>
          <p:nvPr/>
        </p:nvSpPr>
        <p:spPr>
          <a:xfrm>
            <a:off x="1508760" y="3721680"/>
            <a:ext cx="9600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Calibrated Digital Twin with EMA + asymmetric step rule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6"/>
          <p:cNvSpPr/>
          <p:nvPr/>
        </p:nvSpPr>
        <p:spPr>
          <a:xfrm>
            <a:off x="1508760" y="4096440"/>
            <a:ext cx="960048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731520" y="4206240"/>
            <a:ext cx="547920" cy="547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731520" y="420624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1508760" y="416052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Results &amp; Evaluation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508760" y="4498920"/>
            <a:ext cx="9600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Mirroring error, queue stability, delay CDF, ε-sensitivity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1"/>
          <p:cNvSpPr/>
          <p:nvPr/>
        </p:nvSpPr>
        <p:spPr>
          <a:xfrm>
            <a:off x="1508760" y="4873680"/>
            <a:ext cx="960048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2"/>
          <p:cNvSpPr/>
          <p:nvPr/>
        </p:nvSpPr>
        <p:spPr>
          <a:xfrm>
            <a:off x="731520" y="4983480"/>
            <a:ext cx="547920" cy="547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731520" y="49834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1508760" y="493776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Conclusion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5"/>
          <p:cNvSpPr/>
          <p:nvPr/>
        </p:nvSpPr>
        <p:spPr>
          <a:xfrm>
            <a:off x="1508760" y="5276160"/>
            <a:ext cx="9600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Findings, O-RAN deployment, future work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7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8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MOTIVATION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Why 5G availability matters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48640" y="15544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5G NR underpins mission-critical services — every device starts with an RRC connection request through the gNB RACH.</a:t>
            </a:r>
            <a:endParaRPr b="0" lang="en-T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3"/>
          <p:cNvSpPr/>
          <p:nvPr/>
        </p:nvSpPr>
        <p:spPr>
          <a:xfrm>
            <a:off x="548640" y="2194560"/>
            <a:ext cx="3565440" cy="1462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"/>
          <p:cNvSpPr/>
          <p:nvPr/>
        </p:nvSpPr>
        <p:spPr>
          <a:xfrm>
            <a:off x="548640" y="2194560"/>
            <a:ext cx="63360" cy="1462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777240" y="23317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&lt;10 ms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777240" y="29718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Round-trip latency required by autonomous vehicles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7"/>
          <p:cNvSpPr/>
          <p:nvPr/>
        </p:nvSpPr>
        <p:spPr>
          <a:xfrm>
            <a:off x="4434840" y="2194560"/>
            <a:ext cx="3565440" cy="1462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4434840" y="2194560"/>
            <a:ext cx="63360" cy="1462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4663440" y="23317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5×9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4663440" y="29718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Reliability target for remote surgery and industrial IoT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1"/>
          <p:cNvSpPr/>
          <p:nvPr/>
        </p:nvSpPr>
        <p:spPr>
          <a:xfrm>
            <a:off x="8321040" y="2194560"/>
            <a:ext cx="3565440" cy="1462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8321040" y="2194560"/>
            <a:ext cx="63360" cy="1462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3"/>
          <p:cNvSpPr/>
          <p:nvPr/>
        </p:nvSpPr>
        <p:spPr>
          <a:xfrm>
            <a:off x="8549640" y="233172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100s–1000s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4"/>
          <p:cNvSpPr/>
          <p:nvPr/>
        </p:nvSpPr>
        <p:spPr>
          <a:xfrm>
            <a:off x="8549640" y="2971800"/>
            <a:ext cx="3199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UEs sharing a single gNB simultaneously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5"/>
          <p:cNvSpPr/>
          <p:nvPr/>
        </p:nvSpPr>
        <p:spPr>
          <a:xfrm>
            <a:off x="548640" y="39319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gNB RACH at a glance</a:t>
            </a:r>
            <a:endParaRPr b="0" lang="en-T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6"/>
          <p:cNvSpPr/>
          <p:nvPr/>
        </p:nvSpPr>
        <p:spPr>
          <a:xfrm>
            <a:off x="548640" y="4389120"/>
            <a:ext cx="3565440" cy="86796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7"/>
          <p:cNvSpPr/>
          <p:nvPr/>
        </p:nvSpPr>
        <p:spPr>
          <a:xfrm>
            <a:off x="777240" y="4480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c7293"/>
                </a:solidFill>
                <a:effectLst/>
                <a:uFillTx/>
                <a:latin typeface="Consolas"/>
                <a:ea typeface="Consolas"/>
              </a:rPr>
              <a:t>c = 54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8"/>
          <p:cNvSpPr/>
          <p:nvPr/>
        </p:nvSpPr>
        <p:spPr>
          <a:xfrm>
            <a:off x="777240" y="4846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preamble channels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9"/>
          <p:cNvSpPr/>
          <p:nvPr/>
        </p:nvSpPr>
        <p:spPr>
          <a:xfrm>
            <a:off x="4434840" y="4389120"/>
            <a:ext cx="3565440" cy="86796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0"/>
          <p:cNvSpPr/>
          <p:nvPr/>
        </p:nvSpPr>
        <p:spPr>
          <a:xfrm>
            <a:off x="4663440" y="4480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c7293"/>
                </a:solidFill>
                <a:effectLst/>
                <a:uFillTx/>
                <a:latin typeface="Consolas"/>
                <a:ea typeface="Consolas"/>
              </a:rPr>
              <a:t>K = 200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1"/>
          <p:cNvSpPr/>
          <p:nvPr/>
        </p:nvSpPr>
        <p:spPr>
          <a:xfrm>
            <a:off x="4663440" y="4846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buffer capacity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2"/>
          <p:cNvSpPr/>
          <p:nvPr/>
        </p:nvSpPr>
        <p:spPr>
          <a:xfrm>
            <a:off x="8321040" y="4389120"/>
            <a:ext cx="3565440" cy="867960"/>
          </a:xfrm>
          <a:prstGeom prst="rect">
            <a:avLst/>
          </a:prstGeom>
          <a:solidFill>
            <a:srgbClr val="f7f9fc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3"/>
          <p:cNvSpPr/>
          <p:nvPr/>
        </p:nvSpPr>
        <p:spPr>
          <a:xfrm>
            <a:off x="8549640" y="448056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c7293"/>
                </a:solidFill>
                <a:effectLst/>
                <a:uFillTx/>
                <a:latin typeface="Consolas"/>
                <a:ea typeface="Consolas"/>
              </a:rPr>
              <a:t>Q ≥ K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4"/>
          <p:cNvSpPr/>
          <p:nvPr/>
        </p:nvSpPr>
        <p:spPr>
          <a:xfrm>
            <a:off x="8549640" y="4846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requests dropped immediately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5"/>
          <p:cNvSpPr/>
          <p:nvPr/>
        </p:nvSpPr>
        <p:spPr>
          <a:xfrm>
            <a:off x="548640" y="5532120"/>
            <a:ext cx="11063520" cy="593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713160" y="56509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26"/>
          <p:cNvSpPr/>
          <p:nvPr/>
        </p:nvSpPr>
        <p:spPr>
          <a:xfrm>
            <a:off x="1188720" y="5532120"/>
            <a:ext cx="10332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The RACH is a shared, limited resource with no built-in overload anticipation. RACH failure ⇒ no data plane, all services blocked.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7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3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BACKGROUND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What is an RRC signaling storm?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600200"/>
            <a:ext cx="612576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48640" y="1600200"/>
            <a:ext cx="63360" cy="4525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822960" y="173736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RRC and the RACH</a:t>
            </a:r>
            <a:endParaRPr b="0" lang="en-T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822960" y="2103120"/>
            <a:ext cx="56685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RRC is the 3GPP Layer-3 protocol that manages connection setup. No data flows without a completed RRC connection.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22960" y="2834640"/>
            <a:ext cx="5668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How a storm forms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22960" y="3154680"/>
            <a:ext cx="566856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Botnet floods Msg1 simultaneously, overwhelming c = 54 preamble slots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Preamble collision ⇒ both UEs fail ⇒ retry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gNB buffers pending Msg3 (RRC Requests) up to K = 200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At λ_high = 500 req/s, buffer fills in 0.4 s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Dropped devices retry — load never subsides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822960" y="5394960"/>
            <a:ext cx="5577120" cy="593640"/>
          </a:xfrm>
          <a:prstGeom prst="rect">
            <a:avLst/>
          </a:prstGeom>
          <a:solidFill>
            <a:srgbClr val="fbe9e7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960120" y="5394960"/>
            <a:ext cx="5348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Net effect: RACH becomes a denial-of-service point — legitimate UEs cannot complete connection setup.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"/>
          <p:cNvSpPr/>
          <p:nvPr/>
        </p:nvSpPr>
        <p:spPr>
          <a:xfrm>
            <a:off x="6903720" y="1600200"/>
            <a:ext cx="470844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7178040" y="1737360"/>
            <a:ext cx="4251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RACH procedure (Msg1–Msg4)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2"/>
          <p:cNvSpPr/>
          <p:nvPr/>
        </p:nvSpPr>
        <p:spPr>
          <a:xfrm>
            <a:off x="7086600" y="2103120"/>
            <a:ext cx="1279440" cy="36504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7086600" y="210312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UE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4"/>
          <p:cNvSpPr/>
          <p:nvPr/>
        </p:nvSpPr>
        <p:spPr>
          <a:xfrm>
            <a:off x="9966960" y="2103120"/>
            <a:ext cx="1279440" cy="36504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9966960" y="2103120"/>
            <a:ext cx="1279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gNB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6"/>
          <p:cNvSpPr/>
          <p:nvPr/>
        </p:nvSpPr>
        <p:spPr>
          <a:xfrm>
            <a:off x="7726680" y="2423160"/>
            <a:ext cx="360" cy="3429000"/>
          </a:xfrm>
          <a:prstGeom prst="line">
            <a:avLst/>
          </a:prstGeom>
          <a:ln w="12700">
            <a:solidFill>
              <a:srgbClr val="64748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7"/>
          <p:cNvSpPr/>
          <p:nvPr/>
        </p:nvSpPr>
        <p:spPr>
          <a:xfrm>
            <a:off x="10607040" y="2423160"/>
            <a:ext cx="360" cy="3429000"/>
          </a:xfrm>
          <a:prstGeom prst="line">
            <a:avLst/>
          </a:prstGeom>
          <a:ln w="12700">
            <a:solidFill>
              <a:srgbClr val="64748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7726680" y="2496240"/>
            <a:ext cx="2879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Msg1 — Preamble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7772400" y="2743200"/>
            <a:ext cx="2788920" cy="360"/>
          </a:xfrm>
          <a:prstGeom prst="line">
            <a:avLst/>
          </a:prstGeom>
          <a:ln w="2540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7726680" y="3182040"/>
            <a:ext cx="2879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Msg2 — RAR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1"/>
          <p:cNvSpPr/>
          <p:nvPr/>
        </p:nvSpPr>
        <p:spPr>
          <a:xfrm>
            <a:off x="7772400" y="3429000"/>
            <a:ext cx="2788920" cy="360"/>
          </a:xfrm>
          <a:prstGeom prst="line">
            <a:avLst/>
          </a:prstGeom>
          <a:ln w="25400">
            <a:solidFill>
              <a:srgbClr val="1c7293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7726680" y="3867840"/>
            <a:ext cx="2879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Msg3 — RRC Request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3"/>
          <p:cNvSpPr/>
          <p:nvPr/>
        </p:nvSpPr>
        <p:spPr>
          <a:xfrm>
            <a:off x="7772400" y="4114800"/>
            <a:ext cx="2788920" cy="360"/>
          </a:xfrm>
          <a:prstGeom prst="line">
            <a:avLst/>
          </a:prstGeom>
          <a:ln w="2540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7726680" y="4553640"/>
            <a:ext cx="2879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Msg4 — RRC Setup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5"/>
          <p:cNvSpPr/>
          <p:nvPr/>
        </p:nvSpPr>
        <p:spPr>
          <a:xfrm>
            <a:off x="7772400" y="4800600"/>
            <a:ext cx="2788920" cy="360"/>
          </a:xfrm>
          <a:prstGeom prst="line">
            <a:avLst/>
          </a:prstGeom>
          <a:ln w="25400">
            <a:solidFill>
              <a:srgbClr val="1c7293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6"/>
          <p:cNvSpPr/>
          <p:nvPr/>
        </p:nvSpPr>
        <p:spPr>
          <a:xfrm>
            <a:off x="8618400" y="5806440"/>
            <a:ext cx="1279440" cy="319320"/>
          </a:xfrm>
          <a:prstGeom prst="roundRect">
            <a:avLst>
              <a:gd name="adj" fmla="val 22857"/>
            </a:avLst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7"/>
          <p:cNvSpPr/>
          <p:nvPr/>
        </p:nvSpPr>
        <p:spPr>
          <a:xfrm>
            <a:off x="8618400" y="5806440"/>
            <a:ext cx="1279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connected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8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9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0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4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THREAT MODEL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The RRC signaling storm attack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548640" y="1600200"/>
            <a:ext cx="594288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548640" y="1600200"/>
            <a:ext cx="63360" cy="4525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0" descr="preencoded.png"/>
          <p:cNvPicPr/>
          <p:nvPr/>
        </p:nvPicPr>
        <p:blipFill>
          <a:blip r:embed="rId1"/>
          <a:stretch/>
        </p:blipFill>
        <p:spPr>
          <a:xfrm>
            <a:off x="822960" y="178308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4"/>
          <p:cNvSpPr/>
          <p:nvPr/>
        </p:nvSpPr>
        <p:spPr>
          <a:xfrm>
            <a:off x="1325880" y="178308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Attack mechanism</a:t>
            </a:r>
            <a:endParaRPr b="0" lang="en-T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822960" y="2377440"/>
            <a:ext cx="5394240" cy="23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Adversary coordinates a botnet of compromised devices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Each device sends RRC connection requests at high rate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Combined rate: λ_high = 500 req/s vs. normal λ_low = 10 req/s (50×)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RACH buffer saturates within seconds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Access requests are dropped — QoS failure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822960" y="4846320"/>
            <a:ext cx="5394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Termed “RRC Signaling Storm” in the literature [b1].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822960" y="5394960"/>
            <a:ext cx="5394240" cy="593640"/>
          </a:xfrm>
          <a:prstGeom prst="rect">
            <a:avLst/>
          </a:prstGeom>
          <a:solidFill>
            <a:srgbClr val="fbe9e7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960120" y="5394960"/>
            <a:ext cx="5119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Impact: All connected services lose access until the attack subsides.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6766560" y="1600200"/>
            <a:ext cx="484560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7040880" y="173736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Attack flow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8183880" y="2194560"/>
            <a:ext cx="2010960" cy="776520"/>
          </a:xfrm>
          <a:prstGeom prst="roundRect">
            <a:avLst>
              <a:gd name="adj" fmla="val 11765"/>
            </a:avLst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8183880" y="2194560"/>
            <a:ext cx="20109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Botnet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e9e5"/>
                </a:solidFill>
                <a:effectLst/>
                <a:uFillTx/>
                <a:latin typeface="Calibri"/>
                <a:ea typeface="Calibri"/>
              </a:rPr>
              <a:t>500 req/s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7909560" y="3611880"/>
            <a:ext cx="2559600" cy="86796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7909560" y="3611880"/>
            <a:ext cx="2559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gNB RACH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K = 200, c = 54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5"/>
          <p:cNvSpPr/>
          <p:nvPr/>
        </p:nvSpPr>
        <p:spPr>
          <a:xfrm>
            <a:off x="8001000" y="5120640"/>
            <a:ext cx="2376720" cy="7765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8001000" y="5120640"/>
            <a:ext cx="23767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Legitimate UEs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7"/>
          <p:cNvSpPr/>
          <p:nvPr/>
        </p:nvSpPr>
        <p:spPr>
          <a:xfrm>
            <a:off x="9189720" y="2971800"/>
            <a:ext cx="360" cy="640080"/>
          </a:xfrm>
          <a:prstGeom prst="line">
            <a:avLst/>
          </a:prstGeom>
          <a:ln w="38100">
            <a:solidFill>
              <a:srgbClr val="c0392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8"/>
          <p:cNvSpPr/>
          <p:nvPr/>
        </p:nvSpPr>
        <p:spPr>
          <a:xfrm>
            <a:off x="8092440" y="30632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flood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9"/>
          <p:cNvSpPr/>
          <p:nvPr/>
        </p:nvSpPr>
        <p:spPr>
          <a:xfrm>
            <a:off x="9372600" y="30632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5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⚠ buffer overflow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9189720" y="4480560"/>
            <a:ext cx="360" cy="640080"/>
          </a:xfrm>
          <a:prstGeom prst="line">
            <a:avLst/>
          </a:prstGeom>
          <a:ln w="25400">
            <a:solidFill>
              <a:srgbClr val="64748b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9281160" y="461772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blocked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2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PROBLEM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Control-loop latency in ACB/UAC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"/>
          <p:cNvSpPr/>
          <p:nvPr/>
        </p:nvSpPr>
        <p:spPr>
          <a:xfrm>
            <a:off x="548640" y="1554480"/>
            <a:ext cx="10972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Current defence: Access Class Barring (ACB) — 3GPP TS 38.331 UAC framework.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731520" y="2926080"/>
            <a:ext cx="10698480" cy="360"/>
          </a:xfrm>
          <a:prstGeom prst="line">
            <a:avLst/>
          </a:prstGeom>
          <a:ln w="254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"/>
          <p:cNvSpPr/>
          <p:nvPr/>
        </p:nvSpPr>
        <p:spPr>
          <a:xfrm>
            <a:off x="594360" y="2788920"/>
            <a:ext cx="273600" cy="273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-548640" y="315468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Attack starts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3803760" y="2788920"/>
            <a:ext cx="273600" cy="273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7"/>
          <p:cNvSpPr/>
          <p:nvPr/>
        </p:nvSpPr>
        <p:spPr>
          <a:xfrm>
            <a:off x="2660760" y="315468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Queue fills up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8"/>
          <p:cNvSpPr/>
          <p:nvPr/>
        </p:nvSpPr>
        <p:spPr>
          <a:xfrm>
            <a:off x="7013520" y="2788920"/>
            <a:ext cx="273600" cy="273600"/>
          </a:xfrm>
          <a:prstGeom prst="ellipse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5870520" y="315468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ACB detects Q &gt; 0.8K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0"/>
          <p:cNvSpPr/>
          <p:nvPr/>
        </p:nvSpPr>
        <p:spPr>
          <a:xfrm>
            <a:off x="10437120" y="2788920"/>
            <a:ext cx="273600" cy="2736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1"/>
          <p:cNvSpPr/>
          <p:nvPr/>
        </p:nvSpPr>
        <p:spPr>
          <a:xfrm>
            <a:off x="9294120" y="3154680"/>
            <a:ext cx="2559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Dropping starts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7150680" y="2286000"/>
            <a:ext cx="3422880" cy="456480"/>
          </a:xfrm>
          <a:prstGeom prst="rect">
            <a:avLst/>
          </a:prstGeom>
          <a:solidFill>
            <a:srgbClr val="fbe9e7">
              <a:alpha val="70000"/>
            </a:srgbClr>
          </a:solidFill>
          <a:ln w="12700">
            <a:solidFill>
              <a:srgbClr val="c039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3"/>
          <p:cNvSpPr/>
          <p:nvPr/>
        </p:nvSpPr>
        <p:spPr>
          <a:xfrm>
            <a:off x="7150680" y="2331720"/>
            <a:ext cx="3422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5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Control-loop latency  —  damage already done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4"/>
          <p:cNvSpPr/>
          <p:nvPr/>
        </p:nvSpPr>
        <p:spPr>
          <a:xfrm>
            <a:off x="548640" y="3931920"/>
            <a:ext cx="5485680" cy="210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548640" y="3931920"/>
            <a:ext cx="63360" cy="2102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777240" y="406908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Fundamental causality constraint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777240" y="4480560"/>
            <a:ext cx="51199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ACB throttles only after observing Q_real &gt; 0.8K. During the build-up, requests are silently dropped.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>
            <a:off x="6263640" y="3931920"/>
            <a:ext cx="5485680" cy="2102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9"/>
          <p:cNvSpPr/>
          <p:nvPr/>
        </p:nvSpPr>
        <p:spPr>
          <a:xfrm>
            <a:off x="6263640" y="3931920"/>
            <a:ext cx="63360" cy="210240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6492240" y="406908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Empirical evidence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1"/>
          <p:cNvSpPr/>
          <p:nvPr/>
        </p:nvSpPr>
        <p:spPr>
          <a:xfrm>
            <a:off x="6492240" y="4480560"/>
            <a:ext cx="51199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Kotuliak et al. (2021): RACH exceeded delay budget under high load in commercial 5G NR deployments [b6].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2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4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6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RESEARCH GAP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Why existing approaches fall short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548640" y="1691640"/>
            <a:ext cx="3611160" cy="365688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48640" y="1691640"/>
            <a:ext cx="3611160" cy="502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preencoded.png"/>
          <p:cNvPicPr/>
          <p:nvPr/>
        </p:nvPicPr>
        <p:blipFill>
          <a:blip r:embed="rId1"/>
          <a:stretch/>
        </p:blipFill>
        <p:spPr>
          <a:xfrm>
            <a:off x="777240" y="180144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 4"/>
          <p:cNvSpPr/>
          <p:nvPr/>
        </p:nvSpPr>
        <p:spPr>
          <a:xfrm>
            <a:off x="1143000" y="1691640"/>
            <a:ext cx="2971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Reactive ACB / UAC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777240" y="2437560"/>
            <a:ext cx="31539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e8a6b"/>
                </a:solidFill>
                <a:effectLst/>
                <a:uFillTx/>
                <a:latin typeface="Calibri"/>
                <a:ea typeface="Calibri"/>
              </a:rPr>
              <a:t>Strength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777240" y="265176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Simple, standards-compliant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777240" y="3566160"/>
            <a:ext cx="315396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777240" y="365760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Limitation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777240" y="3931920"/>
            <a:ext cx="31539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Reacts after saturation; inherent control-loop latency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0"/>
          <p:cNvSpPr/>
          <p:nvPr/>
        </p:nvSpPr>
        <p:spPr>
          <a:xfrm>
            <a:off x="4434840" y="1691640"/>
            <a:ext cx="3611160" cy="365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4434840" y="1691640"/>
            <a:ext cx="3611160" cy="502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2"/>
          <a:stretch/>
        </p:blipFill>
        <p:spPr>
          <a:xfrm>
            <a:off x="4663440" y="180144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12"/>
          <p:cNvSpPr/>
          <p:nvPr/>
        </p:nvSpPr>
        <p:spPr>
          <a:xfrm>
            <a:off x="5029200" y="1691640"/>
            <a:ext cx="2971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ML / DNN predictors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3"/>
          <p:cNvSpPr/>
          <p:nvPr/>
        </p:nvSpPr>
        <p:spPr>
          <a:xfrm>
            <a:off x="4663440" y="237744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e8a6b"/>
                </a:solidFill>
                <a:effectLst/>
                <a:uFillTx/>
                <a:latin typeface="Calibri"/>
                <a:ea typeface="Calibri"/>
              </a:rPr>
              <a:t>Strength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4"/>
          <p:cNvSpPr/>
          <p:nvPr/>
        </p:nvSpPr>
        <p:spPr>
          <a:xfrm>
            <a:off x="4663440" y="265176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High accuracy on stationary traffic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4663440" y="3566160"/>
            <a:ext cx="315396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6"/>
          <p:cNvSpPr/>
          <p:nvPr/>
        </p:nvSpPr>
        <p:spPr>
          <a:xfrm>
            <a:off x="4663440" y="365760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Limitation</a:t>
            </a:r>
            <a:endParaRPr b="0" lang="en-TR" sz="1300" strike="noStrike" u="none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Arial"/>
              <a:ea typeface="Arial Unicode MS"/>
            </a:endParaRPr>
          </a:p>
        </p:txBody>
      </p:sp>
      <p:sp>
        <p:nvSpPr>
          <p:cNvPr id="182" name="Text 17"/>
          <p:cNvSpPr/>
          <p:nvPr/>
        </p:nvSpPr>
        <p:spPr>
          <a:xfrm>
            <a:off x="4663440" y="3931920"/>
            <a:ext cx="31539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O(W) inference, W ~ 10⁵–10⁷; ms latency — impractical on gNB hardware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8"/>
          <p:cNvSpPr/>
          <p:nvPr/>
        </p:nvSpPr>
        <p:spPr>
          <a:xfrm>
            <a:off x="8321040" y="1691640"/>
            <a:ext cx="3611160" cy="36568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8321040" y="1691640"/>
            <a:ext cx="3611160" cy="50220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2" descr="preencoded.png"/>
          <p:cNvPicPr/>
          <p:nvPr/>
        </p:nvPicPr>
        <p:blipFill>
          <a:blip r:embed="rId3"/>
          <a:stretch/>
        </p:blipFill>
        <p:spPr>
          <a:xfrm>
            <a:off x="8549640" y="1801440"/>
            <a:ext cx="29196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20"/>
          <p:cNvSpPr/>
          <p:nvPr/>
        </p:nvSpPr>
        <p:spPr>
          <a:xfrm>
            <a:off x="8915400" y="1691640"/>
            <a:ext cx="2971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Standard Digital Twin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8549640" y="237744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e8a6b"/>
                </a:solidFill>
                <a:effectLst/>
                <a:uFillTx/>
                <a:latin typeface="Calibri"/>
                <a:ea typeface="Calibri"/>
              </a:rPr>
              <a:t>Strength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2"/>
          <p:cNvSpPr/>
          <p:nvPr/>
        </p:nvSpPr>
        <p:spPr>
          <a:xfrm>
            <a:off x="8549640" y="2651760"/>
            <a:ext cx="31539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Proactive control possible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3"/>
          <p:cNvSpPr/>
          <p:nvPr/>
        </p:nvSpPr>
        <p:spPr>
          <a:xfrm>
            <a:off x="8549640" y="3566160"/>
            <a:ext cx="3153960" cy="39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0320" bIns="-4032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8549640" y="365760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Limitation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5"/>
          <p:cNvSpPr/>
          <p:nvPr/>
        </p:nvSpPr>
        <p:spPr>
          <a:xfrm>
            <a:off x="8549640" y="3931920"/>
            <a:ext cx="31539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Model drift under non-stationary traffic; mirroring error grows unbounded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26"/>
          <p:cNvSpPr/>
          <p:nvPr/>
        </p:nvSpPr>
        <p:spPr>
          <a:xfrm>
            <a:off x="548640" y="5532120"/>
            <a:ext cx="11063520" cy="5936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3" descr="preencoded.png"/>
          <p:cNvPicPr/>
          <p:nvPr/>
        </p:nvPicPr>
        <p:blipFill>
          <a:blip r:embed="rId4"/>
          <a:stretch/>
        </p:blipFill>
        <p:spPr>
          <a:xfrm>
            <a:off x="713160" y="56509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7"/>
          <p:cNvSpPr/>
          <p:nvPr/>
        </p:nvSpPr>
        <p:spPr>
          <a:xfrm>
            <a:off x="1188720" y="5532120"/>
            <a:ext cx="10332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Gap: no DT approach suppresses model drift via an online calibration loop during the attack interval. This work closes that gap.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8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9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0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7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SYSTEM MODEL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MMPP/M/c/K queue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548640" y="1600200"/>
            <a:ext cx="640008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822960" y="1737360"/>
            <a:ext cx="5942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Two-state CTMC: Markov-Modulated Poisson Process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"/>
          <p:cNvSpPr/>
          <p:nvPr/>
        </p:nvSpPr>
        <p:spPr>
          <a:xfrm>
            <a:off x="914400" y="2880360"/>
            <a:ext cx="1828080" cy="118800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914400" y="2880360"/>
            <a:ext cx="1828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S₀ — Normal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λ = 10 req/s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4754880" y="2880360"/>
            <a:ext cx="1828080" cy="1188000"/>
          </a:xfrm>
          <a:prstGeom prst="roundRect">
            <a:avLst>
              <a:gd name="adj" fmla="val 7692"/>
            </a:avLst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4754880" y="2880360"/>
            <a:ext cx="18280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S₁ — Burst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e9e5"/>
                </a:solidFill>
                <a:effectLst/>
                <a:uFillTx/>
                <a:latin typeface="Calibri"/>
                <a:ea typeface="Calibri"/>
              </a:rPr>
              <a:t>λ = 500 req/s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8"/>
          <p:cNvSpPr/>
          <p:nvPr/>
        </p:nvSpPr>
        <p:spPr>
          <a:xfrm>
            <a:off x="2743200" y="3200400"/>
            <a:ext cx="2011680" cy="360"/>
          </a:xfrm>
          <a:prstGeom prst="line">
            <a:avLst/>
          </a:prstGeom>
          <a:ln w="31750">
            <a:solidFill>
              <a:srgbClr val="f4a1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2743200" y="28803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α = 0.1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2743200" y="3749040"/>
            <a:ext cx="2011680" cy="360"/>
          </a:xfrm>
          <a:prstGeom prst="line">
            <a:avLst/>
          </a:prstGeom>
          <a:ln w="31750">
            <a:solidFill>
              <a:srgbClr val="1c7293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2743200" y="379476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β = 0.5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822960" y="4389120"/>
            <a:ext cx="5942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Generator matrix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822960" y="4709160"/>
            <a:ext cx="59428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Q = [ −α   α ;  β   −β ]   ;   sojourn ~ Exp(|Q_ii|)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4"/>
          <p:cNvSpPr/>
          <p:nvPr/>
        </p:nvSpPr>
        <p:spPr>
          <a:xfrm>
            <a:off x="822960" y="5212080"/>
            <a:ext cx="59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Exact CTMC dynamics in DES — no matrix exponential needed.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5"/>
          <p:cNvSpPr/>
          <p:nvPr/>
        </p:nvSpPr>
        <p:spPr>
          <a:xfrm>
            <a:off x="7178040" y="1600200"/>
            <a:ext cx="457128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6"/>
          <p:cNvSpPr/>
          <p:nvPr/>
        </p:nvSpPr>
        <p:spPr>
          <a:xfrm>
            <a:off x="7178040" y="1600200"/>
            <a:ext cx="63360" cy="4525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7452360" y="173736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Physical gNB RACH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6" name="Table 0"/>
          <p:cNvGraphicFramePr/>
          <p:nvPr/>
        </p:nvGraphicFramePr>
        <p:xfrm>
          <a:off x="7452360" y="2240280"/>
          <a:ext cx="402300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</a:tblGrid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Parameter</a:t>
                      </a:r>
                      <a:endParaRPr b="0" lang="en-TR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Value</a:t>
                      </a:r>
                      <a:endParaRPr b="0" lang="en-TR" sz="12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Preamble channels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 = 54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Buffer capacity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 = 200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41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Service time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Exp(1)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7452360" y="470916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18"/>
          <p:cNvSpPr/>
          <p:nvPr/>
        </p:nvSpPr>
        <p:spPr>
          <a:xfrm>
            <a:off x="7955280" y="4709160"/>
            <a:ext cx="3656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Stationary blocking governed by classical M/c/K formulas; non-stationarity comes from MMPP modulation.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8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PROPOSED METHOD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Calibrated Digital Twin architecture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"/>
          <p:cNvSpPr/>
          <p:nvPr/>
        </p:nvSpPr>
        <p:spPr>
          <a:xfrm>
            <a:off x="548640" y="1645920"/>
            <a:ext cx="2742480" cy="4296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"/>
          <p:cNvSpPr/>
          <p:nvPr/>
        </p:nvSpPr>
        <p:spPr>
          <a:xfrm>
            <a:off x="548640" y="1645920"/>
            <a:ext cx="63360" cy="4296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age 0" descr="preencoded.png"/>
          <p:cNvPicPr/>
          <p:nvPr/>
        </p:nvPicPr>
        <p:blipFill>
          <a:blip r:embed="rId1"/>
          <a:stretch/>
        </p:blipFill>
        <p:spPr>
          <a:xfrm>
            <a:off x="1645920" y="18745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Text 4"/>
          <p:cNvSpPr/>
          <p:nvPr/>
        </p:nvSpPr>
        <p:spPr>
          <a:xfrm>
            <a:off x="548640" y="251460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Physical gNB RACH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5"/>
          <p:cNvSpPr/>
          <p:nvPr/>
        </p:nvSpPr>
        <p:spPr>
          <a:xfrm>
            <a:off x="822960" y="3017520"/>
            <a:ext cx="2193840" cy="63936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822960" y="301752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Q_real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queue length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822960" y="3840480"/>
            <a:ext cx="2193840" cy="63936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822960" y="3840480"/>
            <a:ext cx="21938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n_win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arrivals per Δ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640080" y="4754880"/>
            <a:ext cx="2559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p_acb → SIB1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uac-BarringInfo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4206240" y="1645920"/>
            <a:ext cx="7405920" cy="4296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4206240" y="1645920"/>
            <a:ext cx="63360" cy="4296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4480560" y="1783080"/>
            <a:ext cx="6948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Digital Twin (xApp on Near-RT RIC)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10058400" y="1810440"/>
            <a:ext cx="1279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Every Δ = 1 s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4480560" y="2423160"/>
            <a:ext cx="2239560" cy="31996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4480560" y="2423160"/>
            <a:ext cx="2239560" cy="456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4617720" y="242316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①  Observe &amp; Predict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Image 1" descr="preencoded.png"/>
          <p:cNvPicPr/>
          <p:nvPr/>
        </p:nvPicPr>
        <p:blipFill>
          <a:blip r:embed="rId2"/>
          <a:stretch/>
        </p:blipFill>
        <p:spPr>
          <a:xfrm>
            <a:off x="5280840" y="320040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 17"/>
          <p:cNvSpPr/>
          <p:nvPr/>
        </p:nvSpPr>
        <p:spPr>
          <a:xfrm>
            <a:off x="4663440" y="3977640"/>
            <a:ext cx="1873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EMA → λ̂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8"/>
          <p:cNvSpPr/>
          <p:nvPr/>
        </p:nvSpPr>
        <p:spPr>
          <a:xfrm>
            <a:off x="4663440" y="4526280"/>
            <a:ext cx="1873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Count arrivals in Δ; EMA predicts λ̂.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9"/>
          <p:cNvSpPr/>
          <p:nvPr/>
        </p:nvSpPr>
        <p:spPr>
          <a:xfrm>
            <a:off x="6858000" y="2423160"/>
            <a:ext cx="2239560" cy="31996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6858000" y="2423160"/>
            <a:ext cx="2239560" cy="456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6995160" y="242316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②  Control Decision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Image 2" descr="preencoded.png"/>
          <p:cNvPicPr/>
          <p:nvPr/>
        </p:nvPicPr>
        <p:blipFill>
          <a:blip r:embed="rId3"/>
          <a:stretch/>
        </p:blipFill>
        <p:spPr>
          <a:xfrm>
            <a:off x="7658280" y="320040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Text 22"/>
          <p:cNvSpPr/>
          <p:nvPr/>
        </p:nvSpPr>
        <p:spPr>
          <a:xfrm>
            <a:off x="7040880" y="3977640"/>
            <a:ext cx="1873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p_acb from Q_real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3"/>
          <p:cNvSpPr/>
          <p:nvPr/>
        </p:nvSpPr>
        <p:spPr>
          <a:xfrm>
            <a:off x="7040880" y="4526280"/>
            <a:ext cx="1873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Min. barring probability to keep Q_real &lt; K.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4"/>
          <p:cNvSpPr/>
          <p:nvPr/>
        </p:nvSpPr>
        <p:spPr>
          <a:xfrm>
            <a:off x="9235440" y="2423160"/>
            <a:ext cx="2239560" cy="31996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5"/>
          <p:cNvSpPr/>
          <p:nvPr/>
        </p:nvSpPr>
        <p:spPr>
          <a:xfrm>
            <a:off x="9235440" y="2423160"/>
            <a:ext cx="2239560" cy="45648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6"/>
          <p:cNvSpPr/>
          <p:nvPr/>
        </p:nvSpPr>
        <p:spPr>
          <a:xfrm>
            <a:off x="9372600" y="2423160"/>
            <a:ext cx="1965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③  Calibrate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3" descr="preencoded.png"/>
          <p:cNvPicPr/>
          <p:nvPr/>
        </p:nvPicPr>
        <p:blipFill>
          <a:blip r:embed="rId4"/>
          <a:stretch/>
        </p:blipFill>
        <p:spPr>
          <a:xfrm>
            <a:off x="10035720" y="3200400"/>
            <a:ext cx="639360" cy="63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Text 27"/>
          <p:cNvSpPr/>
          <p:nvPr/>
        </p:nvSpPr>
        <p:spPr>
          <a:xfrm>
            <a:off x="9418320" y="3977640"/>
            <a:ext cx="1873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α ← f(E)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8"/>
          <p:cNvSpPr/>
          <p:nvPr/>
        </p:nvSpPr>
        <p:spPr>
          <a:xfrm>
            <a:off x="9418320" y="4526280"/>
            <a:ext cx="18738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Adjust α via asymmetric step rule when E &gt; ε.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9"/>
          <p:cNvSpPr/>
          <p:nvPr/>
        </p:nvSpPr>
        <p:spPr>
          <a:xfrm>
            <a:off x="3291840" y="3337560"/>
            <a:ext cx="914400" cy="360"/>
          </a:xfrm>
          <a:prstGeom prst="line">
            <a:avLst/>
          </a:prstGeom>
          <a:ln w="317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0"/>
          <p:cNvSpPr/>
          <p:nvPr/>
        </p:nvSpPr>
        <p:spPr>
          <a:xfrm>
            <a:off x="3337560" y="306324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trike="noStrike" u="non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observe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1"/>
          <p:cNvSpPr/>
          <p:nvPr/>
        </p:nvSpPr>
        <p:spPr>
          <a:xfrm>
            <a:off x="7977960" y="5943600"/>
            <a:ext cx="360" cy="320040"/>
          </a:xfrm>
          <a:prstGeom prst="line">
            <a:avLst/>
          </a:prstGeom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2"/>
          <p:cNvSpPr/>
          <p:nvPr/>
        </p:nvSpPr>
        <p:spPr>
          <a:xfrm>
            <a:off x="1920240" y="6263640"/>
            <a:ext cx="6057720" cy="360"/>
          </a:xfrm>
          <a:prstGeom prst="line">
            <a:avLst/>
          </a:prstGeom>
          <a:ln w="254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3"/>
          <p:cNvSpPr/>
          <p:nvPr/>
        </p:nvSpPr>
        <p:spPr>
          <a:xfrm>
            <a:off x="1920240" y="5943600"/>
            <a:ext cx="360" cy="320040"/>
          </a:xfrm>
          <a:prstGeom prst="line">
            <a:avLst/>
          </a:prstGeom>
          <a:ln w="25400">
            <a:solidFill>
              <a:srgbClr val="c0392b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4"/>
          <p:cNvSpPr/>
          <p:nvPr/>
        </p:nvSpPr>
        <p:spPr>
          <a:xfrm>
            <a:off x="2834640" y="630936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p_acb feedback into SIB1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35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6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7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9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PROPOSED METHOD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EMA predictor and ACB control policy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548640" y="1600200"/>
            <a:ext cx="553140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548640" y="1600200"/>
            <a:ext cx="63360" cy="4525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0" descr="preencoded.png"/>
          <p:cNvPicPr/>
          <p:nvPr/>
        </p:nvPicPr>
        <p:blipFill>
          <a:blip r:embed="rId1"/>
          <a:stretch/>
        </p:blipFill>
        <p:spPr>
          <a:xfrm>
            <a:off x="822960" y="17830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4"/>
          <p:cNvSpPr/>
          <p:nvPr/>
        </p:nvSpPr>
        <p:spPr>
          <a:xfrm>
            <a:off x="1325880" y="1783080"/>
            <a:ext cx="4617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EMA arrival-rate predictor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822960" y="2377440"/>
            <a:ext cx="4982760" cy="132516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914400" y="2468880"/>
            <a:ext cx="4799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EMA_t = α · λ_cur + (1 − α) · EMA_{t−1}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λ_cur = n_win / Δ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822960" y="3840480"/>
            <a:ext cx="498276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Initial weight α₀ = 0.20  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α is dynamic — updated by the calibration loop (Stage 3)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822960" y="5212080"/>
            <a:ext cx="4982760" cy="776520"/>
          </a:xfrm>
          <a:prstGeom prst="rect">
            <a:avLst/>
          </a:prstGeom>
          <a:solidFill>
            <a:srgbClr val="e8f4f8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960120" y="5212080"/>
            <a:ext cx="4754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Key insight: p_acb rises before Q_real reaches K — proactive throttling, not reactive.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0"/>
          <p:cNvSpPr/>
          <p:nvPr/>
        </p:nvSpPr>
        <p:spPr>
          <a:xfrm>
            <a:off x="6263640" y="1600200"/>
            <a:ext cx="553140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1"/>
          <p:cNvSpPr/>
          <p:nvPr/>
        </p:nvSpPr>
        <p:spPr>
          <a:xfrm>
            <a:off x="6263640" y="1600200"/>
            <a:ext cx="63360" cy="452556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Image 1" descr="preencoded.png"/>
          <p:cNvPicPr/>
          <p:nvPr/>
        </p:nvPicPr>
        <p:blipFill>
          <a:blip r:embed="rId2"/>
          <a:stretch/>
        </p:blipFill>
        <p:spPr>
          <a:xfrm>
            <a:off x="6537960" y="17830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Text 12"/>
          <p:cNvSpPr/>
          <p:nvPr/>
        </p:nvSpPr>
        <p:spPr>
          <a:xfrm>
            <a:off x="7040880" y="1783080"/>
            <a:ext cx="4617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Stochastic barring probability</a:t>
            </a:r>
            <a:endParaRPr b="0" lang="en-T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3"/>
          <p:cNvSpPr/>
          <p:nvPr/>
        </p:nvSpPr>
        <p:spPr>
          <a:xfrm>
            <a:off x="6537960" y="2377440"/>
            <a:ext cx="4982760" cy="132516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4"/>
          <p:cNvSpPr/>
          <p:nvPr/>
        </p:nvSpPr>
        <p:spPr>
          <a:xfrm>
            <a:off x="6629400" y="2468880"/>
            <a:ext cx="479988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p_acb = max(0, min(1, 1 − (K − Q_real) / max(EMA_t · Δ, 1e−9)))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5"/>
          <p:cNvSpPr/>
          <p:nvPr/>
        </p:nvSpPr>
        <p:spPr>
          <a:xfrm>
            <a:off x="6537960" y="3840480"/>
            <a:ext cx="498276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Minimum probability to prevent Q_real ≥ K next step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Applied as a Bernoulli trial per request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Maps to uac-BarringInfo in SIB1 (3GPP TS 38.331)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6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8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10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PROPOSED METHOD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Continuous calibration loop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"/>
          <p:cNvSpPr/>
          <p:nvPr/>
        </p:nvSpPr>
        <p:spPr>
          <a:xfrm>
            <a:off x="548640" y="1554480"/>
            <a:ext cx="1106352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3"/>
          <p:cNvSpPr/>
          <p:nvPr/>
        </p:nvSpPr>
        <p:spPr>
          <a:xfrm>
            <a:off x="548640" y="1554480"/>
            <a:ext cx="63360" cy="1050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"/>
          <p:cNvSpPr/>
          <p:nvPr/>
        </p:nvSpPr>
        <p:spPr>
          <a:xfrm>
            <a:off x="777240" y="16275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State-mirroring error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5"/>
          <p:cNvSpPr/>
          <p:nvPr/>
        </p:nvSpPr>
        <p:spPr>
          <a:xfrm>
            <a:off x="777240" y="1993320"/>
            <a:ext cx="10514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E(t) = | Q_real(t) − Q_virtual(t) |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6"/>
          <p:cNvSpPr/>
          <p:nvPr/>
        </p:nvSpPr>
        <p:spPr>
          <a:xfrm>
            <a:off x="548640" y="2743200"/>
            <a:ext cx="5531400" cy="3382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7"/>
          <p:cNvSpPr/>
          <p:nvPr/>
        </p:nvSpPr>
        <p:spPr>
          <a:xfrm>
            <a:off x="548640" y="2743200"/>
            <a:ext cx="63360" cy="338256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8"/>
          <p:cNvSpPr/>
          <p:nvPr/>
        </p:nvSpPr>
        <p:spPr>
          <a:xfrm>
            <a:off x="777240" y="283464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Asymmetric step rule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9"/>
          <p:cNvSpPr/>
          <p:nvPr/>
        </p:nvSpPr>
        <p:spPr>
          <a:xfrm>
            <a:off x="777240" y="3246120"/>
            <a:ext cx="5074200" cy="141660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0"/>
          <p:cNvSpPr/>
          <p:nvPr/>
        </p:nvSpPr>
        <p:spPr>
          <a:xfrm>
            <a:off x="914400" y="3291840"/>
            <a:ext cx="484560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if  E &gt; ε  :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    α ← min(α_max, α + δ⁺)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e8a6b"/>
                </a:solidFill>
                <a:effectLst/>
                <a:uFillTx/>
                <a:latin typeface="Consolas"/>
                <a:ea typeface="Consolas"/>
              </a:rPr>
              <a:t>else: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    α ← max(α_min, α − δ⁻)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1"/>
          <p:cNvSpPr/>
          <p:nvPr/>
        </p:nvSpPr>
        <p:spPr>
          <a:xfrm>
            <a:off x="777240" y="4800600"/>
            <a:ext cx="1626840" cy="1142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777240" y="4846320"/>
            <a:ext cx="162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ε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3"/>
          <p:cNvSpPr/>
          <p:nvPr/>
        </p:nvSpPr>
        <p:spPr>
          <a:xfrm>
            <a:off x="777240" y="5212080"/>
            <a:ext cx="1626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10</a:t>
            </a:r>
            <a:endParaRPr b="0" lang="en-T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4"/>
          <p:cNvSpPr/>
          <p:nvPr/>
        </p:nvSpPr>
        <p:spPr>
          <a:xfrm>
            <a:off x="822960" y="5577840"/>
            <a:ext cx="153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calibration threshold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5"/>
          <p:cNvSpPr/>
          <p:nvPr/>
        </p:nvSpPr>
        <p:spPr>
          <a:xfrm>
            <a:off x="2496240" y="4800600"/>
            <a:ext cx="1626840" cy="1142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2496240" y="4846320"/>
            <a:ext cx="162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δ⁺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2496240" y="5212080"/>
            <a:ext cx="1626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0.05</a:t>
            </a:r>
            <a:endParaRPr b="0" lang="en-T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2541960" y="5577840"/>
            <a:ext cx="153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fast attack response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4215240" y="4800600"/>
            <a:ext cx="1626840" cy="11422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4215240" y="4846320"/>
            <a:ext cx="16268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δ⁻</a:t>
            </a: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1"/>
          <p:cNvSpPr/>
          <p:nvPr/>
        </p:nvSpPr>
        <p:spPr>
          <a:xfrm>
            <a:off x="4215240" y="5212080"/>
            <a:ext cx="1626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0.01</a:t>
            </a:r>
            <a:endParaRPr b="0" lang="en-T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2"/>
          <p:cNvSpPr/>
          <p:nvPr/>
        </p:nvSpPr>
        <p:spPr>
          <a:xfrm>
            <a:off x="4260960" y="5577840"/>
            <a:ext cx="1535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slow decay (stability)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3"/>
          <p:cNvSpPr/>
          <p:nvPr/>
        </p:nvSpPr>
        <p:spPr>
          <a:xfrm>
            <a:off x="6263640" y="2743200"/>
            <a:ext cx="553140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6263640" y="2743200"/>
            <a:ext cx="63360" cy="1599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5"/>
          <p:cNvSpPr/>
          <p:nvPr/>
        </p:nvSpPr>
        <p:spPr>
          <a:xfrm>
            <a:off x="6492240" y="2834640"/>
            <a:ext cx="5165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c0392b"/>
                </a:solidFill>
                <a:effectLst/>
                <a:uFillTx/>
                <a:latin typeface="Cambria"/>
                <a:ea typeface="Cambria"/>
              </a:rPr>
              <a:t>Attack onset:  δ⁺ = 0.05  (fast)</a:t>
            </a:r>
            <a:endParaRPr b="0" lang="en-T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6"/>
          <p:cNvSpPr/>
          <p:nvPr/>
        </p:nvSpPr>
        <p:spPr>
          <a:xfrm>
            <a:off x="6537960" y="3246120"/>
            <a:ext cx="50742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EMA becomes high-frequency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Outdated observations discarded quickly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7"/>
          <p:cNvSpPr/>
          <p:nvPr/>
        </p:nvSpPr>
        <p:spPr>
          <a:xfrm>
            <a:off x="6263640" y="4526280"/>
            <a:ext cx="553140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28"/>
          <p:cNvSpPr/>
          <p:nvPr/>
        </p:nvSpPr>
        <p:spPr>
          <a:xfrm>
            <a:off x="6263640" y="4526280"/>
            <a:ext cx="63360" cy="1599480"/>
          </a:xfrm>
          <a:prstGeom prst="rect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29"/>
          <p:cNvSpPr/>
          <p:nvPr/>
        </p:nvSpPr>
        <p:spPr>
          <a:xfrm>
            <a:off x="6492240" y="4617720"/>
            <a:ext cx="5165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0e8a6b"/>
                </a:solidFill>
                <a:effectLst/>
                <a:uFillTx/>
                <a:latin typeface="Cambria"/>
                <a:ea typeface="Cambria"/>
              </a:rPr>
              <a:t>Normal traffic:  δ⁻ = 0.01  (slow)</a:t>
            </a:r>
            <a:endParaRPr b="0" lang="en-TR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0"/>
          <p:cNvSpPr/>
          <p:nvPr/>
        </p:nvSpPr>
        <p:spPr>
          <a:xfrm>
            <a:off x="6537960" y="5029200"/>
            <a:ext cx="507420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Statistical stability preserved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Avoids oscillation around ε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31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33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11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ALGORITHM 1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Calibrated DT control loop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"/>
          <p:cNvSpPr/>
          <p:nvPr/>
        </p:nvSpPr>
        <p:spPr>
          <a:xfrm>
            <a:off x="548640" y="1600200"/>
            <a:ext cx="6948720" cy="4525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2" name="Image 0" descr="preencoded.png"/>
          <p:cNvPicPr/>
          <p:nvPr/>
        </p:nvPicPr>
        <p:blipFill>
          <a:blip r:embed="rId1"/>
          <a:stretch/>
        </p:blipFill>
        <p:spPr>
          <a:xfrm>
            <a:off x="777240" y="17830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Text 3"/>
          <p:cNvSpPr/>
          <p:nvPr/>
        </p:nvSpPr>
        <p:spPr>
          <a:xfrm>
            <a:off x="1280160" y="1783080"/>
            <a:ext cx="6034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Every Δ control step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4"/>
          <p:cNvSpPr/>
          <p:nvPr/>
        </p:nvSpPr>
        <p:spPr>
          <a:xfrm>
            <a:off x="822960" y="2286000"/>
            <a:ext cx="6491520" cy="37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1.  λ_cur ← n_win / Δ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2.  EMA_t ← α · λ_cur + (1 − α) · EMA_{t−1}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3.  d ← max(EMA_t · Δ, 1e−9)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4.  p_acb ← max(0, min(1, 1 − (K − Q_real) / d))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5.  Q_virtual ← clip(Q_virtual + EMA_t · (1 − p_acb) · Δ − c · Δ, 0, K)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6.  E ← | Q_real − Q_virtual |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7.  if  E &gt; ε :  α ← min(α_max, α + δ⁺)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8.  else      :  α ← max(α_min, α − δ⁻)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e2e8f0"/>
                </a:solidFill>
                <a:effectLst/>
                <a:uFillTx/>
                <a:latin typeface="Consolas"/>
                <a:ea typeface="Consolas"/>
              </a:rPr>
              <a:t>9.  drop_rate ← p_acb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5"/>
          <p:cNvSpPr/>
          <p:nvPr/>
        </p:nvSpPr>
        <p:spPr>
          <a:xfrm>
            <a:off x="7680960" y="1600200"/>
            <a:ext cx="411408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7909560" y="173736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Complexity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>
            <a:off x="7909560" y="2240280"/>
            <a:ext cx="3656880" cy="1508040"/>
          </a:xfrm>
          <a:prstGeom prst="roundRect">
            <a:avLst>
              <a:gd name="adj" fmla="val 4848"/>
            </a:avLst>
          </a:prstGeom>
          <a:solidFill>
            <a:srgbClr val="e8f5ef"/>
          </a:solidFill>
          <a:ln w="1905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8"/>
          <p:cNvSpPr/>
          <p:nvPr/>
        </p:nvSpPr>
        <p:spPr>
          <a:xfrm>
            <a:off x="8046720" y="231336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e8a6b"/>
                </a:solidFill>
                <a:effectLst/>
                <a:uFillTx/>
                <a:latin typeface="Calibri"/>
                <a:ea typeface="Calibri"/>
              </a:rPr>
              <a:t>Calibrated DT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9"/>
          <p:cNvSpPr/>
          <p:nvPr/>
        </p:nvSpPr>
        <p:spPr>
          <a:xfrm>
            <a:off x="8046720" y="258768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e8a6b"/>
                </a:solidFill>
                <a:effectLst/>
                <a:uFillTx/>
                <a:latin typeface="Consolas"/>
                <a:ea typeface="Consolas"/>
              </a:rPr>
              <a:t>O(1)</a:t>
            </a:r>
            <a:endParaRPr b="0" lang="en-T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0"/>
          <p:cNvSpPr/>
          <p:nvPr/>
        </p:nvSpPr>
        <p:spPr>
          <a:xfrm>
            <a:off x="8046720" y="3154680"/>
            <a:ext cx="3474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Fixed arithmetic · 4 state variables · μs control budget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1"/>
          <p:cNvSpPr/>
          <p:nvPr/>
        </p:nvSpPr>
        <p:spPr>
          <a:xfrm>
            <a:off x="7909560" y="3931920"/>
            <a:ext cx="3656880" cy="1508040"/>
          </a:xfrm>
          <a:prstGeom prst="roundRect">
            <a:avLst>
              <a:gd name="adj" fmla="val 4848"/>
            </a:avLst>
          </a:prstGeom>
          <a:solidFill>
            <a:srgbClr val="fbe9e7"/>
          </a:solidFill>
          <a:ln w="1905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2"/>
          <p:cNvSpPr/>
          <p:nvPr/>
        </p:nvSpPr>
        <p:spPr>
          <a:xfrm>
            <a:off x="8046720" y="4005000"/>
            <a:ext cx="3474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DNN predictors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3"/>
          <p:cNvSpPr/>
          <p:nvPr/>
        </p:nvSpPr>
        <p:spPr>
          <a:xfrm>
            <a:off x="8046720" y="4279320"/>
            <a:ext cx="34740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O(W)</a:t>
            </a:r>
            <a:endParaRPr b="0" lang="en-T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4"/>
          <p:cNvSpPr/>
          <p:nvPr/>
        </p:nvSpPr>
        <p:spPr>
          <a:xfrm>
            <a:off x="8046720" y="4846320"/>
            <a:ext cx="3474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W ~ 10⁵–10⁷ · ms latency · impractical on gNB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7909560" y="56235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State: { EMA_t, Q_virtual, α, n_win }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6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7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8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12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EVALUATION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Simulation setup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548640" y="1600200"/>
            <a:ext cx="553140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548640" y="1600200"/>
            <a:ext cx="63360" cy="4525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preencoded.png"/>
          <p:cNvPicPr/>
          <p:nvPr/>
        </p:nvPicPr>
        <p:blipFill>
          <a:blip r:embed="rId1"/>
          <a:stretch/>
        </p:blipFill>
        <p:spPr>
          <a:xfrm>
            <a:off x="822960" y="17830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4"/>
          <p:cNvSpPr/>
          <p:nvPr/>
        </p:nvSpPr>
        <p:spPr>
          <a:xfrm>
            <a:off x="1325880" y="1783080"/>
            <a:ext cx="4617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Experimental configuration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822960" y="2377440"/>
            <a:ext cx="498276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Discrete-event simulation:  SimPy, Python 3.10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T_sim = 1000 s per run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 = 10 independent seeds (Monte Carlo)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95 % CI:  x̄ ± 1.96 · σ̂ / √N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822960" y="438912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Three methods compared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822960" y="4846320"/>
            <a:ext cx="163800" cy="163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1097280" y="4754880"/>
            <a:ext cx="246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Reactive Baseline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3566160" y="475488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threshold 0.8 K, drop 0.5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0"/>
          <p:cNvSpPr/>
          <p:nvPr/>
        </p:nvSpPr>
        <p:spPr>
          <a:xfrm>
            <a:off x="822960" y="5303520"/>
            <a:ext cx="163800" cy="1638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1097280" y="5212080"/>
            <a:ext cx="246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DT no-calibration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2"/>
          <p:cNvSpPr/>
          <p:nvPr/>
        </p:nvSpPr>
        <p:spPr>
          <a:xfrm>
            <a:off x="3566160" y="521208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α fixed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3"/>
          <p:cNvSpPr/>
          <p:nvPr/>
        </p:nvSpPr>
        <p:spPr>
          <a:xfrm>
            <a:off x="822960" y="5760720"/>
            <a:ext cx="163800" cy="163800"/>
          </a:xfrm>
          <a:prstGeom prst="ellipse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1097280" y="5669280"/>
            <a:ext cx="2468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Calibrated DT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5"/>
          <p:cNvSpPr/>
          <p:nvPr/>
        </p:nvSpPr>
        <p:spPr>
          <a:xfrm>
            <a:off x="3566160" y="566928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asymmetric step rule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6263640" y="1600200"/>
            <a:ext cx="553140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7"/>
          <p:cNvSpPr/>
          <p:nvPr/>
        </p:nvSpPr>
        <p:spPr>
          <a:xfrm>
            <a:off x="6263640" y="1600200"/>
            <a:ext cx="63360" cy="4525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8"/>
          <p:cNvSpPr/>
          <p:nvPr/>
        </p:nvSpPr>
        <p:spPr>
          <a:xfrm>
            <a:off x="6537960" y="1783080"/>
            <a:ext cx="5074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Key parameters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9" name="Table 0"/>
          <p:cNvGraphicFramePr/>
          <p:nvPr/>
        </p:nvGraphicFramePr>
        <p:xfrm>
          <a:off x="6537960" y="2286000"/>
          <a:ext cx="4983120" cy="307008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50876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Parameter</a:t>
                      </a:r>
                      <a:endParaRPr b="0" lang="en-TR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Symbol</a:t>
                      </a:r>
                      <a:endParaRPr b="0" lang="en-TR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Value</a:t>
                      </a:r>
                      <a:endParaRPr b="0" lang="en-TR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Preamble channels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54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Buffer capacity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K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200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Normal arrival rate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λ_low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10 req/s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Burst arrival rate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λ_high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500 req/s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Control interval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Δ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 s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Calibration threshold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ε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10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a22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Initial EMA weight</a:t>
                      </a:r>
                      <a:endParaRPr b="0" lang="en-TR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α₀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1c7293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0.20</a:t>
                      </a:r>
                      <a:endParaRPr b="0" lang="en-T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3ec"/>
                      </a:solidFill>
                      <a:prstDash val="solid"/>
                    </a:lnL>
                    <a:lnR w="9360">
                      <a:solidFill>
                        <a:srgbClr val="dce3ec"/>
                      </a:solidFill>
                      <a:prstDash val="solid"/>
                    </a:lnR>
                    <a:lnT w="9360">
                      <a:solidFill>
                        <a:srgbClr val="dce3ec"/>
                      </a:solidFill>
                      <a:prstDash val="solid"/>
                    </a:lnT>
                    <a:lnB w="9360">
                      <a:solidFill>
                        <a:srgbClr val="dce3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0" name="Shape 19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0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1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13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1112400" y="1371600"/>
            <a:ext cx="9966600" cy="383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4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RESULT 1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State-mirroring error — 42% reduction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54864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6"/>
          <p:cNvSpPr/>
          <p:nvPr/>
        </p:nvSpPr>
        <p:spPr>
          <a:xfrm>
            <a:off x="548640" y="5257800"/>
            <a:ext cx="63360" cy="1050840"/>
          </a:xfrm>
          <a:prstGeom prst="rect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731520" y="5303520"/>
            <a:ext cx="32911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e8a6b"/>
                </a:solidFill>
                <a:effectLst/>
                <a:uFillTx/>
                <a:latin typeface="Cambria"/>
                <a:ea typeface="Cambria"/>
              </a:rPr>
              <a:t>42 %</a:t>
            </a:r>
            <a:endParaRPr b="0" lang="en-T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8"/>
          <p:cNvSpPr/>
          <p:nvPr/>
        </p:nvSpPr>
        <p:spPr>
          <a:xfrm>
            <a:off x="731520" y="5897880"/>
            <a:ext cx="3291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reduction in E_mean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429768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0"/>
          <p:cNvSpPr/>
          <p:nvPr/>
        </p:nvSpPr>
        <p:spPr>
          <a:xfrm>
            <a:off x="4297680" y="5257800"/>
            <a:ext cx="63360" cy="1050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4480560" y="5312520"/>
            <a:ext cx="3291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E_mean  (N = 10, 95 % CI)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4480560" y="5623560"/>
            <a:ext cx="18097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DT (no calib.)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100" strike="noStrike" u="none">
                <a:solidFill>
                  <a:srgbClr val="0e8a6b"/>
                </a:solidFill>
                <a:effectLst/>
                <a:uFillTx/>
                <a:latin typeface="Calibri"/>
                <a:ea typeface="Calibri"/>
              </a:rPr>
              <a:t>Calibrated DT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3"/>
          <p:cNvSpPr/>
          <p:nvPr/>
        </p:nvSpPr>
        <p:spPr>
          <a:xfrm>
            <a:off x="6291000" y="5623560"/>
            <a:ext cx="1480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11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85.03 ± 4.40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100" strike="noStrike" u="none">
                <a:solidFill>
                  <a:srgbClr val="0e8a6b"/>
                </a:solidFill>
                <a:effectLst/>
                <a:uFillTx/>
                <a:latin typeface="Consolas"/>
                <a:ea typeface="Consolas"/>
              </a:rPr>
              <a:t>49.14 ± 3.09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804672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5"/>
          <p:cNvSpPr/>
          <p:nvPr/>
        </p:nvSpPr>
        <p:spPr>
          <a:xfrm>
            <a:off x="8046720" y="5257800"/>
            <a:ext cx="63360" cy="105084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8229600" y="5312520"/>
            <a:ext cx="3291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Takeaway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7"/>
          <p:cNvSpPr/>
          <p:nvPr/>
        </p:nvSpPr>
        <p:spPr>
          <a:xfrm>
            <a:off x="8229600" y="5586840"/>
            <a:ext cx="32911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Calibration suppresses model drift continuously during the burst — CIs do not overlap.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9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0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14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RESULT 2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Queue stability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5"/>
          <p:cNvSpPr/>
          <p:nvPr/>
        </p:nvSpPr>
        <p:spPr>
          <a:xfrm>
            <a:off x="54864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6"/>
          <p:cNvSpPr/>
          <p:nvPr/>
        </p:nvSpPr>
        <p:spPr>
          <a:xfrm>
            <a:off x="548640" y="5257800"/>
            <a:ext cx="63360" cy="1050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713160" y="5294520"/>
            <a:ext cx="3309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P_success  (N = 10, 95 % CI)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8"/>
          <p:cNvSpPr/>
          <p:nvPr/>
        </p:nvSpPr>
        <p:spPr>
          <a:xfrm>
            <a:off x="713160" y="5550480"/>
            <a:ext cx="18198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Reactive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DT (no calib.)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0e8a6b"/>
                </a:solidFill>
                <a:effectLst/>
                <a:uFillTx/>
                <a:latin typeface="Calibri"/>
                <a:ea typeface="Calibri"/>
              </a:rPr>
              <a:t>Calibrated DT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2533680" y="5550480"/>
            <a:ext cx="14889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spcAft>
                <a:spcPts val="99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0.310 ± 0.015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99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0.301 ± 0.011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spcAft>
                <a:spcPts val="99"/>
              </a:spcAft>
              <a:tabLst>
                <a:tab algn="l" pos="0"/>
              </a:tabLst>
            </a:pPr>
            <a:r>
              <a:rPr b="1" lang="en-US" sz="1000" strike="noStrike" u="none">
                <a:solidFill>
                  <a:srgbClr val="0e8a6b"/>
                </a:solidFill>
                <a:effectLst/>
                <a:uFillTx/>
                <a:latin typeface="Consolas"/>
                <a:ea typeface="Consolas"/>
              </a:rPr>
              <a:t>0.309 ± 0.019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0"/>
          <p:cNvSpPr/>
          <p:nvPr/>
        </p:nvSpPr>
        <p:spPr>
          <a:xfrm>
            <a:off x="429768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1"/>
          <p:cNvSpPr/>
          <p:nvPr/>
        </p:nvSpPr>
        <p:spPr>
          <a:xfrm>
            <a:off x="4297680" y="5257800"/>
            <a:ext cx="63360" cy="1050840"/>
          </a:xfrm>
          <a:prstGeom prst="rect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2"/>
          <p:cNvSpPr/>
          <p:nvPr/>
        </p:nvSpPr>
        <p:spPr>
          <a:xfrm>
            <a:off x="4462200" y="5257800"/>
            <a:ext cx="3309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0e8a6b"/>
                </a:solidFill>
                <a:effectLst/>
                <a:uFillTx/>
                <a:latin typeface="Cambria"/>
                <a:ea typeface="Cambria"/>
              </a:rPr>
              <a:t>≈</a:t>
            </a:r>
            <a:endParaRPr b="0" lang="en-T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3"/>
          <p:cNvSpPr/>
          <p:nvPr/>
        </p:nvSpPr>
        <p:spPr>
          <a:xfrm>
            <a:off x="4462200" y="5806440"/>
            <a:ext cx="330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statistically equivalent to baseline; no throughput penalty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4"/>
          <p:cNvSpPr/>
          <p:nvPr/>
        </p:nvSpPr>
        <p:spPr>
          <a:xfrm>
            <a:off x="804672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5"/>
          <p:cNvSpPr/>
          <p:nvPr/>
        </p:nvSpPr>
        <p:spPr>
          <a:xfrm>
            <a:off x="8046720" y="5257800"/>
            <a:ext cx="63360" cy="105084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6"/>
          <p:cNvSpPr/>
          <p:nvPr/>
        </p:nvSpPr>
        <p:spPr>
          <a:xfrm>
            <a:off x="8211240" y="5294520"/>
            <a:ext cx="3309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Interpretation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7"/>
          <p:cNvSpPr/>
          <p:nvPr/>
        </p:nvSpPr>
        <p:spPr>
          <a:xfrm>
            <a:off x="8211240" y="5550480"/>
            <a:ext cx="3309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Reactive only acts after Q &gt; 0.8 K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Calibrated DT raises p_acb before saturation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8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9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0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15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0" name="" descr=""/>
          <p:cNvPicPr/>
          <p:nvPr/>
        </p:nvPicPr>
        <p:blipFill>
          <a:blip r:embed="rId1"/>
          <a:stretch/>
        </p:blipFill>
        <p:spPr>
          <a:xfrm>
            <a:off x="1149120" y="1363320"/>
            <a:ext cx="9893160" cy="380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RESULT 3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Queueing delay — CDF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5"/>
          <p:cNvSpPr/>
          <p:nvPr/>
        </p:nvSpPr>
        <p:spPr>
          <a:xfrm>
            <a:off x="54864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6"/>
          <p:cNvSpPr/>
          <p:nvPr/>
        </p:nvSpPr>
        <p:spPr>
          <a:xfrm>
            <a:off x="548640" y="5257800"/>
            <a:ext cx="63360" cy="1050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7"/>
          <p:cNvSpPr/>
          <p:nvPr/>
        </p:nvSpPr>
        <p:spPr>
          <a:xfrm>
            <a:off x="713160" y="529452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CDF left-shift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8"/>
          <p:cNvSpPr/>
          <p:nvPr/>
        </p:nvSpPr>
        <p:spPr>
          <a:xfrm>
            <a:off x="713160" y="5568840"/>
            <a:ext cx="3309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Calibrated DT curve sits left of the others — lower delay across all reported percentiles.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9"/>
          <p:cNvSpPr/>
          <p:nvPr/>
        </p:nvSpPr>
        <p:spPr>
          <a:xfrm>
            <a:off x="429768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0"/>
          <p:cNvSpPr/>
          <p:nvPr/>
        </p:nvSpPr>
        <p:spPr>
          <a:xfrm>
            <a:off x="4297680" y="5257800"/>
            <a:ext cx="63360" cy="1050840"/>
          </a:xfrm>
          <a:prstGeom prst="rect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1"/>
          <p:cNvSpPr/>
          <p:nvPr/>
        </p:nvSpPr>
        <p:spPr>
          <a:xfrm>
            <a:off x="4462200" y="529452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Tail suppressed</a:t>
            </a:r>
            <a:endParaRPr b="0" lang="en-T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2"/>
          <p:cNvSpPr/>
          <p:nvPr/>
        </p:nvSpPr>
        <p:spPr>
          <a:xfrm>
            <a:off x="4462200" y="5568840"/>
            <a:ext cx="33094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P90 / P99 queueing delay roughly halved — critical for URLLC latency budgets.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3"/>
          <p:cNvSpPr/>
          <p:nvPr/>
        </p:nvSpPr>
        <p:spPr>
          <a:xfrm>
            <a:off x="804672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4"/>
          <p:cNvSpPr/>
          <p:nvPr/>
        </p:nvSpPr>
        <p:spPr>
          <a:xfrm>
            <a:off x="8046720" y="5257800"/>
            <a:ext cx="63360" cy="105084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5"/>
          <p:cNvSpPr/>
          <p:nvPr/>
        </p:nvSpPr>
        <p:spPr>
          <a:xfrm>
            <a:off x="8211240" y="529452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Mechanism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6"/>
          <p:cNvSpPr/>
          <p:nvPr/>
        </p:nvSpPr>
        <p:spPr>
          <a:xfrm>
            <a:off x="8211240" y="5550480"/>
            <a:ext cx="3309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Reactive admits requests into a deeply loaded queue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Calibrated DT keeps Q_real low → short waits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7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8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9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16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8" name="" descr=""/>
          <p:cNvPicPr/>
          <p:nvPr/>
        </p:nvPicPr>
        <p:blipFill>
          <a:blip r:embed="rId1"/>
          <a:stretch/>
        </p:blipFill>
        <p:spPr>
          <a:xfrm>
            <a:off x="1866960" y="1371600"/>
            <a:ext cx="8457840" cy="3843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RESULT 4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ε-sensitivity analysis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5"/>
          <p:cNvSpPr/>
          <p:nvPr/>
        </p:nvSpPr>
        <p:spPr>
          <a:xfrm>
            <a:off x="54864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548640" y="5257800"/>
            <a:ext cx="63360" cy="105084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713160" y="529452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Tested values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713160" y="5586840"/>
            <a:ext cx="330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onsolas"/>
                <a:ea typeface="Consolas"/>
              </a:rPr>
              <a:t>ε ∈ { 5, 10, 20, 40, 80 }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9"/>
          <p:cNvSpPr/>
          <p:nvPr/>
        </p:nvSpPr>
        <p:spPr>
          <a:xfrm>
            <a:off x="713160" y="600768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Single-seed sweep (seed = 42)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0"/>
          <p:cNvSpPr/>
          <p:nvPr/>
        </p:nvSpPr>
        <p:spPr>
          <a:xfrm>
            <a:off x="429768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1"/>
          <p:cNvSpPr/>
          <p:nvPr/>
        </p:nvSpPr>
        <p:spPr>
          <a:xfrm>
            <a:off x="4297680" y="5257800"/>
            <a:ext cx="63360" cy="1050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2"/>
          <p:cNvSpPr/>
          <p:nvPr/>
        </p:nvSpPr>
        <p:spPr>
          <a:xfrm>
            <a:off x="4462200" y="529452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Interpretation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4462200" y="5550480"/>
            <a:ext cx="33094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ε = 5 → over-calibrates on normal traffic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ε = 80 → calibration rarely triggers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ε = 40 → best composite in this sweep</a:t>
            </a:r>
            <a:endParaRPr b="0" lang="en-T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8046720" y="5257800"/>
            <a:ext cx="3565440" cy="1050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5"/>
          <p:cNvSpPr/>
          <p:nvPr/>
        </p:nvSpPr>
        <p:spPr>
          <a:xfrm>
            <a:off x="8046720" y="5257800"/>
            <a:ext cx="63360" cy="1050840"/>
          </a:xfrm>
          <a:prstGeom prst="rect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6"/>
          <p:cNvSpPr/>
          <p:nvPr/>
        </p:nvSpPr>
        <p:spPr>
          <a:xfrm>
            <a:off x="8211240" y="5294520"/>
            <a:ext cx="330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Adopted default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7"/>
          <p:cNvSpPr/>
          <p:nvPr/>
        </p:nvSpPr>
        <p:spPr>
          <a:xfrm>
            <a:off x="8211240" y="5532120"/>
            <a:ext cx="3309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0e8a6b"/>
                </a:solidFill>
                <a:effectLst/>
                <a:uFillTx/>
                <a:latin typeface="Cambria"/>
                <a:ea typeface="Cambria"/>
              </a:rPr>
              <a:t>ε = 10</a:t>
            </a:r>
            <a:endParaRPr b="0" lang="en-T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8211240" y="5970960"/>
            <a:ext cx="3309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conservative — just above the normal-traffic noise floor</a:t>
            </a:r>
            <a:endParaRPr b="0" lang="en-T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9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0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17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8" name="" descr=""/>
          <p:cNvPicPr/>
          <p:nvPr/>
        </p:nvPicPr>
        <p:blipFill>
          <a:blip r:embed="rId1"/>
          <a:stretch/>
        </p:blipFill>
        <p:spPr>
          <a:xfrm>
            <a:off x="0" y="1371600"/>
            <a:ext cx="12191400" cy="348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O(1) complexity and O-RAN integration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2"/>
          <p:cNvSpPr/>
          <p:nvPr/>
        </p:nvSpPr>
        <p:spPr>
          <a:xfrm>
            <a:off x="548640" y="1600200"/>
            <a:ext cx="594288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3"/>
          <p:cNvSpPr/>
          <p:nvPr/>
        </p:nvSpPr>
        <p:spPr>
          <a:xfrm>
            <a:off x="822960" y="173736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O-RAN integration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"/>
          <p:cNvSpPr/>
          <p:nvPr/>
        </p:nvSpPr>
        <p:spPr>
          <a:xfrm>
            <a:off x="1005840" y="2240280"/>
            <a:ext cx="5028480" cy="867960"/>
          </a:xfrm>
          <a:prstGeom prst="roundRect">
            <a:avLst>
              <a:gd name="adj" fmla="val 8421"/>
            </a:avLst>
          </a:prstGeom>
          <a:solidFill>
            <a:srgbClr val="0b1e3f"/>
          </a:solidFill>
          <a:ln w="12700">
            <a:solidFill>
              <a:srgbClr val="0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1005840" y="2240280"/>
            <a:ext cx="5028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Non-RT RIC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policy: ε, δ⁺, δ⁻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6"/>
          <p:cNvSpPr/>
          <p:nvPr/>
        </p:nvSpPr>
        <p:spPr>
          <a:xfrm>
            <a:off x="3520440" y="3108960"/>
            <a:ext cx="360" cy="411480"/>
          </a:xfrm>
          <a:prstGeom prst="line">
            <a:avLst/>
          </a:prstGeom>
          <a:ln w="31750">
            <a:solidFill>
              <a:srgbClr val="065a8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7"/>
          <p:cNvSpPr/>
          <p:nvPr/>
        </p:nvSpPr>
        <p:spPr>
          <a:xfrm>
            <a:off x="3611880" y="31546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65a82"/>
                </a:solidFill>
                <a:effectLst/>
                <a:uFillTx/>
                <a:latin typeface="Consolas"/>
                <a:ea typeface="Consolas"/>
              </a:rPr>
              <a:t>A1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"/>
          <p:cNvSpPr/>
          <p:nvPr/>
        </p:nvSpPr>
        <p:spPr>
          <a:xfrm>
            <a:off x="1005840" y="3520440"/>
            <a:ext cx="5028480" cy="86796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9"/>
          <p:cNvSpPr/>
          <p:nvPr/>
        </p:nvSpPr>
        <p:spPr>
          <a:xfrm>
            <a:off x="1005840" y="3520440"/>
            <a:ext cx="5028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Near-RT RIC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xApp running Algorithm 1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0"/>
          <p:cNvSpPr/>
          <p:nvPr/>
        </p:nvSpPr>
        <p:spPr>
          <a:xfrm>
            <a:off x="3154680" y="4389120"/>
            <a:ext cx="360" cy="594360"/>
          </a:xfrm>
          <a:prstGeom prst="line">
            <a:avLst/>
          </a:prstGeom>
          <a:ln w="31750">
            <a:solidFill>
              <a:srgbClr val="1c7293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1"/>
          <p:cNvSpPr/>
          <p:nvPr/>
        </p:nvSpPr>
        <p:spPr>
          <a:xfrm>
            <a:off x="1280160" y="448056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c7293"/>
                </a:solidFill>
                <a:effectLst/>
                <a:uFillTx/>
                <a:latin typeface="Consolas"/>
                <a:ea typeface="Consolas"/>
              </a:rPr>
              <a:t>E2SM-RC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2"/>
          <p:cNvSpPr/>
          <p:nvPr/>
        </p:nvSpPr>
        <p:spPr>
          <a:xfrm flipV="1">
            <a:off x="3886200" y="4389120"/>
            <a:ext cx="360" cy="594360"/>
          </a:xfrm>
          <a:prstGeom prst="line">
            <a:avLst/>
          </a:prstGeom>
          <a:ln w="25400">
            <a:solidFill>
              <a:srgbClr val="64748b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3"/>
          <p:cNvSpPr/>
          <p:nvPr/>
        </p:nvSpPr>
        <p:spPr>
          <a:xfrm>
            <a:off x="4069080" y="448056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5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E2SM-KPM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4"/>
          <p:cNvSpPr/>
          <p:nvPr/>
        </p:nvSpPr>
        <p:spPr>
          <a:xfrm>
            <a:off x="1005840" y="4983480"/>
            <a:ext cx="5028480" cy="86796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5"/>
          <p:cNvSpPr/>
          <p:nvPr/>
        </p:nvSpPr>
        <p:spPr>
          <a:xfrm>
            <a:off x="1005840" y="4983480"/>
            <a:ext cx="50284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gNB CU-CP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f2f7"/>
                </a:solidFill>
                <a:effectLst/>
                <a:uFillTx/>
                <a:latin typeface="Calibri"/>
                <a:ea typeface="Calibri"/>
              </a:rPr>
              <a:t>SIB1 uac-BarringInfo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6"/>
          <p:cNvSpPr/>
          <p:nvPr/>
        </p:nvSpPr>
        <p:spPr>
          <a:xfrm>
            <a:off x="6720840" y="1600200"/>
            <a:ext cx="5074200" cy="45255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7"/>
          <p:cNvSpPr/>
          <p:nvPr/>
        </p:nvSpPr>
        <p:spPr>
          <a:xfrm>
            <a:off x="6720840" y="1600200"/>
            <a:ext cx="63360" cy="452556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7" name="Image 0" descr="preencoded.png"/>
          <p:cNvPicPr/>
          <p:nvPr/>
        </p:nvPicPr>
        <p:blipFill>
          <a:blip r:embed="rId1"/>
          <a:stretch/>
        </p:blipFill>
        <p:spPr>
          <a:xfrm>
            <a:off x="6995160" y="178308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Text 18"/>
          <p:cNvSpPr/>
          <p:nvPr/>
        </p:nvSpPr>
        <p:spPr>
          <a:xfrm>
            <a:off x="7498080" y="1783080"/>
            <a:ext cx="4159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Deployment notes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9"/>
          <p:cNvSpPr/>
          <p:nvPr/>
        </p:nvSpPr>
        <p:spPr>
          <a:xfrm>
            <a:off x="6995160" y="2377440"/>
            <a:ext cx="452556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Δ = 1 s fits Near-RT RIC range (10 ms – 1 s)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No protocol modifications required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Vendor-independent xApp — standard E2 service models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34155"/>
              </a:buClr>
              <a:buFont typeface="Symbol" charset="2"/>
              <a:buChar char=""/>
            </a:pPr>
            <a:r>
              <a:rPr b="0" lang="en-US" sz="12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O(1) per step — fixed-cost arithmetic, suitable for tight gNB control budgets after hardware benchmarking</a:t>
            </a:r>
            <a:endParaRPr b="0" lang="en-TR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0"/>
          <p:cNvSpPr/>
          <p:nvPr/>
        </p:nvSpPr>
        <p:spPr>
          <a:xfrm>
            <a:off x="6995160" y="5303520"/>
            <a:ext cx="4525560" cy="639360"/>
          </a:xfrm>
          <a:prstGeom prst="rect">
            <a:avLst/>
          </a:prstGeom>
          <a:solidFill>
            <a:srgbClr val="e8f5ef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1"/>
          <p:cNvSpPr/>
          <p:nvPr/>
        </p:nvSpPr>
        <p:spPr>
          <a:xfrm>
            <a:off x="7132320" y="5303520"/>
            <a:ext cx="42512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trike="noStrike" u="none">
                <a:solidFill>
                  <a:srgbClr val="1a2233"/>
                </a:solidFill>
                <a:effectLst/>
                <a:uFillTx/>
                <a:latin typeface="Calibri"/>
                <a:ea typeface="Calibri"/>
              </a:rPr>
              <a:t>Calibrated DT runs in μs vs. ms-class DNN inference — practical for commercial gNB software.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2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3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4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18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Findings and future work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2"/>
          <p:cNvSpPr/>
          <p:nvPr/>
        </p:nvSpPr>
        <p:spPr>
          <a:xfrm>
            <a:off x="548640" y="1600200"/>
            <a:ext cx="3611160" cy="141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3"/>
          <p:cNvSpPr/>
          <p:nvPr/>
        </p:nvSpPr>
        <p:spPr>
          <a:xfrm>
            <a:off x="548640" y="1600200"/>
            <a:ext cx="63360" cy="1416600"/>
          </a:xfrm>
          <a:prstGeom prst="rect">
            <a:avLst/>
          </a:prstGeom>
          <a:solidFill>
            <a:srgbClr val="0e8a6b"/>
          </a:solidFill>
          <a:ln w="12700">
            <a:solidFill>
              <a:srgbClr val="0e8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"/>
          <p:cNvSpPr/>
          <p:nvPr/>
        </p:nvSpPr>
        <p:spPr>
          <a:xfrm>
            <a:off x="777240" y="169164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e8a6b"/>
                </a:solidFill>
                <a:effectLst/>
                <a:uFillTx/>
                <a:latin typeface="Cambria"/>
                <a:ea typeface="Cambria"/>
              </a:rPr>
              <a:t>42 %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777240" y="2377440"/>
            <a:ext cx="3245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reduction in state-mirroring error vs. uncalibrated DT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6"/>
          <p:cNvSpPr/>
          <p:nvPr/>
        </p:nvSpPr>
        <p:spPr>
          <a:xfrm>
            <a:off x="4434840" y="1600200"/>
            <a:ext cx="3611160" cy="141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7"/>
          <p:cNvSpPr/>
          <p:nvPr/>
        </p:nvSpPr>
        <p:spPr>
          <a:xfrm>
            <a:off x="4434840" y="1600200"/>
            <a:ext cx="63360" cy="1416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8"/>
          <p:cNvSpPr/>
          <p:nvPr/>
        </p:nvSpPr>
        <p:spPr>
          <a:xfrm>
            <a:off x="4663440" y="169164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≈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9"/>
          <p:cNvSpPr/>
          <p:nvPr/>
        </p:nvSpPr>
        <p:spPr>
          <a:xfrm>
            <a:off x="4663440" y="2377440"/>
            <a:ext cx="3245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P_success statistically equivalent to baseline; P90/P99 delay reduced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0"/>
          <p:cNvSpPr/>
          <p:nvPr/>
        </p:nvSpPr>
        <p:spPr>
          <a:xfrm>
            <a:off x="8321040" y="1600200"/>
            <a:ext cx="3611160" cy="1416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1"/>
          <p:cNvSpPr/>
          <p:nvPr/>
        </p:nvSpPr>
        <p:spPr>
          <a:xfrm>
            <a:off x="8321040" y="1600200"/>
            <a:ext cx="63360" cy="141660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2"/>
          <p:cNvSpPr/>
          <p:nvPr/>
        </p:nvSpPr>
        <p:spPr>
          <a:xfrm>
            <a:off x="8549640" y="1691640"/>
            <a:ext cx="32454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f4a11a"/>
                </a:solidFill>
                <a:effectLst/>
                <a:uFillTx/>
                <a:latin typeface="Cambria"/>
                <a:ea typeface="Cambria"/>
              </a:rPr>
              <a:t>O(1)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3"/>
          <p:cNvSpPr/>
          <p:nvPr/>
        </p:nvSpPr>
        <p:spPr>
          <a:xfrm>
            <a:off x="8549640" y="2377440"/>
            <a:ext cx="3245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deployable in commercial gNB software via O-RAN xApp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4"/>
          <p:cNvSpPr/>
          <p:nvPr/>
        </p:nvSpPr>
        <p:spPr>
          <a:xfrm>
            <a:off x="548640" y="3200400"/>
            <a:ext cx="11063520" cy="7308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0" name="Image 0" descr="preencoded.png"/>
          <p:cNvPicPr/>
          <p:nvPr/>
        </p:nvPicPr>
        <p:blipFill>
          <a:blip r:embed="rId1"/>
          <a:stretch/>
        </p:blipFill>
        <p:spPr>
          <a:xfrm>
            <a:off x="713160" y="33375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Text 15"/>
          <p:cNvSpPr/>
          <p:nvPr/>
        </p:nvSpPr>
        <p:spPr>
          <a:xfrm>
            <a:off x="1280160" y="3200400"/>
            <a:ext cx="102405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Proactive control in non-stationary 5G environments requires both a sound control policy and tight virtual-physical alignment.</a:t>
            </a:r>
            <a:endParaRPr b="0" lang="en-T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6"/>
          <p:cNvSpPr/>
          <p:nvPr/>
        </p:nvSpPr>
        <p:spPr>
          <a:xfrm>
            <a:off x="548640" y="4160520"/>
            <a:ext cx="5485680" cy="1965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7"/>
          <p:cNvSpPr/>
          <p:nvPr/>
        </p:nvSpPr>
        <p:spPr>
          <a:xfrm>
            <a:off x="548640" y="4160520"/>
            <a:ext cx="63360" cy="1965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8"/>
          <p:cNvSpPr/>
          <p:nvPr/>
        </p:nvSpPr>
        <p:spPr>
          <a:xfrm>
            <a:off x="777240" y="429768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Multi-cell extension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9"/>
          <p:cNvSpPr/>
          <p:nvPr/>
        </p:nvSpPr>
        <p:spPr>
          <a:xfrm>
            <a:off x="777240" y="4709160"/>
            <a:ext cx="5119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Current model treats one gNB cell independently. Real deployments involve handover correlations and inter-cell interference — a distributed DT with inter-cell state sharing is required.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20"/>
          <p:cNvSpPr/>
          <p:nvPr/>
        </p:nvSpPr>
        <p:spPr>
          <a:xfrm>
            <a:off x="6263640" y="4160520"/>
            <a:ext cx="5485680" cy="1965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1"/>
          <p:cNvSpPr/>
          <p:nvPr/>
        </p:nvSpPr>
        <p:spPr>
          <a:xfrm>
            <a:off x="6263640" y="4160520"/>
            <a:ext cx="63360" cy="196524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2"/>
          <p:cNvSpPr/>
          <p:nvPr/>
        </p:nvSpPr>
        <p:spPr>
          <a:xfrm>
            <a:off x="6492240" y="429768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RL-based calibration</a:t>
            </a:r>
            <a:endParaRPr b="0" lang="en-T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3"/>
          <p:cNvSpPr/>
          <p:nvPr/>
        </p:nvSpPr>
        <p:spPr>
          <a:xfrm>
            <a:off x="6492240" y="4709160"/>
            <a:ext cx="511992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Fixed δ⁺ and δ⁻ are vulnerable to slow ramp-up attacks. An RL agent can learn step sizes dynamically using state-mirroring error E as a reward signal.</a:t>
            </a:r>
            <a:endParaRPr b="0" lang="en-TR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24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5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6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19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0"/>
          <p:cNvSpPr/>
          <p:nvPr/>
        </p:nvSpPr>
        <p:spPr>
          <a:xfrm>
            <a:off x="914400" y="2194560"/>
            <a:ext cx="2376720" cy="2376720"/>
          </a:xfrm>
          <a:prstGeom prst="ellipse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914400" y="2148840"/>
            <a:ext cx="237672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?</a:t>
            </a:r>
            <a:endParaRPr b="0" lang="en-TR" sz="1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2"/>
          <p:cNvSpPr/>
          <p:nvPr/>
        </p:nvSpPr>
        <p:spPr>
          <a:xfrm>
            <a:off x="4023360" y="2194560"/>
            <a:ext cx="63360" cy="2742480"/>
          </a:xfrm>
          <a:prstGeom prst="rect">
            <a:avLst/>
          </a:prstGeom>
          <a:solidFill>
            <a:srgbClr val="f4a11a"/>
          </a:solidFill>
          <a:ln w="12700">
            <a:solidFill>
              <a:srgbClr val="f4a1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"/>
          <p:cNvSpPr/>
          <p:nvPr/>
        </p:nvSpPr>
        <p:spPr>
          <a:xfrm>
            <a:off x="4297680" y="2194560"/>
            <a:ext cx="7497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Questions?</a:t>
            </a:r>
            <a:endParaRPr b="0" lang="en-TR" sz="5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4"/>
          <p:cNvSpPr/>
          <p:nvPr/>
        </p:nvSpPr>
        <p:spPr>
          <a:xfrm>
            <a:off x="4297680" y="3154680"/>
            <a:ext cx="749736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cfe2f3"/>
                </a:solidFill>
                <a:effectLst/>
                <a:uFillTx/>
                <a:latin typeface="Cambria"/>
                <a:ea typeface="Cambria"/>
              </a:rPr>
              <a:t>5G RRC Signaling Storm Mitigation via a Proactive Digital Twin Architecture with Continuous Calibration</a:t>
            </a:r>
            <a:endParaRPr b="0" lang="en-T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5"/>
          <p:cNvSpPr/>
          <p:nvPr/>
        </p:nvSpPr>
        <p:spPr>
          <a:xfrm>
            <a:off x="4297680" y="4572000"/>
            <a:ext cx="74973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Ömer Dikyol</a:t>
            </a:r>
            <a:endParaRPr b="0" lang="en-T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dikyol25@itu.edu.tr</a:t>
            </a:r>
            <a:endParaRPr b="0" lang="en-T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fe2f3"/>
                </a:solidFill>
                <a:effectLst/>
                <a:uFillTx/>
                <a:latin typeface="Calibri"/>
                <a:ea typeface="Calibri"/>
              </a:rPr>
              <a:t>BLG 632E  ·  ITU</a:t>
            </a:r>
            <a:endParaRPr b="0" lang="en-T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Text 0"/>
          <p:cNvSpPr/>
          <p:nvPr/>
        </p:nvSpPr>
        <p:spPr>
          <a:xfrm>
            <a:off x="548640" y="41148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00" strike="noStrike" u="none">
                <a:solidFill>
                  <a:srgbClr val="f4a11a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548640" y="71316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2233"/>
                </a:solidFill>
                <a:effectLst/>
                <a:uFillTx/>
                <a:latin typeface="Cambria"/>
                <a:ea typeface="Cambria"/>
              </a:rPr>
              <a:t>Selected references</a:t>
            </a:r>
            <a:endParaRPr b="0" lang="en-T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"/>
          <p:cNvSpPr/>
          <p:nvPr/>
        </p:nvSpPr>
        <p:spPr>
          <a:xfrm>
            <a:off x="548640" y="169164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[b1]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3"/>
          <p:cNvSpPr/>
          <p:nvPr/>
        </p:nvSpPr>
        <p:spPr>
          <a:xfrm>
            <a:off x="1143000" y="169164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D. Rupprecht et al., "Breaking LTE on Layer Two," Proc. IEEE S&amp;P, May 2019, pp. 1121–1136.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548640" y="216720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[b2]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5"/>
          <p:cNvSpPr/>
          <p:nvPr/>
        </p:nvSpPr>
        <p:spPr>
          <a:xfrm>
            <a:off x="1143000" y="216720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B. H. Lee et al., "Enhanced Random Access for Massive-MTC," IEEE IoT J., vol. 8, no. 8, 2021.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6"/>
          <p:cNvSpPr/>
          <p:nvPr/>
        </p:nvSpPr>
        <p:spPr>
          <a:xfrm>
            <a:off x="548640" y="264276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[b3]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1143000" y="264276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M. Grieves and J. Vickers, "Digital Twin: Mitigating Unpredictable Emergent Behavior," Springer, 2017.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548640" y="311796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[b4]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9"/>
          <p:cNvSpPr/>
          <p:nvPr/>
        </p:nvSpPr>
        <p:spPr>
          <a:xfrm>
            <a:off x="1143000" y="311796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3GPP, "NR; RRC Protocol Specification," TS 38.331, Rel. 17.3.0, 2022.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0"/>
          <p:cNvSpPr/>
          <p:nvPr/>
        </p:nvSpPr>
        <p:spPr>
          <a:xfrm>
            <a:off x="548640" y="359352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[b5]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1143000" y="359352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L. Miuccio et al., "Joint Control of Random Access for Massive MTC in 5G NR," IEEE IoT J., vol. 7, no. 6, 2020.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548640" y="406908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[b6]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3"/>
          <p:cNvSpPr/>
          <p:nvPr/>
        </p:nvSpPr>
        <p:spPr>
          <a:xfrm>
            <a:off x="1143000" y="406908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M. Kotuliak et al., "Performance Evaluation of 5G NR Non-Standalone Network," IEEE Access, vol. 9, 2021.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4"/>
          <p:cNvSpPr/>
          <p:nvPr/>
        </p:nvSpPr>
        <p:spPr>
          <a:xfrm>
            <a:off x="6172200" y="169164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[b7]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6766560" y="169164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S. K. Sharma and X. Wang, "Toward Massive MTC in Ultra-Dense Cellular IoT Networks," IEEE COMST, 2020.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6172200" y="216720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[b8]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7"/>
          <p:cNvSpPr/>
          <p:nvPr/>
        </p:nvSpPr>
        <p:spPr>
          <a:xfrm>
            <a:off x="6766560" y="216720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R. Dong et al., "Deep Learning for Radio Resource Allocation in 5G," IEEE TWC, vol. 20, no. 4, 2021.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8"/>
          <p:cNvSpPr/>
          <p:nvPr/>
        </p:nvSpPr>
        <p:spPr>
          <a:xfrm>
            <a:off x="6172200" y="264276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[b9]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6766560" y="264276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C. Zhang et al., "Deep Learning in Mobile and Wireless Networking: A Survey," IEEE COMST, 2019.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0"/>
          <p:cNvSpPr/>
          <p:nvPr/>
        </p:nvSpPr>
        <p:spPr>
          <a:xfrm>
            <a:off x="6172200" y="311796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[b10]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1"/>
          <p:cNvSpPr/>
          <p:nvPr/>
        </p:nvSpPr>
        <p:spPr>
          <a:xfrm>
            <a:off x="6766560" y="311796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H. X. Nguyen et al., "Digital Twin for 5G and Beyond," IEEE Commun. Mag., vol. 59, no. 2, 2021.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2"/>
          <p:cNvSpPr/>
          <p:nvPr/>
        </p:nvSpPr>
        <p:spPr>
          <a:xfrm>
            <a:off x="6172200" y="3593520"/>
            <a:ext cx="593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4a11a"/>
                </a:solidFill>
                <a:effectLst/>
                <a:uFillTx/>
                <a:latin typeface="Consolas"/>
                <a:ea typeface="Consolas"/>
              </a:rPr>
              <a:t>[b14]</a:t>
            </a:r>
            <a:endParaRPr b="0" lang="en-T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3"/>
          <p:cNvSpPr/>
          <p:nvPr/>
        </p:nvSpPr>
        <p:spPr>
          <a:xfrm>
            <a:off x="6766560" y="3593520"/>
            <a:ext cx="4845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334155"/>
                </a:solidFill>
                <a:effectLst/>
                <a:uFillTx/>
                <a:latin typeface="Calibri"/>
                <a:ea typeface="Calibri"/>
              </a:rPr>
              <a:t>M. Polese et al., "Understanding O-RAN," IEEE COMST, vol. 25, no. 2, 2023.</a:t>
            </a:r>
            <a:endParaRPr b="0" lang="en-T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4"/>
          <p:cNvSpPr/>
          <p:nvPr/>
        </p:nvSpPr>
        <p:spPr>
          <a:xfrm>
            <a:off x="548640" y="6355080"/>
            <a:ext cx="11063520" cy="1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34200" bIns="-34200" anchor="t">
            <a:noAutofit/>
          </a:bodyPr>
          <a:p>
            <a:pPr>
              <a:lnSpc>
                <a:spcPct val="100000"/>
              </a:lnSpc>
            </a:pPr>
            <a:endParaRPr b="0" lang="en-T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5"/>
          <p:cNvSpPr/>
          <p:nvPr/>
        </p:nvSpPr>
        <p:spPr>
          <a:xfrm>
            <a:off x="548640" y="644652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5G RRC Storm Mitigation  ·  Calibrated Digital Twin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6"/>
          <p:cNvSpPr/>
          <p:nvPr/>
        </p:nvSpPr>
        <p:spPr>
          <a:xfrm>
            <a:off x="10698480" y="644652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21 / 21</a:t>
            </a:r>
            <a:endParaRPr b="0" lang="en-T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LibreOffice/25.2.1.2$MacOSX_AARCH64 LibreOffice_project/d3abf4aee5fd705e4a92bba33a32f40bc4e56f49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2026-05-05T11:03:18Z</dcterms:created>
  <dc:creator>Omer Dikyol</dc:creator>
  <dc:description/>
  <dc:language>en-TR</dc:language>
  <cp:lastModifiedBy/>
  <cp:lastPrinted>2026-05-05T17:52:02Z</cp:lastPrinted>
  <dcterms:modified xsi:type="dcterms:W3CDTF">2026-05-05T17:51:55Z</dcterms:modified>
  <cp:revision>7</cp:revision>
  <dc:subject>PptxGenJS Presentation</dc:subject>
  <dc:title>5G RRC Signaling Storm Mitigation via a Proactive Digital Twin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