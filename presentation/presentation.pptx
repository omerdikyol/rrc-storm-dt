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_rels/.rels" ContentType="application/vnd.openxmlformats-package.relationship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notesMasters/_rels/notesMaster1.xml.rels" ContentType="application/vnd.openxmlformats-package.relationships+xml"/>
  <Override PartName="/ppt/notesMasters/notesMaster1.xml" ContentType="application/vnd.openxmlformats-officedocument.presentationml.notesMaster+xml"/>
  <Override PartName="/ppt/slideMasters/_rels/slideMaster1.xml.rels" ContentType="application/vnd.openxmlformats-package.relationships+xml"/>
  <Override PartName="/ppt/slideMasters/slideMaster1.xml" ContentType="application/vnd.openxmlformats-officedocument.presentationml.slideMaster+xml"/>
  <Override PartName="/ppt/_rels/presentation.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media/image1.png" ContentType="image/png"/>
  <Override PartName="/ppt/media/image4.png" ContentType="image/png"/>
  <Override PartName="/ppt/media/image12.png" ContentType="image/png"/>
  <Override PartName="/ppt/media/image5.png" ContentType="image/png"/>
  <Override PartName="/ppt/media/image13.png" ContentType="image/png"/>
  <Override PartName="/ppt/media/image6.png" ContentType="image/png"/>
  <Override PartName="/ppt/media/image14.png" ContentType="image/png"/>
  <Override PartName="/ppt/media/image7.png" ContentType="image/png"/>
  <Override PartName="/ppt/media/image15.png" ContentType="image/png"/>
  <Override PartName="/ppt/media/image16.png" ContentType="image/png"/>
  <Override PartName="/ppt/media/image8.png" ContentType="image/png"/>
  <Override PartName="/ppt/media/image10.png" ContentType="image/png"/>
  <Override PartName="/ppt/media/image2.png" ContentType="image/png"/>
  <Override PartName="/ppt/media/image17.png" ContentType="image/png"/>
  <Override PartName="/ppt/media/image9.png" ContentType="image/png"/>
  <Override PartName="/ppt/media/image11.png" ContentType="image/png"/>
  <Override PartName="/ppt/media/image3.png" ContentType="image/png"/>
  <Override PartName="/ppt/media/image18.png" ContentType="image/png"/>
  <Override PartName="/ppt/media/image19.png" ContentType="image/png"/>
  <Override PartName="/ppt/media/image20.png" ContentType="image/png"/>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11.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8.xml" ContentType="application/vnd.openxmlformats-officedocument.presentationml.slide+xml"/>
  <Override PartName="/ppt/slides/slide2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7.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5.xml" ContentType="application/vnd.openxmlformats-officedocument.presentationml.slide+xml"/>
  <Override PartName="/ppt/slides/_rels/slide13.xml.rels" ContentType="application/vnd.openxmlformats-package.relationships+xml"/>
  <Override PartName="/ppt/slides/_rels/slide15.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4.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8.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19.xml.rels" ContentType="application/vnd.openxmlformats-package.relationships+xml"/>
  <Override PartName="/ppt/slides/_rels/slide11.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1.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_rels/notesSlide20.xml.rels" ContentType="application/vnd.openxmlformats-package.relationships+xml"/>
  <Override PartName="/ppt/notesSlides/_rels/notesSlide1.xml.rels" ContentType="application/vnd.openxmlformats-package.relationships+xml"/>
  <Override PartName="/ppt/notesSlides/_rels/notesSlide14.xml.rels" ContentType="application/vnd.openxmlformats-package.relationships+xml"/>
  <Override PartName="/ppt/notesSlides/_rels/notesSlide17.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16.xml.rels" ContentType="application/vnd.openxmlformats-package.relationships+xml"/>
  <Override PartName="/ppt/notesSlides/_rels/notesSlide15.xml.rels" ContentType="application/vnd.openxmlformats-package.relationships+xml"/>
  <Override PartName="/ppt/notesSlides/_rels/notesSlide13.xml.rels" ContentType="application/vnd.openxmlformats-package.relationships+xml"/>
  <Override PartName="/ppt/notesSlides/_rels/notesSlide12.xml.rels" ContentType="application/vnd.openxmlformats-package.relationships+xml"/>
  <Override PartName="/ppt/notesSlides/_rels/notesSlide10.xml.rels" ContentType="application/vnd.openxmlformats-package.relationships+xml"/>
  <Override PartName="/ppt/notesSlides/_rels/notesSlide9.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4.xml.rels" ContentType="application/vnd.openxmlformats-package.relationships+xml"/>
  <Override PartName="/ppt/notesSlides/_rels/notesSlide2.xml.rels" ContentType="application/vnd.openxmlformats-package.relationships+xml"/>
  <Override PartName="/ppt/notesSlides/_rels/notesSlide21.xml.rels" ContentType="application/vnd.openxmlformats-package.relationships+xml"/>
  <Override PartName="/ppt/notesSlides/_rels/notesSlide3.xml.rels" ContentType="application/vnd.openxmlformats-package.relationships+xml"/>
  <Override PartName="/ppt/notesSlides/_rels/notesSlide11.xml.rels" ContentType="application/vnd.openxmlformats-package.relationship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17.xml" ContentType="application/vnd.openxmlformats-officedocument.presentationml.notesSlide+xml"/>
  <Override PartName="/ppt/notesSlides/notesSlide14.xml" ContentType="application/vnd.openxmlformats-officedocument.presentationml.notesSlide+xml"/>
  <Override PartName="/ppt/notesSlides/notesSlide2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TR" sz="4400" strike="noStrike" u="none">
                <a:solidFill>
                  <a:srgbClr val="000000"/>
                </a:solidFill>
                <a:effectLst/>
                <a:uFillTx/>
                <a:latin typeface="Arial"/>
              </a:rPr>
              <a:t>Click to move the slide</a:t>
            </a:r>
            <a:endParaRPr b="0" lang="en-TR" sz="4400" strike="noStrike" u="none">
              <a:solidFill>
                <a:srgbClr val="000000"/>
              </a:solidFill>
              <a:effectLst/>
              <a:uFillTx/>
              <a:latin typeface="Arial"/>
            </a:endParaRPr>
          </a:p>
        </p:txBody>
      </p:sp>
      <p:sp>
        <p:nvSpPr>
          <p:cNvPr id="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b="0" lang="en-TR" sz="2000" strike="noStrike" u="none">
                <a:solidFill>
                  <a:srgbClr val="000000"/>
                </a:solidFill>
                <a:effectLst/>
                <a:uFillTx/>
                <a:latin typeface="Arial"/>
              </a:rPr>
              <a:t>Click to edit the notes format</a:t>
            </a:r>
            <a:endParaRPr b="0" lang="en-TR" sz="2000" strike="noStrike" u="none">
              <a:solidFill>
                <a:srgbClr val="000000"/>
              </a:solidFill>
              <a:effectLst/>
              <a:uFillTx/>
              <a:latin typeface="Arial"/>
            </a:endParaRPr>
          </a:p>
        </p:txBody>
      </p:sp>
      <p:sp>
        <p:nvSpPr>
          <p:cNvPr id="4"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TR" sz="1400" strike="noStrike" u="none">
                <a:solidFill>
                  <a:srgbClr val="000000"/>
                </a:solidFill>
                <a:effectLst/>
                <a:uFillTx/>
                <a:latin typeface="Times New Roman"/>
              </a:rPr>
              <a:t> </a:t>
            </a:r>
            <a:endParaRPr b="0" lang="en-TR" sz="1400" strike="noStrike" u="none">
              <a:solidFill>
                <a:srgbClr val="000000"/>
              </a:solidFill>
              <a:effectLst/>
              <a:uFillTx/>
              <a:latin typeface="Times New Roman"/>
            </a:endParaRPr>
          </a:p>
        </p:txBody>
      </p:sp>
      <p:sp>
        <p:nvSpPr>
          <p:cNvPr id="5"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TR" sz="1400" strike="noStrike" u="none">
                <a:solidFill>
                  <a:srgbClr val="000000"/>
                </a:solidFill>
                <a:effectLst/>
                <a:uFillTx/>
                <a:latin typeface="Times New Roman"/>
              </a:defRPr>
            </a:lvl1pPr>
          </a:lstStyle>
          <a:p>
            <a:pPr indent="0" algn="r">
              <a:buNone/>
            </a:pPr>
            <a:r>
              <a:rPr b="0" lang="en-TR" sz="1400" strike="noStrike" u="none">
                <a:solidFill>
                  <a:srgbClr val="000000"/>
                </a:solidFill>
                <a:effectLst/>
                <a:uFillTx/>
                <a:latin typeface="Times New Roman"/>
              </a:rPr>
              <a:t> </a:t>
            </a:r>
            <a:endParaRPr b="0" lang="en-TR" sz="1400" strike="noStrike" u="none">
              <a:solidFill>
                <a:srgbClr val="000000"/>
              </a:solidFill>
              <a:effectLst/>
              <a:uFillTx/>
              <a:latin typeface="Times New Roman"/>
            </a:endParaRPr>
          </a:p>
        </p:txBody>
      </p:sp>
      <p:sp>
        <p:nvSpPr>
          <p:cNvPr id="6"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TR" sz="1400" strike="noStrike" u="none">
                <a:solidFill>
                  <a:srgbClr val="000000"/>
                </a:solidFill>
                <a:effectLst/>
                <a:uFillTx/>
                <a:latin typeface="Times New Roman"/>
              </a:defRPr>
            </a:lvl1pPr>
          </a:lstStyle>
          <a:p>
            <a:pPr indent="0">
              <a:buNone/>
            </a:pPr>
            <a:r>
              <a:rPr b="0" lang="en-TR" sz="1400" strike="noStrike" u="none">
                <a:solidFill>
                  <a:srgbClr val="000000"/>
                </a:solidFill>
                <a:effectLst/>
                <a:uFillTx/>
                <a:latin typeface="Times New Roman"/>
              </a:rPr>
              <a:t> </a:t>
            </a:r>
            <a:endParaRPr b="0" lang="en-TR" sz="1400" strike="noStrike" u="none">
              <a:solidFill>
                <a:srgbClr val="000000"/>
              </a:solidFill>
              <a:effectLst/>
              <a:uFillTx/>
              <a:latin typeface="Times New Roman"/>
            </a:endParaRPr>
          </a:p>
        </p:txBody>
      </p:sp>
      <p:sp>
        <p:nvSpPr>
          <p:cNvPr id="7"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TR" sz="1400" strike="noStrike" u="none">
                <a:solidFill>
                  <a:srgbClr val="000000"/>
                </a:solidFill>
                <a:effectLst/>
                <a:uFillTx/>
                <a:latin typeface="Times New Roman"/>
              </a:defRPr>
            </a:lvl1pPr>
          </a:lstStyle>
          <a:p>
            <a:pPr indent="0" algn="r">
              <a:buNone/>
            </a:pPr>
            <a:fld id="{F8577A38-5304-4AFF-9FB8-66DB8996DE31}" type="slidenum">
              <a:rPr b="0" lang="en-TR" sz="1400" strike="noStrike" u="none">
                <a:solidFill>
                  <a:srgbClr val="000000"/>
                </a:solidFill>
                <a:effectLst/>
                <a:uFillTx/>
                <a:latin typeface="Times New Roman"/>
              </a:rPr>
              <a:t>1</a:t>
            </a:fld>
            <a:endParaRPr b="0" lang="en-TR"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6" name="PlaceHolder 1"/>
          <p:cNvSpPr>
            <a:spLocks noGrp="1"/>
          </p:cNvSpPr>
          <p:nvPr>
            <p:ph type="sldImg"/>
          </p:nvPr>
        </p:nvSpPr>
        <p:spPr>
          <a:xfrm>
            <a:off x="685800" y="1143000"/>
            <a:ext cx="5485320" cy="3085200"/>
          </a:xfrm>
          <a:prstGeom prst="rect">
            <a:avLst/>
          </a:prstGeom>
          <a:ln w="0">
            <a:noFill/>
          </a:ln>
        </p:spPr>
      </p:sp>
      <p:sp>
        <p:nvSpPr>
          <p:cNvPr id="527"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28" name="PlaceHolder 3"/>
          <p:cNvSpPr>
            <a:spLocks noGrp="1"/>
          </p:cNvSpPr>
          <p:nvPr>
            <p:ph type="sldNum" idx="4"/>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BB6083A6-57EB-4904-94A7-E5235F9AE970}"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9" name="PlaceHolder 1"/>
          <p:cNvSpPr>
            <a:spLocks noGrp="1"/>
          </p:cNvSpPr>
          <p:nvPr>
            <p:ph type="sldImg"/>
          </p:nvPr>
        </p:nvSpPr>
        <p:spPr>
          <a:xfrm>
            <a:off x="685800" y="1143000"/>
            <a:ext cx="5485320" cy="3085200"/>
          </a:xfrm>
          <a:prstGeom prst="rect">
            <a:avLst/>
          </a:prstGeom>
          <a:ln w="0">
            <a:noFill/>
          </a:ln>
        </p:spPr>
      </p:sp>
      <p:sp>
        <p:nvSpPr>
          <p:cNvPr id="530"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31" name="PlaceHolder 3"/>
          <p:cNvSpPr>
            <a:spLocks noGrp="1"/>
          </p:cNvSpPr>
          <p:nvPr>
            <p:ph type="sldNum" idx="5"/>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C56AF561-A290-4FDB-9E0B-CBDE38E2D17D}"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2" name="PlaceHolder 1"/>
          <p:cNvSpPr>
            <a:spLocks noGrp="1"/>
          </p:cNvSpPr>
          <p:nvPr>
            <p:ph type="sldImg"/>
          </p:nvPr>
        </p:nvSpPr>
        <p:spPr>
          <a:xfrm>
            <a:off x="685800" y="1143000"/>
            <a:ext cx="5485320" cy="3085200"/>
          </a:xfrm>
          <a:prstGeom prst="rect">
            <a:avLst/>
          </a:prstGeom>
          <a:ln w="0">
            <a:noFill/>
          </a:ln>
        </p:spPr>
      </p:sp>
      <p:sp>
        <p:nvSpPr>
          <p:cNvPr id="533"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34" name="PlaceHolder 3"/>
          <p:cNvSpPr>
            <a:spLocks noGrp="1"/>
          </p:cNvSpPr>
          <p:nvPr>
            <p:ph type="sldNum" idx="6"/>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B747DA34-8623-4B62-8BF9-5AED9D89A86A}"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5" name="PlaceHolder 1"/>
          <p:cNvSpPr>
            <a:spLocks noGrp="1"/>
          </p:cNvSpPr>
          <p:nvPr>
            <p:ph type="sldImg"/>
          </p:nvPr>
        </p:nvSpPr>
        <p:spPr>
          <a:xfrm>
            <a:off x="685800" y="1143000"/>
            <a:ext cx="5485320" cy="3085200"/>
          </a:xfrm>
          <a:prstGeom prst="rect">
            <a:avLst/>
          </a:prstGeom>
          <a:ln w="0">
            <a:noFill/>
          </a:ln>
        </p:spPr>
      </p:sp>
      <p:sp>
        <p:nvSpPr>
          <p:cNvPr id="536"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37" name="PlaceHolder 3"/>
          <p:cNvSpPr>
            <a:spLocks noGrp="1"/>
          </p:cNvSpPr>
          <p:nvPr>
            <p:ph type="sldNum" idx="7"/>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ECB320D6-D74A-423A-809E-4991B3FBD7B1}"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8" name="PlaceHolder 1"/>
          <p:cNvSpPr>
            <a:spLocks noGrp="1"/>
          </p:cNvSpPr>
          <p:nvPr>
            <p:ph type="sldImg"/>
          </p:nvPr>
        </p:nvSpPr>
        <p:spPr>
          <a:xfrm>
            <a:off x="685800" y="1143000"/>
            <a:ext cx="5485320" cy="3085200"/>
          </a:xfrm>
          <a:prstGeom prst="rect">
            <a:avLst/>
          </a:prstGeom>
          <a:ln w="0">
            <a:noFill/>
          </a:ln>
        </p:spPr>
      </p:sp>
      <p:sp>
        <p:nvSpPr>
          <p:cNvPr id="539"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40" name="PlaceHolder 3"/>
          <p:cNvSpPr>
            <a:spLocks noGrp="1"/>
          </p:cNvSpPr>
          <p:nvPr>
            <p:ph type="sldNum" idx="8"/>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2957F088-8DC2-4731-AE45-5E326526FD40}"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1" name="PlaceHolder 1"/>
          <p:cNvSpPr>
            <a:spLocks noGrp="1"/>
          </p:cNvSpPr>
          <p:nvPr>
            <p:ph type="sldImg"/>
          </p:nvPr>
        </p:nvSpPr>
        <p:spPr>
          <a:xfrm>
            <a:off x="685800" y="1143000"/>
            <a:ext cx="5485320" cy="3085200"/>
          </a:xfrm>
          <a:prstGeom prst="rect">
            <a:avLst/>
          </a:prstGeom>
          <a:ln w="0">
            <a:noFill/>
          </a:ln>
        </p:spPr>
      </p:sp>
      <p:sp>
        <p:nvSpPr>
          <p:cNvPr id="542"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43" name="PlaceHolder 3"/>
          <p:cNvSpPr>
            <a:spLocks noGrp="1"/>
          </p:cNvSpPr>
          <p:nvPr>
            <p:ph type="sldNum" idx="9"/>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8E356758-A58A-48B4-BE04-92E344E3BD7C}"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4" name="PlaceHolder 1"/>
          <p:cNvSpPr>
            <a:spLocks noGrp="1"/>
          </p:cNvSpPr>
          <p:nvPr>
            <p:ph type="sldImg"/>
          </p:nvPr>
        </p:nvSpPr>
        <p:spPr>
          <a:xfrm>
            <a:off x="685800" y="1143000"/>
            <a:ext cx="5485320" cy="3085200"/>
          </a:xfrm>
          <a:prstGeom prst="rect">
            <a:avLst/>
          </a:prstGeom>
          <a:ln w="0">
            <a:noFill/>
          </a:ln>
        </p:spPr>
      </p:sp>
      <p:sp>
        <p:nvSpPr>
          <p:cNvPr id="545"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46" name="PlaceHolder 3"/>
          <p:cNvSpPr>
            <a:spLocks noGrp="1"/>
          </p:cNvSpPr>
          <p:nvPr>
            <p:ph type="sldNum" idx="10"/>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368E55CE-C4A4-452E-B1CE-100075ED9F79}"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7" name="PlaceHolder 1"/>
          <p:cNvSpPr>
            <a:spLocks noGrp="1"/>
          </p:cNvSpPr>
          <p:nvPr>
            <p:ph type="sldImg"/>
          </p:nvPr>
        </p:nvSpPr>
        <p:spPr>
          <a:xfrm>
            <a:off x="685800" y="1143000"/>
            <a:ext cx="5485320" cy="3085200"/>
          </a:xfrm>
          <a:prstGeom prst="rect">
            <a:avLst/>
          </a:prstGeom>
          <a:ln w="0">
            <a:noFill/>
          </a:ln>
        </p:spPr>
      </p:sp>
      <p:sp>
        <p:nvSpPr>
          <p:cNvPr id="548"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49" name="PlaceHolder 3"/>
          <p:cNvSpPr>
            <a:spLocks noGrp="1"/>
          </p:cNvSpPr>
          <p:nvPr>
            <p:ph type="sldNum" idx="11"/>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D69DB542-EDC1-40C8-91C4-52EEE01DFDB2}"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0" name="PlaceHolder 1"/>
          <p:cNvSpPr>
            <a:spLocks noGrp="1"/>
          </p:cNvSpPr>
          <p:nvPr>
            <p:ph type="sldImg"/>
          </p:nvPr>
        </p:nvSpPr>
        <p:spPr>
          <a:xfrm>
            <a:off x="685800" y="1143000"/>
            <a:ext cx="5485320" cy="3085200"/>
          </a:xfrm>
          <a:prstGeom prst="rect">
            <a:avLst/>
          </a:prstGeom>
          <a:ln w="0">
            <a:noFill/>
          </a:ln>
        </p:spPr>
      </p:sp>
      <p:sp>
        <p:nvSpPr>
          <p:cNvPr id="551"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52" name="PlaceHolder 3"/>
          <p:cNvSpPr>
            <a:spLocks noGrp="1"/>
          </p:cNvSpPr>
          <p:nvPr>
            <p:ph type="sldNum" idx="12"/>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CC63A5ED-6E82-42ED-ACE2-2CC2FF6C4C51}"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3" name="PlaceHolder 1"/>
          <p:cNvSpPr>
            <a:spLocks noGrp="1"/>
          </p:cNvSpPr>
          <p:nvPr>
            <p:ph type="sldImg"/>
          </p:nvPr>
        </p:nvSpPr>
        <p:spPr>
          <a:xfrm>
            <a:off x="685800" y="1143000"/>
            <a:ext cx="5485320" cy="3085200"/>
          </a:xfrm>
          <a:prstGeom prst="rect">
            <a:avLst/>
          </a:prstGeom>
          <a:ln w="0">
            <a:noFill/>
          </a:ln>
        </p:spPr>
      </p:sp>
      <p:sp>
        <p:nvSpPr>
          <p:cNvPr id="554"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55" name="PlaceHolder 3"/>
          <p:cNvSpPr>
            <a:spLocks noGrp="1"/>
          </p:cNvSpPr>
          <p:nvPr>
            <p:ph type="sldNum" idx="13"/>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6BDDCDAD-C39B-4695-A70E-F9BEAE4E2078}"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sldImg"/>
          </p:nvPr>
        </p:nvSpPr>
        <p:spPr>
          <a:xfrm>
            <a:off x="685800" y="1143000"/>
            <a:ext cx="5485320" cy="3085200"/>
          </a:xfrm>
          <a:prstGeom prst="rect">
            <a:avLst/>
          </a:prstGeom>
          <a:ln w="0">
            <a:noFill/>
          </a:ln>
        </p:spPr>
      </p:sp>
      <p:sp>
        <p:nvSpPr>
          <p:cNvPr id="557"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58" name="PlaceHolder 3"/>
          <p:cNvSpPr>
            <a:spLocks noGrp="1"/>
          </p:cNvSpPr>
          <p:nvPr>
            <p:ph type="sldNum" idx="14"/>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DDB08AA3-A8EA-4852-AB80-140B66C7B97E}"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type="sldImg"/>
          </p:nvPr>
        </p:nvSpPr>
        <p:spPr>
          <a:xfrm>
            <a:off x="685800" y="1143000"/>
            <a:ext cx="5485320" cy="3085200"/>
          </a:xfrm>
          <a:prstGeom prst="rect">
            <a:avLst/>
          </a:prstGeom>
          <a:ln w="0">
            <a:noFill/>
          </a:ln>
        </p:spPr>
      </p:sp>
      <p:sp>
        <p:nvSpPr>
          <p:cNvPr id="560"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61" name="PlaceHolder 3"/>
          <p:cNvSpPr>
            <a:spLocks noGrp="1"/>
          </p:cNvSpPr>
          <p:nvPr>
            <p:ph type="sldNum" idx="15"/>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D8F84F95-0ED5-4DAE-8C28-A8FE057C6449}"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sldImg"/>
          </p:nvPr>
        </p:nvSpPr>
        <p:spPr>
          <a:xfrm>
            <a:off x="685800" y="1143000"/>
            <a:ext cx="5485320" cy="3085200"/>
          </a:xfrm>
          <a:prstGeom prst="rect">
            <a:avLst/>
          </a:prstGeom>
          <a:ln w="0">
            <a:noFill/>
          </a:ln>
        </p:spPr>
      </p:sp>
      <p:sp>
        <p:nvSpPr>
          <p:cNvPr id="563"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64" name="PlaceHolder 3"/>
          <p:cNvSpPr>
            <a:spLocks noGrp="1"/>
          </p:cNvSpPr>
          <p:nvPr>
            <p:ph type="sldNum" idx="16"/>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C9ECBFEE-DFED-4672-BECA-76890433C521}"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5" name="PlaceHolder 1"/>
          <p:cNvSpPr>
            <a:spLocks noGrp="1"/>
          </p:cNvSpPr>
          <p:nvPr>
            <p:ph type="sldImg"/>
          </p:nvPr>
        </p:nvSpPr>
        <p:spPr>
          <a:xfrm>
            <a:off x="685800" y="1143000"/>
            <a:ext cx="5485320" cy="3085200"/>
          </a:xfrm>
          <a:prstGeom prst="rect">
            <a:avLst/>
          </a:prstGeom>
          <a:ln w="0">
            <a:noFill/>
          </a:ln>
        </p:spPr>
      </p:sp>
      <p:sp>
        <p:nvSpPr>
          <p:cNvPr id="566"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67" name="PlaceHolder 3"/>
          <p:cNvSpPr>
            <a:spLocks noGrp="1"/>
          </p:cNvSpPr>
          <p:nvPr>
            <p:ph type="sldNum" idx="17"/>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ED603B83-9042-4F92-BE68-2D1035CFB302}"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PlaceHolder 1"/>
          <p:cNvSpPr>
            <a:spLocks noGrp="1"/>
          </p:cNvSpPr>
          <p:nvPr>
            <p:ph type="sldImg"/>
          </p:nvPr>
        </p:nvSpPr>
        <p:spPr>
          <a:xfrm>
            <a:off x="685800" y="1143000"/>
            <a:ext cx="5485320" cy="3085200"/>
          </a:xfrm>
          <a:prstGeom prst="rect">
            <a:avLst/>
          </a:prstGeom>
          <a:ln w="0">
            <a:noFill/>
          </a:ln>
        </p:spPr>
      </p:sp>
      <p:sp>
        <p:nvSpPr>
          <p:cNvPr id="569"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70" name="PlaceHolder 3"/>
          <p:cNvSpPr>
            <a:spLocks noGrp="1"/>
          </p:cNvSpPr>
          <p:nvPr>
            <p:ph type="sldNum" idx="18"/>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11A8B9E8-517A-4481-ABDC-4815CD65E406}"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sldImg"/>
          </p:nvPr>
        </p:nvSpPr>
        <p:spPr>
          <a:xfrm>
            <a:off x="685800" y="1143000"/>
            <a:ext cx="5485320" cy="3085200"/>
          </a:xfrm>
          <a:prstGeom prst="rect">
            <a:avLst/>
          </a:prstGeom>
          <a:ln w="0">
            <a:noFill/>
          </a:ln>
        </p:spPr>
      </p:sp>
      <p:sp>
        <p:nvSpPr>
          <p:cNvPr id="572"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73" name="PlaceHolder 3"/>
          <p:cNvSpPr>
            <a:spLocks noGrp="1"/>
          </p:cNvSpPr>
          <p:nvPr>
            <p:ph type="sldNum" idx="19"/>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4324A678-0F11-4714-B6EF-E27881E03465}"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4" name="PlaceHolder 1"/>
          <p:cNvSpPr>
            <a:spLocks noGrp="1"/>
          </p:cNvSpPr>
          <p:nvPr>
            <p:ph type="sldImg"/>
          </p:nvPr>
        </p:nvSpPr>
        <p:spPr>
          <a:xfrm>
            <a:off x="685800" y="1143000"/>
            <a:ext cx="5485320" cy="3085200"/>
          </a:xfrm>
          <a:prstGeom prst="rect">
            <a:avLst/>
          </a:prstGeom>
          <a:ln w="0">
            <a:noFill/>
          </a:ln>
        </p:spPr>
      </p:sp>
      <p:sp>
        <p:nvSpPr>
          <p:cNvPr id="575"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76" name="PlaceHolder 3"/>
          <p:cNvSpPr>
            <a:spLocks noGrp="1"/>
          </p:cNvSpPr>
          <p:nvPr>
            <p:ph type="sldNum" idx="20"/>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17CF05B4-B818-493F-B534-54EF8DCDCA96}"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7" name="PlaceHolder 1"/>
          <p:cNvSpPr>
            <a:spLocks noGrp="1"/>
          </p:cNvSpPr>
          <p:nvPr>
            <p:ph type="sldImg"/>
          </p:nvPr>
        </p:nvSpPr>
        <p:spPr>
          <a:xfrm>
            <a:off x="685800" y="1143000"/>
            <a:ext cx="5485320" cy="3085200"/>
          </a:xfrm>
          <a:prstGeom prst="rect">
            <a:avLst/>
          </a:prstGeom>
          <a:ln w="0">
            <a:noFill/>
          </a:ln>
        </p:spPr>
      </p:sp>
      <p:sp>
        <p:nvSpPr>
          <p:cNvPr id="578"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79" name="PlaceHolder 3"/>
          <p:cNvSpPr>
            <a:spLocks noGrp="1"/>
          </p:cNvSpPr>
          <p:nvPr>
            <p:ph type="sldNum" idx="21"/>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38DDB9BB-2339-4595-9586-311CCB71650F}"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type="sldImg"/>
          </p:nvPr>
        </p:nvSpPr>
        <p:spPr>
          <a:xfrm>
            <a:off x="685800" y="1143000"/>
            <a:ext cx="5485320" cy="3085200"/>
          </a:xfrm>
          <a:prstGeom prst="rect">
            <a:avLst/>
          </a:prstGeom>
          <a:ln w="0">
            <a:noFill/>
          </a:ln>
        </p:spPr>
      </p:sp>
      <p:sp>
        <p:nvSpPr>
          <p:cNvPr id="581"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82" name="PlaceHolder 3"/>
          <p:cNvSpPr>
            <a:spLocks noGrp="1"/>
          </p:cNvSpPr>
          <p:nvPr>
            <p:ph type="sldNum" idx="22"/>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2D3C4782-94C2-4913-B1DA-E554445C48F2}"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3" name="PlaceHolder 1"/>
          <p:cNvSpPr>
            <a:spLocks noGrp="1"/>
          </p:cNvSpPr>
          <p:nvPr>
            <p:ph type="sldImg"/>
          </p:nvPr>
        </p:nvSpPr>
        <p:spPr>
          <a:xfrm>
            <a:off x="685800" y="1143000"/>
            <a:ext cx="5485320" cy="3085200"/>
          </a:xfrm>
          <a:prstGeom prst="rect">
            <a:avLst/>
          </a:prstGeom>
          <a:ln w="0">
            <a:noFill/>
          </a:ln>
        </p:spPr>
      </p:sp>
      <p:sp>
        <p:nvSpPr>
          <p:cNvPr id="584"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85" name="PlaceHolder 3"/>
          <p:cNvSpPr>
            <a:spLocks noGrp="1"/>
          </p:cNvSpPr>
          <p:nvPr>
            <p:ph type="sldNum" idx="23"/>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7730EC65-A5CF-4A41-A5C0-996333572110}" type="slidenum">
              <a:rPr b="0" lang="en-US" sz="1200" strike="noStrike" u="none">
                <a:solidFill>
                  <a:schemeClr val="dk1"/>
                </a:solidFill>
                <a:effectLst/>
                <a:uFillTx/>
                <a:latin typeface="+mn-lt"/>
                <a:ea typeface="+mn-ea"/>
              </a:rPr>
              <a:t>1</a:t>
            </a:fld>
            <a:endParaRPr b="0" lang="en-TR" sz="1200" strike="noStrike" u="non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6" name="PlaceHolder 1"/>
          <p:cNvSpPr>
            <a:spLocks noGrp="1"/>
          </p:cNvSpPr>
          <p:nvPr>
            <p:ph type="sldImg"/>
          </p:nvPr>
        </p:nvSpPr>
        <p:spPr>
          <a:xfrm>
            <a:off x="685800" y="1143000"/>
            <a:ext cx="5485320" cy="3085200"/>
          </a:xfrm>
          <a:prstGeom prst="rect">
            <a:avLst/>
          </a:prstGeom>
          <a:ln w="0">
            <a:noFill/>
          </a:ln>
        </p:spPr>
      </p:sp>
      <p:sp>
        <p:nvSpPr>
          <p:cNvPr id="587"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indent="0">
              <a:buNone/>
            </a:pPr>
            <a:endParaRPr b="0" lang="en-TR" sz="1800" strike="noStrike" u="none">
              <a:solidFill>
                <a:srgbClr val="000000"/>
              </a:solidFill>
              <a:effectLst/>
              <a:uFillTx/>
              <a:latin typeface="Arial"/>
            </a:endParaRPr>
          </a:p>
        </p:txBody>
      </p:sp>
      <p:sp>
        <p:nvSpPr>
          <p:cNvPr id="588" name="PlaceHolder 3"/>
          <p:cNvSpPr>
            <a:spLocks noGrp="1"/>
          </p:cNvSpPr>
          <p:nvPr>
            <p:ph type="sldNum" idx="24"/>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B464A8DF-D2C8-49B3-AD84-758BA85CA3F7}" type="slidenum">
              <a:rPr b="0" lang="en-US" sz="1200" strike="noStrike" u="none">
                <a:solidFill>
                  <a:schemeClr val="dk1"/>
                </a:solidFill>
                <a:effectLst/>
                <a:uFillTx/>
                <a:latin typeface="+mn-lt"/>
                <a:ea typeface="+mn-ea"/>
              </a:rPr>
              <a:t>&lt;number&gt;</a:t>
            </a:fld>
            <a:endParaRPr b="0" lang="en-TR" sz="12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TR" sz="4400" strike="noStrike" u="none">
                <a:solidFill>
                  <a:srgbClr val="000000"/>
                </a:solidFill>
                <a:effectLst/>
                <a:uFillTx/>
                <a:latin typeface="Arial"/>
              </a:rPr>
              <a:t>Click to edit the title text format</a:t>
            </a:r>
            <a:endParaRPr b="0" lang="en-TR" sz="4400" strike="noStrike" u="none">
              <a:solidFill>
                <a:srgbClr val="000000"/>
              </a:solidFill>
              <a:effectLst/>
              <a:uFillTx/>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TR" sz="3200" strike="noStrike" u="none">
                <a:solidFill>
                  <a:srgbClr val="000000"/>
                </a:solidFill>
                <a:effectLst/>
                <a:uFillTx/>
                <a:latin typeface="Arial"/>
              </a:rPr>
              <a:t>Click to edit the outline text format</a:t>
            </a:r>
            <a:endParaRPr b="0" lang="en-TR"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TR" sz="2800" strike="noStrike" u="none">
                <a:solidFill>
                  <a:srgbClr val="000000"/>
                </a:solidFill>
                <a:effectLst/>
                <a:uFillTx/>
                <a:latin typeface="Arial"/>
              </a:rPr>
              <a:t>Second Outline Level</a:t>
            </a:r>
            <a:endParaRPr b="0" lang="en-TR"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TR" sz="2400" strike="noStrike" u="none">
                <a:solidFill>
                  <a:srgbClr val="000000"/>
                </a:solidFill>
                <a:effectLst/>
                <a:uFillTx/>
                <a:latin typeface="Arial"/>
              </a:rPr>
              <a:t>Third Outline Level</a:t>
            </a:r>
            <a:endParaRPr b="0" lang="en-TR"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TR" sz="2000" strike="noStrike" u="none">
                <a:solidFill>
                  <a:srgbClr val="000000"/>
                </a:solidFill>
                <a:effectLst/>
                <a:uFillTx/>
                <a:latin typeface="Arial"/>
              </a:rPr>
              <a:t>Fourth Outline Level</a:t>
            </a:r>
            <a:endParaRPr b="0" lang="en-TR"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TR" sz="2000" strike="noStrike" u="none">
                <a:solidFill>
                  <a:srgbClr val="000000"/>
                </a:solidFill>
                <a:effectLst/>
                <a:uFillTx/>
                <a:latin typeface="Arial"/>
              </a:rPr>
              <a:t>Fifth Outline Level</a:t>
            </a:r>
            <a:endParaRPr b="0" lang="en-TR"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TR" sz="2000" strike="noStrike" u="none">
                <a:solidFill>
                  <a:srgbClr val="000000"/>
                </a:solidFill>
                <a:effectLst/>
                <a:uFillTx/>
                <a:latin typeface="Arial"/>
              </a:rPr>
              <a:t>Sixth Outline Level</a:t>
            </a:r>
            <a:endParaRPr b="0" lang="en-TR"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TR" sz="2000" strike="noStrike" u="none">
                <a:solidFill>
                  <a:srgbClr val="000000"/>
                </a:solidFill>
                <a:effectLst/>
                <a:uFillTx/>
                <a:latin typeface="Arial"/>
              </a:rPr>
              <a:t>Seventh Outline Level</a:t>
            </a:r>
            <a:endParaRPr b="0" lang="en-TR" sz="2000" strike="noStrike" u="non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slideLayout" Target="../slideLayouts/slideLayout1.xml"/><Relationship Id="rId6"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0.png"/><Relationship Id="rId3" Type="http://schemas.openxmlformats.org/officeDocument/2006/relationships/slideLayout" Target="../slideLayouts/slideLayout1.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1.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e3f"/>
        </a:solidFill>
      </p:bgPr>
    </p:bg>
    <p:spTree>
      <p:nvGrpSpPr>
        <p:cNvPr id="1" name=""/>
        <p:cNvGrpSpPr/>
        <p:nvPr/>
      </p:nvGrpSpPr>
      <p:grpSpPr>
        <a:xfrm>
          <a:off x="0" y="0"/>
          <a:ext cx="0" cy="0"/>
          <a:chOff x="0" y="0"/>
          <a:chExt cx="0" cy="0"/>
        </a:xfrm>
      </p:grpSpPr>
      <p:sp>
        <p:nvSpPr>
          <p:cNvPr id="8" name="Shape 0"/>
          <p:cNvSpPr/>
          <p:nvPr/>
        </p:nvSpPr>
        <p:spPr>
          <a:xfrm>
            <a:off x="11064240" y="5760720"/>
            <a:ext cx="2193480" cy="2193480"/>
          </a:xfrm>
          <a:prstGeom prst="ellipse">
            <a:avLst/>
          </a:prstGeom>
          <a:solidFill>
            <a:srgbClr val="0b1e3f"/>
          </a:solidFill>
          <a:ln w="12700">
            <a:solidFill>
              <a:srgbClr val="1c7293">
                <a:alpha val="40000"/>
              </a:srgbClr>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9" name="Shape 1"/>
          <p:cNvSpPr/>
          <p:nvPr/>
        </p:nvSpPr>
        <p:spPr>
          <a:xfrm>
            <a:off x="10332720" y="5029200"/>
            <a:ext cx="3656520" cy="3656520"/>
          </a:xfrm>
          <a:prstGeom prst="ellipse">
            <a:avLst/>
          </a:prstGeom>
          <a:solidFill>
            <a:srgbClr val="0b1e3f"/>
          </a:solidFill>
          <a:ln w="12700">
            <a:solidFill>
              <a:srgbClr val="1c7293">
                <a:alpha val="50000"/>
              </a:srgbClr>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10" name="Shape 2"/>
          <p:cNvSpPr/>
          <p:nvPr/>
        </p:nvSpPr>
        <p:spPr>
          <a:xfrm>
            <a:off x="9601200" y="4297680"/>
            <a:ext cx="5119560" cy="5119560"/>
          </a:xfrm>
          <a:prstGeom prst="ellipse">
            <a:avLst/>
          </a:prstGeom>
          <a:solidFill>
            <a:srgbClr val="0b1e3f"/>
          </a:solidFill>
          <a:ln w="12700">
            <a:solidFill>
              <a:srgbClr val="1c7293">
                <a:alpha val="60000"/>
              </a:srgbClr>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11" name="Shape 3"/>
          <p:cNvSpPr/>
          <p:nvPr/>
        </p:nvSpPr>
        <p:spPr>
          <a:xfrm>
            <a:off x="8869680" y="3566160"/>
            <a:ext cx="6582600" cy="6582600"/>
          </a:xfrm>
          <a:prstGeom prst="ellipse">
            <a:avLst/>
          </a:prstGeom>
          <a:solidFill>
            <a:srgbClr val="0b1e3f"/>
          </a:solidFill>
          <a:ln w="12700">
            <a:solidFill>
              <a:srgbClr val="1c7293">
                <a:alpha val="70000"/>
              </a:srgbClr>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12" name="Shape 4"/>
          <p:cNvSpPr/>
          <p:nvPr/>
        </p:nvSpPr>
        <p:spPr>
          <a:xfrm>
            <a:off x="8138160" y="2834640"/>
            <a:ext cx="8045640" cy="8045640"/>
          </a:xfrm>
          <a:prstGeom prst="ellipse">
            <a:avLst/>
          </a:prstGeom>
          <a:solidFill>
            <a:srgbClr val="0b1e3f"/>
          </a:solidFill>
          <a:ln w="12700">
            <a:solidFill>
              <a:srgbClr val="1c7293">
                <a:alpha val="80000"/>
              </a:srgbClr>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13" name="Shape 5"/>
          <p:cNvSpPr/>
          <p:nvPr/>
        </p:nvSpPr>
        <p:spPr>
          <a:xfrm>
            <a:off x="11658600" y="6355080"/>
            <a:ext cx="410400" cy="410400"/>
          </a:xfrm>
          <a:prstGeom prst="ellipse">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4" name="Text 6"/>
          <p:cNvSpPr/>
          <p:nvPr/>
        </p:nvSpPr>
        <p:spPr>
          <a:xfrm>
            <a:off x="731520" y="914400"/>
            <a:ext cx="100573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601" strike="noStrike" u="none">
                <a:solidFill>
                  <a:srgbClr val="f4a11a"/>
                </a:solidFill>
                <a:effectLst/>
                <a:uFillTx/>
                <a:latin typeface="Calibri"/>
                <a:ea typeface="Calibri"/>
              </a:rPr>
              <a:t>BLG 632E  ·  NEXT-GEN WIRELESS NETWORKS  ·  SPRING 2025–2026</a:t>
            </a:r>
            <a:endParaRPr b="0" lang="en-TR" sz="1200" strike="noStrike" u="none">
              <a:solidFill>
                <a:srgbClr val="ffffff"/>
              </a:solidFill>
              <a:effectLst/>
              <a:uFillTx/>
              <a:latin typeface="Arial"/>
            </a:endParaRPr>
          </a:p>
        </p:txBody>
      </p:sp>
      <p:sp>
        <p:nvSpPr>
          <p:cNvPr id="15" name="Shape 7"/>
          <p:cNvSpPr/>
          <p:nvPr/>
        </p:nvSpPr>
        <p:spPr>
          <a:xfrm>
            <a:off x="731520" y="1417320"/>
            <a:ext cx="639000" cy="53640"/>
          </a:xfrm>
          <a:prstGeom prst="rect">
            <a:avLst/>
          </a:prstGeom>
          <a:solidFill>
            <a:srgbClr val="f4a11a"/>
          </a:solidFill>
          <a:ln w="12700">
            <a:solidFill>
              <a:srgbClr val="f4a11a"/>
            </a:solidFill>
            <a:round/>
          </a:ln>
        </p:spPr>
        <p:style>
          <a:lnRef idx="0"/>
          <a:fillRef idx="0"/>
          <a:effectRef idx="0"/>
          <a:fontRef idx="minor"/>
        </p:style>
        <p:txBody>
          <a:bodyPr lIns="90000" rIns="90000" tIns="9720" bIns="9720" anchor="t">
            <a:noAutofit/>
          </a:bodyPr>
          <a:p>
            <a:pPr>
              <a:lnSpc>
                <a:spcPct val="100000"/>
              </a:lnSpc>
            </a:pPr>
            <a:endParaRPr b="0" lang="en-TR" sz="1800" strike="noStrike" u="none">
              <a:solidFill>
                <a:srgbClr val="000000"/>
              </a:solidFill>
              <a:effectLst/>
              <a:uFillTx/>
              <a:latin typeface="Arial"/>
            </a:endParaRPr>
          </a:p>
        </p:txBody>
      </p:sp>
      <p:sp>
        <p:nvSpPr>
          <p:cNvPr id="16" name="Text 8"/>
          <p:cNvSpPr/>
          <p:nvPr/>
        </p:nvSpPr>
        <p:spPr>
          <a:xfrm>
            <a:off x="731520" y="1645920"/>
            <a:ext cx="10514520" cy="959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400" strike="noStrike" u="none">
                <a:solidFill>
                  <a:srgbClr val="ffffff"/>
                </a:solidFill>
                <a:effectLst/>
                <a:uFillTx/>
                <a:latin typeface="Cambria"/>
                <a:ea typeface="Cambria"/>
              </a:rPr>
              <a:t>5G RRC Signaling Storm Mitigation</a:t>
            </a:r>
            <a:endParaRPr b="0" lang="en-TR" sz="4400" strike="noStrike" u="none">
              <a:solidFill>
                <a:srgbClr val="ffffff"/>
              </a:solidFill>
              <a:effectLst/>
              <a:uFillTx/>
              <a:latin typeface="Arial"/>
            </a:endParaRPr>
          </a:p>
        </p:txBody>
      </p:sp>
      <p:sp>
        <p:nvSpPr>
          <p:cNvPr id="17" name="Text 9"/>
          <p:cNvSpPr/>
          <p:nvPr/>
        </p:nvSpPr>
        <p:spPr>
          <a:xfrm>
            <a:off x="731520" y="2606040"/>
            <a:ext cx="1051452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2800" strike="noStrike" u="none">
                <a:solidFill>
                  <a:srgbClr val="cfe2f3"/>
                </a:solidFill>
                <a:effectLst/>
                <a:uFillTx/>
                <a:latin typeface="Cambria"/>
                <a:ea typeface="Cambria"/>
              </a:rPr>
              <a:t>via a Proactive Digital Twin Architecture</a:t>
            </a:r>
            <a:endParaRPr b="0" lang="en-TR" sz="2800" strike="noStrike" u="none">
              <a:solidFill>
                <a:srgbClr val="ffffff"/>
              </a:solidFill>
              <a:effectLst/>
              <a:uFillTx/>
              <a:latin typeface="Arial"/>
            </a:endParaRPr>
          </a:p>
        </p:txBody>
      </p:sp>
      <p:sp>
        <p:nvSpPr>
          <p:cNvPr id="18" name="Text 10"/>
          <p:cNvSpPr/>
          <p:nvPr/>
        </p:nvSpPr>
        <p:spPr>
          <a:xfrm>
            <a:off x="731520" y="3154680"/>
            <a:ext cx="1051452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2800" strike="noStrike" u="none">
                <a:solidFill>
                  <a:srgbClr val="cfe2f3"/>
                </a:solidFill>
                <a:effectLst/>
                <a:uFillTx/>
                <a:latin typeface="Cambria"/>
                <a:ea typeface="Cambria"/>
              </a:rPr>
              <a:t>with Continuous Calibration</a:t>
            </a:r>
            <a:endParaRPr b="0" lang="en-TR" sz="2800" strike="noStrike" u="none">
              <a:solidFill>
                <a:srgbClr val="ffffff"/>
              </a:solidFill>
              <a:effectLst/>
              <a:uFillTx/>
              <a:latin typeface="Arial"/>
            </a:endParaRPr>
          </a:p>
        </p:txBody>
      </p:sp>
      <p:sp>
        <p:nvSpPr>
          <p:cNvPr id="19" name="Shape 11"/>
          <p:cNvSpPr/>
          <p:nvPr/>
        </p:nvSpPr>
        <p:spPr>
          <a:xfrm>
            <a:off x="731520" y="4572000"/>
            <a:ext cx="63000" cy="146196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0" name="Text 12"/>
          <p:cNvSpPr/>
          <p:nvPr/>
        </p:nvSpPr>
        <p:spPr>
          <a:xfrm>
            <a:off x="960120" y="4572000"/>
            <a:ext cx="7314120" cy="1461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000" strike="noStrike" u="none">
                <a:solidFill>
                  <a:srgbClr val="ffffff"/>
                </a:solidFill>
                <a:effectLst/>
                <a:uFillTx/>
                <a:latin typeface="Calibri"/>
                <a:ea typeface="Calibri"/>
              </a:rPr>
              <a:t>Ömer Dikyol</a:t>
            </a:r>
            <a:endParaRPr b="0" lang="en-TR" sz="2000" strike="noStrike" u="none">
              <a:solidFill>
                <a:srgbClr val="ffffff"/>
              </a:solidFill>
              <a:effectLst/>
              <a:uFillTx/>
              <a:latin typeface="Arial"/>
            </a:endParaRPr>
          </a:p>
          <a:p>
            <a:pPr defTabSz="914400">
              <a:lnSpc>
                <a:spcPct val="100000"/>
              </a:lnSpc>
              <a:tabLst>
                <a:tab algn="l" pos="0"/>
              </a:tabLst>
            </a:pPr>
            <a:r>
              <a:rPr b="0" lang="en-US" sz="1300" strike="noStrike" u="none">
                <a:solidFill>
                  <a:srgbClr val="cfe2f3"/>
                </a:solidFill>
                <a:effectLst/>
                <a:uFillTx/>
                <a:latin typeface="Calibri"/>
                <a:ea typeface="Calibri"/>
              </a:rPr>
              <a:t>Department of Computer Engineering</a:t>
            </a:r>
            <a:endParaRPr b="0" lang="en-TR" sz="1300" strike="noStrike" u="none">
              <a:solidFill>
                <a:srgbClr val="ffffff"/>
              </a:solidFill>
              <a:effectLst/>
              <a:uFillTx/>
              <a:latin typeface="Arial"/>
            </a:endParaRPr>
          </a:p>
          <a:p>
            <a:pPr defTabSz="914400">
              <a:lnSpc>
                <a:spcPct val="100000"/>
              </a:lnSpc>
              <a:tabLst>
                <a:tab algn="l" pos="0"/>
              </a:tabLst>
            </a:pPr>
            <a:r>
              <a:rPr b="0" lang="en-US" sz="1300" strike="noStrike" u="none">
                <a:solidFill>
                  <a:srgbClr val="cfe2f3"/>
                </a:solidFill>
                <a:effectLst/>
                <a:uFillTx/>
                <a:latin typeface="Calibri"/>
                <a:ea typeface="Calibri"/>
              </a:rPr>
              <a:t>Istanbul Technical University</a:t>
            </a:r>
            <a:endParaRPr b="0" lang="en-TR" sz="13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AGENDA</a:t>
            </a:r>
            <a:endParaRPr b="0" lang="en-TR" sz="1100" strike="noStrike" u="none">
              <a:solidFill>
                <a:srgbClr val="000000"/>
              </a:solidFill>
              <a:effectLst/>
              <a:uFillTx/>
              <a:latin typeface="Arial"/>
            </a:endParaRPr>
          </a:p>
        </p:txBody>
      </p:sp>
      <p:sp>
        <p:nvSpPr>
          <p:cNvPr id="22"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Outline</a:t>
            </a:r>
            <a:endParaRPr b="0" lang="en-TR" sz="3000" strike="noStrike" u="none">
              <a:solidFill>
                <a:srgbClr val="000000"/>
              </a:solidFill>
              <a:effectLst/>
              <a:uFillTx/>
              <a:latin typeface="Arial"/>
            </a:endParaRPr>
          </a:p>
        </p:txBody>
      </p:sp>
      <p:sp>
        <p:nvSpPr>
          <p:cNvPr id="23" name="Shape 2"/>
          <p:cNvSpPr/>
          <p:nvPr/>
        </p:nvSpPr>
        <p:spPr>
          <a:xfrm>
            <a:off x="731520" y="1874520"/>
            <a:ext cx="547560" cy="547560"/>
          </a:xfrm>
          <a:prstGeom prst="ellipse">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24" name="Text 3"/>
          <p:cNvSpPr/>
          <p:nvPr/>
        </p:nvSpPr>
        <p:spPr>
          <a:xfrm>
            <a:off x="731520" y="1874520"/>
            <a:ext cx="547560" cy="547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ffffff"/>
                </a:solidFill>
                <a:effectLst/>
                <a:uFillTx/>
                <a:latin typeface="Cambria"/>
                <a:ea typeface="Cambria"/>
              </a:rPr>
              <a:t>01</a:t>
            </a:r>
            <a:endParaRPr b="0" lang="en-TR" sz="1400" strike="noStrike" u="none">
              <a:solidFill>
                <a:srgbClr val="000000"/>
              </a:solidFill>
              <a:effectLst/>
              <a:uFillTx/>
              <a:latin typeface="Arial"/>
            </a:endParaRPr>
          </a:p>
        </p:txBody>
      </p:sp>
      <p:sp>
        <p:nvSpPr>
          <p:cNvPr id="25" name="Text 4"/>
          <p:cNvSpPr/>
          <p:nvPr/>
        </p:nvSpPr>
        <p:spPr>
          <a:xfrm>
            <a:off x="1508760" y="1828800"/>
            <a:ext cx="96001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2233"/>
                </a:solidFill>
                <a:effectLst/>
                <a:uFillTx/>
                <a:latin typeface="Cambria"/>
                <a:ea typeface="Cambria"/>
              </a:rPr>
              <a:t>Problem Definition &amp; Research Gap</a:t>
            </a:r>
            <a:endParaRPr b="0" lang="en-TR" sz="1800" strike="noStrike" u="none">
              <a:solidFill>
                <a:srgbClr val="000000"/>
              </a:solidFill>
              <a:effectLst/>
              <a:uFillTx/>
              <a:latin typeface="Arial"/>
            </a:endParaRPr>
          </a:p>
        </p:txBody>
      </p:sp>
      <p:sp>
        <p:nvSpPr>
          <p:cNvPr id="26" name="Text 5"/>
          <p:cNvSpPr/>
          <p:nvPr/>
        </p:nvSpPr>
        <p:spPr>
          <a:xfrm>
            <a:off x="1508760" y="2167200"/>
            <a:ext cx="960012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64748b"/>
                </a:solidFill>
                <a:effectLst/>
                <a:uFillTx/>
                <a:latin typeface="Calibri"/>
                <a:ea typeface="Calibri"/>
              </a:rPr>
              <a:t>Why availability matters; the storm; control-loop latency</a:t>
            </a:r>
            <a:endParaRPr b="0" lang="en-TR" sz="1200" strike="noStrike" u="none">
              <a:solidFill>
                <a:srgbClr val="000000"/>
              </a:solidFill>
              <a:effectLst/>
              <a:uFillTx/>
              <a:latin typeface="Arial"/>
            </a:endParaRPr>
          </a:p>
        </p:txBody>
      </p:sp>
      <p:sp>
        <p:nvSpPr>
          <p:cNvPr id="27" name="Shape 6"/>
          <p:cNvSpPr/>
          <p:nvPr/>
        </p:nvSpPr>
        <p:spPr>
          <a:xfrm>
            <a:off x="1508760" y="2541960"/>
            <a:ext cx="9600120" cy="3600"/>
          </a:xfrm>
          <a:prstGeom prst="rect">
            <a:avLst/>
          </a:prstGeom>
          <a:solidFill>
            <a:srgbClr val="e2e8f0"/>
          </a:solidFill>
          <a:ln w="12700">
            <a:solidFill>
              <a:srgbClr val="e2e8f0"/>
            </a:solidFill>
            <a:round/>
          </a:ln>
        </p:spPr>
        <p:style>
          <a:lnRef idx="0"/>
          <a:fillRef idx="0"/>
          <a:effectRef idx="0"/>
          <a:fontRef idx="minor"/>
        </p:style>
        <p:txBody>
          <a:bodyPr lIns="90000" rIns="90000" tIns="-40320" bIns="-40320" anchor="t">
            <a:noAutofit/>
          </a:bodyPr>
          <a:p>
            <a:pPr>
              <a:lnSpc>
                <a:spcPct val="100000"/>
              </a:lnSpc>
            </a:pPr>
            <a:endParaRPr b="0" lang="en-TR" sz="1800" strike="noStrike" u="none">
              <a:solidFill>
                <a:srgbClr val="000000"/>
              </a:solidFill>
              <a:effectLst/>
              <a:uFillTx/>
              <a:latin typeface="Arial"/>
            </a:endParaRPr>
          </a:p>
        </p:txBody>
      </p:sp>
      <p:sp>
        <p:nvSpPr>
          <p:cNvPr id="28" name="Shape 7"/>
          <p:cNvSpPr/>
          <p:nvPr/>
        </p:nvSpPr>
        <p:spPr>
          <a:xfrm>
            <a:off x="731520" y="2651760"/>
            <a:ext cx="547560" cy="547560"/>
          </a:xfrm>
          <a:prstGeom prst="ellipse">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29" name="Text 8"/>
          <p:cNvSpPr/>
          <p:nvPr/>
        </p:nvSpPr>
        <p:spPr>
          <a:xfrm>
            <a:off x="731520" y="2651760"/>
            <a:ext cx="547560" cy="547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ffffff"/>
                </a:solidFill>
                <a:effectLst/>
                <a:uFillTx/>
                <a:latin typeface="Cambria"/>
                <a:ea typeface="Cambria"/>
              </a:rPr>
              <a:t>02</a:t>
            </a:r>
            <a:endParaRPr b="0" lang="en-TR" sz="1400" strike="noStrike" u="none">
              <a:solidFill>
                <a:srgbClr val="000000"/>
              </a:solidFill>
              <a:effectLst/>
              <a:uFillTx/>
              <a:latin typeface="Arial"/>
            </a:endParaRPr>
          </a:p>
        </p:txBody>
      </p:sp>
      <p:sp>
        <p:nvSpPr>
          <p:cNvPr id="30" name="Text 9"/>
          <p:cNvSpPr/>
          <p:nvPr/>
        </p:nvSpPr>
        <p:spPr>
          <a:xfrm>
            <a:off x="1508760" y="2606040"/>
            <a:ext cx="96001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2233"/>
                </a:solidFill>
                <a:effectLst/>
                <a:uFillTx/>
                <a:latin typeface="Cambria"/>
                <a:ea typeface="Cambria"/>
              </a:rPr>
              <a:t>System Model</a:t>
            </a:r>
            <a:endParaRPr b="0" lang="en-TR" sz="1800" strike="noStrike" u="none">
              <a:solidFill>
                <a:srgbClr val="000000"/>
              </a:solidFill>
              <a:effectLst/>
              <a:uFillTx/>
              <a:latin typeface="Arial"/>
            </a:endParaRPr>
          </a:p>
        </p:txBody>
      </p:sp>
      <p:sp>
        <p:nvSpPr>
          <p:cNvPr id="31" name="Text 10"/>
          <p:cNvSpPr/>
          <p:nvPr/>
        </p:nvSpPr>
        <p:spPr>
          <a:xfrm>
            <a:off x="1508760" y="2944440"/>
            <a:ext cx="960012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64748b"/>
                </a:solidFill>
                <a:effectLst/>
                <a:uFillTx/>
                <a:latin typeface="Calibri"/>
                <a:ea typeface="Calibri"/>
              </a:rPr>
              <a:t>MMPP/M/c/K queue and gNB RACH parameters</a:t>
            </a:r>
            <a:endParaRPr b="0" lang="en-TR" sz="1200" strike="noStrike" u="none">
              <a:solidFill>
                <a:srgbClr val="000000"/>
              </a:solidFill>
              <a:effectLst/>
              <a:uFillTx/>
              <a:latin typeface="Arial"/>
            </a:endParaRPr>
          </a:p>
        </p:txBody>
      </p:sp>
      <p:sp>
        <p:nvSpPr>
          <p:cNvPr id="32" name="Shape 11"/>
          <p:cNvSpPr/>
          <p:nvPr/>
        </p:nvSpPr>
        <p:spPr>
          <a:xfrm>
            <a:off x="1508760" y="3319200"/>
            <a:ext cx="9600120" cy="3600"/>
          </a:xfrm>
          <a:prstGeom prst="rect">
            <a:avLst/>
          </a:prstGeom>
          <a:solidFill>
            <a:srgbClr val="e2e8f0"/>
          </a:solidFill>
          <a:ln w="12700">
            <a:solidFill>
              <a:srgbClr val="e2e8f0"/>
            </a:solidFill>
            <a:round/>
          </a:ln>
        </p:spPr>
        <p:style>
          <a:lnRef idx="0"/>
          <a:fillRef idx="0"/>
          <a:effectRef idx="0"/>
          <a:fontRef idx="minor"/>
        </p:style>
        <p:txBody>
          <a:bodyPr lIns="90000" rIns="90000" tIns="-40320" bIns="-40320" anchor="t">
            <a:noAutofit/>
          </a:bodyPr>
          <a:p>
            <a:pPr>
              <a:lnSpc>
                <a:spcPct val="100000"/>
              </a:lnSpc>
            </a:pPr>
            <a:endParaRPr b="0" lang="en-TR" sz="1800" strike="noStrike" u="none">
              <a:solidFill>
                <a:srgbClr val="000000"/>
              </a:solidFill>
              <a:effectLst/>
              <a:uFillTx/>
              <a:latin typeface="Arial"/>
            </a:endParaRPr>
          </a:p>
        </p:txBody>
      </p:sp>
      <p:sp>
        <p:nvSpPr>
          <p:cNvPr id="33" name="Shape 12"/>
          <p:cNvSpPr/>
          <p:nvPr/>
        </p:nvSpPr>
        <p:spPr>
          <a:xfrm>
            <a:off x="731520" y="3429000"/>
            <a:ext cx="547560" cy="547560"/>
          </a:xfrm>
          <a:prstGeom prst="ellipse">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4" name="Text 13"/>
          <p:cNvSpPr/>
          <p:nvPr/>
        </p:nvSpPr>
        <p:spPr>
          <a:xfrm>
            <a:off x="731520" y="3429000"/>
            <a:ext cx="547560" cy="547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ffffff"/>
                </a:solidFill>
                <a:effectLst/>
                <a:uFillTx/>
                <a:latin typeface="Cambria"/>
                <a:ea typeface="Cambria"/>
              </a:rPr>
              <a:t>03</a:t>
            </a:r>
            <a:endParaRPr b="0" lang="en-TR" sz="1400" strike="noStrike" u="none">
              <a:solidFill>
                <a:srgbClr val="000000"/>
              </a:solidFill>
              <a:effectLst/>
              <a:uFillTx/>
              <a:latin typeface="Arial"/>
            </a:endParaRPr>
          </a:p>
        </p:txBody>
      </p:sp>
      <p:sp>
        <p:nvSpPr>
          <p:cNvPr id="35" name="Text 14"/>
          <p:cNvSpPr/>
          <p:nvPr/>
        </p:nvSpPr>
        <p:spPr>
          <a:xfrm>
            <a:off x="1508760" y="3383280"/>
            <a:ext cx="96001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2233"/>
                </a:solidFill>
                <a:effectLst/>
                <a:uFillTx/>
                <a:latin typeface="Cambria"/>
                <a:ea typeface="Cambria"/>
              </a:rPr>
              <a:t>Proposed Method</a:t>
            </a:r>
            <a:endParaRPr b="0" lang="en-TR" sz="1800" strike="noStrike" u="none">
              <a:solidFill>
                <a:srgbClr val="000000"/>
              </a:solidFill>
              <a:effectLst/>
              <a:uFillTx/>
              <a:latin typeface="Arial"/>
            </a:endParaRPr>
          </a:p>
        </p:txBody>
      </p:sp>
      <p:sp>
        <p:nvSpPr>
          <p:cNvPr id="36" name="Text 15"/>
          <p:cNvSpPr/>
          <p:nvPr/>
        </p:nvSpPr>
        <p:spPr>
          <a:xfrm>
            <a:off x="1508760" y="3721680"/>
            <a:ext cx="960012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64748b"/>
                </a:solidFill>
                <a:effectLst/>
                <a:uFillTx/>
                <a:latin typeface="Calibri"/>
                <a:ea typeface="Calibri"/>
              </a:rPr>
              <a:t>Calibrated Digital Twin with EMA + asymmetric step rule</a:t>
            </a:r>
            <a:endParaRPr b="0" lang="en-TR" sz="1200" strike="noStrike" u="none">
              <a:solidFill>
                <a:srgbClr val="000000"/>
              </a:solidFill>
              <a:effectLst/>
              <a:uFillTx/>
              <a:latin typeface="Arial"/>
            </a:endParaRPr>
          </a:p>
        </p:txBody>
      </p:sp>
      <p:sp>
        <p:nvSpPr>
          <p:cNvPr id="37" name="Shape 16"/>
          <p:cNvSpPr/>
          <p:nvPr/>
        </p:nvSpPr>
        <p:spPr>
          <a:xfrm>
            <a:off x="1508760" y="4096440"/>
            <a:ext cx="9600120" cy="3600"/>
          </a:xfrm>
          <a:prstGeom prst="rect">
            <a:avLst/>
          </a:prstGeom>
          <a:solidFill>
            <a:srgbClr val="e2e8f0"/>
          </a:solidFill>
          <a:ln w="12700">
            <a:solidFill>
              <a:srgbClr val="e2e8f0"/>
            </a:solidFill>
            <a:round/>
          </a:ln>
        </p:spPr>
        <p:style>
          <a:lnRef idx="0"/>
          <a:fillRef idx="0"/>
          <a:effectRef idx="0"/>
          <a:fontRef idx="minor"/>
        </p:style>
        <p:txBody>
          <a:bodyPr lIns="90000" rIns="90000" tIns="-40320" bIns="-40320" anchor="t">
            <a:noAutofit/>
          </a:bodyPr>
          <a:p>
            <a:pPr>
              <a:lnSpc>
                <a:spcPct val="100000"/>
              </a:lnSpc>
            </a:pPr>
            <a:endParaRPr b="0" lang="en-TR" sz="1800" strike="noStrike" u="none">
              <a:solidFill>
                <a:srgbClr val="000000"/>
              </a:solidFill>
              <a:effectLst/>
              <a:uFillTx/>
              <a:latin typeface="Arial"/>
            </a:endParaRPr>
          </a:p>
        </p:txBody>
      </p:sp>
      <p:sp>
        <p:nvSpPr>
          <p:cNvPr id="38" name="Shape 17"/>
          <p:cNvSpPr/>
          <p:nvPr/>
        </p:nvSpPr>
        <p:spPr>
          <a:xfrm>
            <a:off x="731520" y="4206240"/>
            <a:ext cx="547560" cy="547560"/>
          </a:xfrm>
          <a:prstGeom prst="ellipse">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9" name="Text 18"/>
          <p:cNvSpPr/>
          <p:nvPr/>
        </p:nvSpPr>
        <p:spPr>
          <a:xfrm>
            <a:off x="731520" y="4206240"/>
            <a:ext cx="547560" cy="547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ffffff"/>
                </a:solidFill>
                <a:effectLst/>
                <a:uFillTx/>
                <a:latin typeface="Cambria"/>
                <a:ea typeface="Cambria"/>
              </a:rPr>
              <a:t>04</a:t>
            </a:r>
            <a:endParaRPr b="0" lang="en-TR" sz="1400" strike="noStrike" u="none">
              <a:solidFill>
                <a:srgbClr val="000000"/>
              </a:solidFill>
              <a:effectLst/>
              <a:uFillTx/>
              <a:latin typeface="Arial"/>
            </a:endParaRPr>
          </a:p>
        </p:txBody>
      </p:sp>
      <p:sp>
        <p:nvSpPr>
          <p:cNvPr id="40" name="Text 19"/>
          <p:cNvSpPr/>
          <p:nvPr/>
        </p:nvSpPr>
        <p:spPr>
          <a:xfrm>
            <a:off x="1508760" y="4160520"/>
            <a:ext cx="96001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2233"/>
                </a:solidFill>
                <a:effectLst/>
                <a:uFillTx/>
                <a:latin typeface="Cambria"/>
                <a:ea typeface="Cambria"/>
              </a:rPr>
              <a:t>Results &amp; Evaluation</a:t>
            </a:r>
            <a:endParaRPr b="0" lang="en-TR" sz="1800" strike="noStrike" u="none">
              <a:solidFill>
                <a:srgbClr val="000000"/>
              </a:solidFill>
              <a:effectLst/>
              <a:uFillTx/>
              <a:latin typeface="Arial"/>
            </a:endParaRPr>
          </a:p>
        </p:txBody>
      </p:sp>
      <p:sp>
        <p:nvSpPr>
          <p:cNvPr id="41" name="Text 20"/>
          <p:cNvSpPr/>
          <p:nvPr/>
        </p:nvSpPr>
        <p:spPr>
          <a:xfrm>
            <a:off x="1508760" y="4498920"/>
            <a:ext cx="960012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64748b"/>
                </a:solidFill>
                <a:effectLst/>
                <a:uFillTx/>
                <a:latin typeface="Calibri"/>
                <a:ea typeface="Calibri"/>
              </a:rPr>
              <a:t>Mirroring error, queue stability, delay CDF, ε-sensitivity</a:t>
            </a:r>
            <a:endParaRPr b="0" lang="en-TR" sz="1200" strike="noStrike" u="none">
              <a:solidFill>
                <a:srgbClr val="000000"/>
              </a:solidFill>
              <a:effectLst/>
              <a:uFillTx/>
              <a:latin typeface="Arial"/>
            </a:endParaRPr>
          </a:p>
        </p:txBody>
      </p:sp>
      <p:sp>
        <p:nvSpPr>
          <p:cNvPr id="42" name="Shape 21"/>
          <p:cNvSpPr/>
          <p:nvPr/>
        </p:nvSpPr>
        <p:spPr>
          <a:xfrm>
            <a:off x="1508760" y="4873680"/>
            <a:ext cx="9600120" cy="3600"/>
          </a:xfrm>
          <a:prstGeom prst="rect">
            <a:avLst/>
          </a:prstGeom>
          <a:solidFill>
            <a:srgbClr val="e2e8f0"/>
          </a:solidFill>
          <a:ln w="12700">
            <a:solidFill>
              <a:srgbClr val="e2e8f0"/>
            </a:solidFill>
            <a:round/>
          </a:ln>
        </p:spPr>
        <p:style>
          <a:lnRef idx="0"/>
          <a:fillRef idx="0"/>
          <a:effectRef idx="0"/>
          <a:fontRef idx="minor"/>
        </p:style>
        <p:txBody>
          <a:bodyPr lIns="90000" rIns="90000" tIns="-40320" bIns="-40320" anchor="t">
            <a:noAutofit/>
          </a:bodyPr>
          <a:p>
            <a:pPr>
              <a:lnSpc>
                <a:spcPct val="100000"/>
              </a:lnSpc>
            </a:pPr>
            <a:endParaRPr b="0" lang="en-TR" sz="1800" strike="noStrike" u="none">
              <a:solidFill>
                <a:srgbClr val="000000"/>
              </a:solidFill>
              <a:effectLst/>
              <a:uFillTx/>
              <a:latin typeface="Arial"/>
            </a:endParaRPr>
          </a:p>
        </p:txBody>
      </p:sp>
      <p:sp>
        <p:nvSpPr>
          <p:cNvPr id="43" name="Shape 22"/>
          <p:cNvSpPr/>
          <p:nvPr/>
        </p:nvSpPr>
        <p:spPr>
          <a:xfrm>
            <a:off x="731520" y="4983480"/>
            <a:ext cx="547560" cy="547560"/>
          </a:xfrm>
          <a:prstGeom prst="ellipse">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44" name="Text 23"/>
          <p:cNvSpPr/>
          <p:nvPr/>
        </p:nvSpPr>
        <p:spPr>
          <a:xfrm>
            <a:off x="731520" y="4983480"/>
            <a:ext cx="547560" cy="547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ffffff"/>
                </a:solidFill>
                <a:effectLst/>
                <a:uFillTx/>
                <a:latin typeface="Cambria"/>
                <a:ea typeface="Cambria"/>
              </a:rPr>
              <a:t>05</a:t>
            </a:r>
            <a:endParaRPr b="0" lang="en-TR" sz="1400" strike="noStrike" u="none">
              <a:solidFill>
                <a:srgbClr val="000000"/>
              </a:solidFill>
              <a:effectLst/>
              <a:uFillTx/>
              <a:latin typeface="Arial"/>
            </a:endParaRPr>
          </a:p>
        </p:txBody>
      </p:sp>
      <p:sp>
        <p:nvSpPr>
          <p:cNvPr id="45" name="Text 24"/>
          <p:cNvSpPr/>
          <p:nvPr/>
        </p:nvSpPr>
        <p:spPr>
          <a:xfrm>
            <a:off x="1508760" y="4937760"/>
            <a:ext cx="96001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2233"/>
                </a:solidFill>
                <a:effectLst/>
                <a:uFillTx/>
                <a:latin typeface="Cambria"/>
                <a:ea typeface="Cambria"/>
              </a:rPr>
              <a:t>Conclusion</a:t>
            </a:r>
            <a:endParaRPr b="0" lang="en-TR" sz="1800" strike="noStrike" u="none">
              <a:solidFill>
                <a:srgbClr val="000000"/>
              </a:solidFill>
              <a:effectLst/>
              <a:uFillTx/>
              <a:latin typeface="Arial"/>
            </a:endParaRPr>
          </a:p>
        </p:txBody>
      </p:sp>
      <p:sp>
        <p:nvSpPr>
          <p:cNvPr id="46" name="Text 25"/>
          <p:cNvSpPr/>
          <p:nvPr/>
        </p:nvSpPr>
        <p:spPr>
          <a:xfrm>
            <a:off x="1508760" y="5276160"/>
            <a:ext cx="960012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64748b"/>
                </a:solidFill>
                <a:effectLst/>
                <a:uFillTx/>
                <a:latin typeface="Calibri"/>
                <a:ea typeface="Calibri"/>
              </a:rPr>
              <a:t>Findings, O-RAN deployment, future work</a:t>
            </a:r>
            <a:endParaRPr b="0" lang="en-TR" sz="1200" strike="noStrike" u="none">
              <a:solidFill>
                <a:srgbClr val="000000"/>
              </a:solidFill>
              <a:effectLst/>
              <a:uFillTx/>
              <a:latin typeface="Arial"/>
            </a:endParaRPr>
          </a:p>
        </p:txBody>
      </p:sp>
      <p:sp>
        <p:nvSpPr>
          <p:cNvPr id="47" name="Shape 26"/>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48" name="Text 27"/>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49" name="Text 28"/>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2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MOTIVATION</a:t>
            </a:r>
            <a:endParaRPr b="0" lang="en-TR" sz="1100" strike="noStrike" u="none">
              <a:solidFill>
                <a:srgbClr val="000000"/>
              </a:solidFill>
              <a:effectLst/>
              <a:uFillTx/>
              <a:latin typeface="Arial"/>
            </a:endParaRPr>
          </a:p>
        </p:txBody>
      </p:sp>
      <p:sp>
        <p:nvSpPr>
          <p:cNvPr id="51"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Why 5G availability matters</a:t>
            </a:r>
            <a:endParaRPr b="0" lang="en-TR" sz="3000" strike="noStrike" u="none">
              <a:solidFill>
                <a:srgbClr val="000000"/>
              </a:solidFill>
              <a:effectLst/>
              <a:uFillTx/>
              <a:latin typeface="Arial"/>
            </a:endParaRPr>
          </a:p>
        </p:txBody>
      </p:sp>
      <p:sp>
        <p:nvSpPr>
          <p:cNvPr id="52" name="Text 2"/>
          <p:cNvSpPr/>
          <p:nvPr/>
        </p:nvSpPr>
        <p:spPr>
          <a:xfrm>
            <a:off x="548640" y="1554480"/>
            <a:ext cx="10971720" cy="456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350" strike="noStrike" u="none">
                <a:solidFill>
                  <a:srgbClr val="334155"/>
                </a:solidFill>
                <a:effectLst/>
                <a:uFillTx/>
                <a:latin typeface="Calibri"/>
                <a:ea typeface="Calibri"/>
              </a:rPr>
              <a:t>5G NR underpins mission-critical services — every device starts with an RRC connection request through the gNB RACH.</a:t>
            </a:r>
            <a:endParaRPr b="0" lang="en-TR" sz="1350" strike="noStrike" u="none">
              <a:solidFill>
                <a:srgbClr val="000000"/>
              </a:solidFill>
              <a:effectLst/>
              <a:uFillTx/>
              <a:latin typeface="Arial"/>
            </a:endParaRPr>
          </a:p>
        </p:txBody>
      </p:sp>
      <p:sp>
        <p:nvSpPr>
          <p:cNvPr id="53" name="Shape 3"/>
          <p:cNvSpPr/>
          <p:nvPr/>
        </p:nvSpPr>
        <p:spPr>
          <a:xfrm>
            <a:off x="548640" y="2194560"/>
            <a:ext cx="3565080" cy="146196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54" name="Shape 4"/>
          <p:cNvSpPr/>
          <p:nvPr/>
        </p:nvSpPr>
        <p:spPr>
          <a:xfrm>
            <a:off x="548640" y="2194560"/>
            <a:ext cx="63000" cy="146196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55" name="Text 5"/>
          <p:cNvSpPr/>
          <p:nvPr/>
        </p:nvSpPr>
        <p:spPr>
          <a:xfrm>
            <a:off x="777240" y="2331720"/>
            <a:ext cx="319932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065a82"/>
                </a:solidFill>
                <a:effectLst/>
                <a:uFillTx/>
                <a:latin typeface="Cambria"/>
                <a:ea typeface="Cambria"/>
              </a:rPr>
              <a:t>&lt;10 ms</a:t>
            </a:r>
            <a:endParaRPr b="0" lang="en-TR" sz="3000" strike="noStrike" u="none">
              <a:solidFill>
                <a:srgbClr val="000000"/>
              </a:solidFill>
              <a:effectLst/>
              <a:uFillTx/>
              <a:latin typeface="Arial"/>
            </a:endParaRPr>
          </a:p>
        </p:txBody>
      </p:sp>
      <p:sp>
        <p:nvSpPr>
          <p:cNvPr id="56" name="Text 6"/>
          <p:cNvSpPr/>
          <p:nvPr/>
        </p:nvSpPr>
        <p:spPr>
          <a:xfrm>
            <a:off x="777240" y="2971800"/>
            <a:ext cx="319932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Round-trip latency required by autonomous vehicles</a:t>
            </a:r>
            <a:endParaRPr b="0" lang="en-TR" sz="1200" strike="noStrike" u="none">
              <a:solidFill>
                <a:srgbClr val="000000"/>
              </a:solidFill>
              <a:effectLst/>
              <a:uFillTx/>
              <a:latin typeface="Arial"/>
            </a:endParaRPr>
          </a:p>
        </p:txBody>
      </p:sp>
      <p:sp>
        <p:nvSpPr>
          <p:cNvPr id="57" name="Shape 7"/>
          <p:cNvSpPr/>
          <p:nvPr/>
        </p:nvSpPr>
        <p:spPr>
          <a:xfrm>
            <a:off x="4434840" y="2194560"/>
            <a:ext cx="3565080" cy="146196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58" name="Shape 8"/>
          <p:cNvSpPr/>
          <p:nvPr/>
        </p:nvSpPr>
        <p:spPr>
          <a:xfrm>
            <a:off x="4434840" y="2194560"/>
            <a:ext cx="63000" cy="146196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59" name="Text 9"/>
          <p:cNvSpPr/>
          <p:nvPr/>
        </p:nvSpPr>
        <p:spPr>
          <a:xfrm>
            <a:off x="4663440" y="2331720"/>
            <a:ext cx="319932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065a82"/>
                </a:solidFill>
                <a:effectLst/>
                <a:uFillTx/>
                <a:latin typeface="Cambria"/>
                <a:ea typeface="Cambria"/>
              </a:rPr>
              <a:t>5×9</a:t>
            </a:r>
            <a:endParaRPr b="0" lang="en-TR" sz="3000" strike="noStrike" u="none">
              <a:solidFill>
                <a:srgbClr val="000000"/>
              </a:solidFill>
              <a:effectLst/>
              <a:uFillTx/>
              <a:latin typeface="Arial"/>
            </a:endParaRPr>
          </a:p>
        </p:txBody>
      </p:sp>
      <p:sp>
        <p:nvSpPr>
          <p:cNvPr id="60" name="Text 10"/>
          <p:cNvSpPr/>
          <p:nvPr/>
        </p:nvSpPr>
        <p:spPr>
          <a:xfrm>
            <a:off x="4663440" y="2971800"/>
            <a:ext cx="319932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Reliability target for remote surgery and industrial IoT</a:t>
            </a:r>
            <a:endParaRPr b="0" lang="en-TR" sz="1200" strike="noStrike" u="none">
              <a:solidFill>
                <a:srgbClr val="000000"/>
              </a:solidFill>
              <a:effectLst/>
              <a:uFillTx/>
              <a:latin typeface="Arial"/>
            </a:endParaRPr>
          </a:p>
        </p:txBody>
      </p:sp>
      <p:sp>
        <p:nvSpPr>
          <p:cNvPr id="61" name="Shape 11"/>
          <p:cNvSpPr/>
          <p:nvPr/>
        </p:nvSpPr>
        <p:spPr>
          <a:xfrm>
            <a:off x="8321040" y="2194560"/>
            <a:ext cx="3565080" cy="146196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62" name="Shape 12"/>
          <p:cNvSpPr/>
          <p:nvPr/>
        </p:nvSpPr>
        <p:spPr>
          <a:xfrm>
            <a:off x="8321040" y="2194560"/>
            <a:ext cx="63000" cy="146196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63" name="Text 13"/>
          <p:cNvSpPr/>
          <p:nvPr/>
        </p:nvSpPr>
        <p:spPr>
          <a:xfrm>
            <a:off x="8549640" y="2331720"/>
            <a:ext cx="319932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065a82"/>
                </a:solidFill>
                <a:effectLst/>
                <a:uFillTx/>
                <a:latin typeface="Cambria"/>
                <a:ea typeface="Cambria"/>
              </a:rPr>
              <a:t>100s–1000s</a:t>
            </a:r>
            <a:endParaRPr b="0" lang="en-TR" sz="3000" strike="noStrike" u="none">
              <a:solidFill>
                <a:srgbClr val="000000"/>
              </a:solidFill>
              <a:effectLst/>
              <a:uFillTx/>
              <a:latin typeface="Arial"/>
            </a:endParaRPr>
          </a:p>
        </p:txBody>
      </p:sp>
      <p:sp>
        <p:nvSpPr>
          <p:cNvPr id="64" name="Text 14"/>
          <p:cNvSpPr/>
          <p:nvPr/>
        </p:nvSpPr>
        <p:spPr>
          <a:xfrm>
            <a:off x="8549640" y="2971800"/>
            <a:ext cx="319932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UEs sharing a single gNB simultaneously</a:t>
            </a:r>
            <a:endParaRPr b="0" lang="en-TR" sz="1200" strike="noStrike" u="none">
              <a:solidFill>
                <a:srgbClr val="000000"/>
              </a:solidFill>
              <a:effectLst/>
              <a:uFillTx/>
              <a:latin typeface="Arial"/>
            </a:endParaRPr>
          </a:p>
        </p:txBody>
      </p:sp>
      <p:sp>
        <p:nvSpPr>
          <p:cNvPr id="65" name="Text 15"/>
          <p:cNvSpPr/>
          <p:nvPr/>
        </p:nvSpPr>
        <p:spPr>
          <a:xfrm>
            <a:off x="548640" y="3931920"/>
            <a:ext cx="73141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1a2233"/>
                </a:solidFill>
                <a:effectLst/>
                <a:uFillTx/>
                <a:latin typeface="Cambria"/>
                <a:ea typeface="Cambria"/>
              </a:rPr>
              <a:t>gNB RACH at a glance</a:t>
            </a:r>
            <a:endParaRPr b="0" lang="en-TR" sz="1600" strike="noStrike" u="none">
              <a:solidFill>
                <a:srgbClr val="000000"/>
              </a:solidFill>
              <a:effectLst/>
              <a:uFillTx/>
              <a:latin typeface="Arial"/>
            </a:endParaRPr>
          </a:p>
        </p:txBody>
      </p:sp>
      <p:sp>
        <p:nvSpPr>
          <p:cNvPr id="66" name="Shape 16"/>
          <p:cNvSpPr/>
          <p:nvPr/>
        </p:nvSpPr>
        <p:spPr>
          <a:xfrm>
            <a:off x="548640" y="4389120"/>
            <a:ext cx="3565080" cy="867600"/>
          </a:xfrm>
          <a:prstGeom prst="rect">
            <a:avLst/>
          </a:prstGeom>
          <a:solidFill>
            <a:srgbClr val="f7f9fc"/>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67" name="Text 17"/>
          <p:cNvSpPr/>
          <p:nvPr/>
        </p:nvSpPr>
        <p:spPr>
          <a:xfrm>
            <a:off x="777240" y="4480560"/>
            <a:ext cx="31993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c7293"/>
                </a:solidFill>
                <a:effectLst/>
                <a:uFillTx/>
                <a:latin typeface="Consolas"/>
                <a:ea typeface="Consolas"/>
              </a:rPr>
              <a:t>c = 54</a:t>
            </a:r>
            <a:endParaRPr b="0" lang="en-TR" sz="1800" strike="noStrike" u="none">
              <a:solidFill>
                <a:srgbClr val="000000"/>
              </a:solidFill>
              <a:effectLst/>
              <a:uFillTx/>
              <a:latin typeface="Arial"/>
            </a:endParaRPr>
          </a:p>
        </p:txBody>
      </p:sp>
      <p:sp>
        <p:nvSpPr>
          <p:cNvPr id="68" name="Text 18"/>
          <p:cNvSpPr/>
          <p:nvPr/>
        </p:nvSpPr>
        <p:spPr>
          <a:xfrm>
            <a:off x="777240" y="4846320"/>
            <a:ext cx="31993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50" strike="noStrike" u="none">
                <a:solidFill>
                  <a:srgbClr val="334155"/>
                </a:solidFill>
                <a:effectLst/>
                <a:uFillTx/>
                <a:latin typeface="Calibri"/>
                <a:ea typeface="Calibri"/>
              </a:rPr>
              <a:t>preamble channels</a:t>
            </a:r>
            <a:endParaRPr b="0" lang="en-TR" sz="1150" strike="noStrike" u="none">
              <a:solidFill>
                <a:srgbClr val="000000"/>
              </a:solidFill>
              <a:effectLst/>
              <a:uFillTx/>
              <a:latin typeface="Arial"/>
            </a:endParaRPr>
          </a:p>
        </p:txBody>
      </p:sp>
      <p:sp>
        <p:nvSpPr>
          <p:cNvPr id="69" name="Shape 19"/>
          <p:cNvSpPr/>
          <p:nvPr/>
        </p:nvSpPr>
        <p:spPr>
          <a:xfrm>
            <a:off x="4434840" y="4389120"/>
            <a:ext cx="3565080" cy="867600"/>
          </a:xfrm>
          <a:prstGeom prst="rect">
            <a:avLst/>
          </a:prstGeom>
          <a:solidFill>
            <a:srgbClr val="f7f9fc"/>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70" name="Text 20"/>
          <p:cNvSpPr/>
          <p:nvPr/>
        </p:nvSpPr>
        <p:spPr>
          <a:xfrm>
            <a:off x="4663440" y="4480560"/>
            <a:ext cx="31993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c7293"/>
                </a:solidFill>
                <a:effectLst/>
                <a:uFillTx/>
                <a:latin typeface="Consolas"/>
                <a:ea typeface="Consolas"/>
              </a:rPr>
              <a:t>K = 200</a:t>
            </a:r>
            <a:endParaRPr b="0" lang="en-TR" sz="1800" strike="noStrike" u="none">
              <a:solidFill>
                <a:srgbClr val="000000"/>
              </a:solidFill>
              <a:effectLst/>
              <a:uFillTx/>
              <a:latin typeface="Arial"/>
            </a:endParaRPr>
          </a:p>
        </p:txBody>
      </p:sp>
      <p:sp>
        <p:nvSpPr>
          <p:cNvPr id="71" name="Text 21"/>
          <p:cNvSpPr/>
          <p:nvPr/>
        </p:nvSpPr>
        <p:spPr>
          <a:xfrm>
            <a:off x="4663440" y="4846320"/>
            <a:ext cx="31993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50" strike="noStrike" u="none">
                <a:solidFill>
                  <a:srgbClr val="334155"/>
                </a:solidFill>
                <a:effectLst/>
                <a:uFillTx/>
                <a:latin typeface="Calibri"/>
                <a:ea typeface="Calibri"/>
              </a:rPr>
              <a:t>buffer capacity</a:t>
            </a:r>
            <a:endParaRPr b="0" lang="en-TR" sz="1150" strike="noStrike" u="none">
              <a:solidFill>
                <a:srgbClr val="000000"/>
              </a:solidFill>
              <a:effectLst/>
              <a:uFillTx/>
              <a:latin typeface="Arial"/>
            </a:endParaRPr>
          </a:p>
        </p:txBody>
      </p:sp>
      <p:sp>
        <p:nvSpPr>
          <p:cNvPr id="72" name="Shape 22"/>
          <p:cNvSpPr/>
          <p:nvPr/>
        </p:nvSpPr>
        <p:spPr>
          <a:xfrm>
            <a:off x="8321040" y="4389120"/>
            <a:ext cx="3565080" cy="867600"/>
          </a:xfrm>
          <a:prstGeom prst="rect">
            <a:avLst/>
          </a:prstGeom>
          <a:solidFill>
            <a:srgbClr val="f7f9fc"/>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73" name="Text 23"/>
          <p:cNvSpPr/>
          <p:nvPr/>
        </p:nvSpPr>
        <p:spPr>
          <a:xfrm>
            <a:off x="8549640" y="4480560"/>
            <a:ext cx="31993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c7293"/>
                </a:solidFill>
                <a:effectLst/>
                <a:uFillTx/>
                <a:latin typeface="Consolas"/>
                <a:ea typeface="Consolas"/>
              </a:rPr>
              <a:t>Q ≥ K</a:t>
            </a:r>
            <a:endParaRPr b="0" lang="en-TR" sz="1800" strike="noStrike" u="none">
              <a:solidFill>
                <a:srgbClr val="000000"/>
              </a:solidFill>
              <a:effectLst/>
              <a:uFillTx/>
              <a:latin typeface="Arial"/>
            </a:endParaRPr>
          </a:p>
        </p:txBody>
      </p:sp>
      <p:sp>
        <p:nvSpPr>
          <p:cNvPr id="74" name="Text 24"/>
          <p:cNvSpPr/>
          <p:nvPr/>
        </p:nvSpPr>
        <p:spPr>
          <a:xfrm>
            <a:off x="8549640" y="4846320"/>
            <a:ext cx="31993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50" strike="noStrike" u="none">
                <a:solidFill>
                  <a:srgbClr val="334155"/>
                </a:solidFill>
                <a:effectLst/>
                <a:uFillTx/>
                <a:latin typeface="Calibri"/>
                <a:ea typeface="Calibri"/>
              </a:rPr>
              <a:t>requests dropped immediately</a:t>
            </a:r>
            <a:endParaRPr b="0" lang="en-TR" sz="1150" strike="noStrike" u="none">
              <a:solidFill>
                <a:srgbClr val="000000"/>
              </a:solidFill>
              <a:effectLst/>
              <a:uFillTx/>
              <a:latin typeface="Arial"/>
            </a:endParaRPr>
          </a:p>
        </p:txBody>
      </p:sp>
      <p:sp>
        <p:nvSpPr>
          <p:cNvPr id="75" name="Shape 25"/>
          <p:cNvSpPr/>
          <p:nvPr/>
        </p:nvSpPr>
        <p:spPr>
          <a:xfrm>
            <a:off x="548640" y="5532120"/>
            <a:ext cx="11063160" cy="593280"/>
          </a:xfrm>
          <a:prstGeom prst="rect">
            <a:avLst/>
          </a:prstGeom>
          <a:solidFill>
            <a:srgbClr val="fff3e0"/>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pic>
        <p:nvPicPr>
          <p:cNvPr id="76" name="Image 0" descr="preencoded.png"/>
          <p:cNvPicPr/>
          <p:nvPr/>
        </p:nvPicPr>
        <p:blipFill>
          <a:blip r:embed="rId1"/>
          <a:stretch/>
        </p:blipFill>
        <p:spPr>
          <a:xfrm>
            <a:off x="713160" y="5650920"/>
            <a:ext cx="364680" cy="364680"/>
          </a:xfrm>
          <a:prstGeom prst="rect">
            <a:avLst/>
          </a:prstGeom>
          <a:noFill/>
          <a:ln w="0">
            <a:noFill/>
          </a:ln>
        </p:spPr>
      </p:pic>
      <p:sp>
        <p:nvSpPr>
          <p:cNvPr id="77" name="Text 26"/>
          <p:cNvSpPr/>
          <p:nvPr/>
        </p:nvSpPr>
        <p:spPr>
          <a:xfrm>
            <a:off x="1188720" y="5532120"/>
            <a:ext cx="10331640" cy="593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1a2233"/>
                </a:solidFill>
                <a:effectLst/>
                <a:uFillTx/>
                <a:latin typeface="Calibri"/>
                <a:ea typeface="Calibri"/>
              </a:rPr>
              <a:t>The RACH is a shared, limited resource with no built-in overload anticipation. RACH failure ⇒ no data plane, all services blocked.</a:t>
            </a:r>
            <a:endParaRPr b="0" lang="en-TR" sz="1200" strike="noStrike" u="none">
              <a:solidFill>
                <a:srgbClr val="000000"/>
              </a:solidFill>
              <a:effectLst/>
              <a:uFillTx/>
              <a:latin typeface="Arial"/>
            </a:endParaRPr>
          </a:p>
        </p:txBody>
      </p:sp>
      <p:sp>
        <p:nvSpPr>
          <p:cNvPr id="78" name="Shape 27"/>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79" name="Text 28"/>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80" name="Text 29"/>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3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1"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BACKGROUND</a:t>
            </a:r>
            <a:endParaRPr b="0" lang="en-TR" sz="1100" strike="noStrike" u="none">
              <a:solidFill>
                <a:srgbClr val="000000"/>
              </a:solidFill>
              <a:effectLst/>
              <a:uFillTx/>
              <a:latin typeface="Arial"/>
            </a:endParaRPr>
          </a:p>
        </p:txBody>
      </p:sp>
      <p:sp>
        <p:nvSpPr>
          <p:cNvPr id="82"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What is an RRC signaling storm?</a:t>
            </a:r>
            <a:endParaRPr b="0" lang="en-TR" sz="3000" strike="noStrike" u="none">
              <a:solidFill>
                <a:srgbClr val="000000"/>
              </a:solidFill>
              <a:effectLst/>
              <a:uFillTx/>
              <a:latin typeface="Arial"/>
            </a:endParaRPr>
          </a:p>
        </p:txBody>
      </p:sp>
      <p:sp>
        <p:nvSpPr>
          <p:cNvPr id="83" name="Shape 2"/>
          <p:cNvSpPr/>
          <p:nvPr/>
        </p:nvSpPr>
        <p:spPr>
          <a:xfrm>
            <a:off x="548640" y="1600200"/>
            <a:ext cx="612540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84" name="Shape 3"/>
          <p:cNvSpPr/>
          <p:nvPr/>
        </p:nvSpPr>
        <p:spPr>
          <a:xfrm>
            <a:off x="548640" y="1600200"/>
            <a:ext cx="63000" cy="452520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85" name="Text 4"/>
          <p:cNvSpPr/>
          <p:nvPr/>
        </p:nvSpPr>
        <p:spPr>
          <a:xfrm>
            <a:off x="822960" y="1737360"/>
            <a:ext cx="566820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1a2233"/>
                </a:solidFill>
                <a:effectLst/>
                <a:uFillTx/>
                <a:latin typeface="Cambria"/>
                <a:ea typeface="Cambria"/>
              </a:rPr>
              <a:t>RRC and the RACH</a:t>
            </a:r>
            <a:endParaRPr b="0" lang="en-TR" sz="1600" strike="noStrike" u="none">
              <a:solidFill>
                <a:srgbClr val="000000"/>
              </a:solidFill>
              <a:effectLst/>
              <a:uFillTx/>
              <a:latin typeface="Arial"/>
            </a:endParaRPr>
          </a:p>
        </p:txBody>
      </p:sp>
      <p:sp>
        <p:nvSpPr>
          <p:cNvPr id="86" name="Text 5"/>
          <p:cNvSpPr/>
          <p:nvPr/>
        </p:nvSpPr>
        <p:spPr>
          <a:xfrm>
            <a:off x="822960" y="2103120"/>
            <a:ext cx="566820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RRC is the 3GPP Layer-3 protocol that manages connection setup. No data flows without a completed RRC connection.</a:t>
            </a:r>
            <a:endParaRPr b="0" lang="en-TR" sz="1200" strike="noStrike" u="none">
              <a:solidFill>
                <a:srgbClr val="000000"/>
              </a:solidFill>
              <a:effectLst/>
              <a:uFillTx/>
              <a:latin typeface="Arial"/>
            </a:endParaRPr>
          </a:p>
        </p:txBody>
      </p:sp>
      <p:sp>
        <p:nvSpPr>
          <p:cNvPr id="87" name="Text 6"/>
          <p:cNvSpPr/>
          <p:nvPr/>
        </p:nvSpPr>
        <p:spPr>
          <a:xfrm>
            <a:off x="822960" y="2834640"/>
            <a:ext cx="566820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065a82"/>
                </a:solidFill>
                <a:effectLst/>
                <a:uFillTx/>
                <a:latin typeface="Cambria"/>
                <a:ea typeface="Cambria"/>
              </a:rPr>
              <a:t>How a storm forms</a:t>
            </a:r>
            <a:endParaRPr b="0" lang="en-TR" sz="1400" strike="noStrike" u="none">
              <a:solidFill>
                <a:srgbClr val="000000"/>
              </a:solidFill>
              <a:effectLst/>
              <a:uFillTx/>
              <a:latin typeface="Arial"/>
            </a:endParaRPr>
          </a:p>
        </p:txBody>
      </p:sp>
      <p:sp>
        <p:nvSpPr>
          <p:cNvPr id="88" name="Text 7"/>
          <p:cNvSpPr/>
          <p:nvPr/>
        </p:nvSpPr>
        <p:spPr>
          <a:xfrm>
            <a:off x="822960" y="3154680"/>
            <a:ext cx="5668200" cy="201060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400"/>
              </a:spcAft>
              <a:buClr>
                <a:srgbClr val="334155"/>
              </a:buClr>
              <a:buFont typeface="Symbol" charset="2"/>
              <a:buChar char=""/>
            </a:pPr>
            <a:r>
              <a:rPr b="0" lang="en-US" sz="1150" strike="noStrike" u="none">
                <a:solidFill>
                  <a:srgbClr val="334155"/>
                </a:solidFill>
                <a:effectLst/>
                <a:uFillTx/>
                <a:latin typeface="Calibri"/>
                <a:ea typeface="Calibri"/>
              </a:rPr>
              <a:t>Botnet floods Msg1 simultaneously, overwhelming c = 54 preamble slots</a:t>
            </a:r>
            <a:endParaRPr b="0" lang="en-TR" sz="1150" strike="noStrike" u="none">
              <a:solidFill>
                <a:srgbClr val="000000"/>
              </a:solidFill>
              <a:effectLst/>
              <a:uFillTx/>
              <a:latin typeface="Arial"/>
            </a:endParaRPr>
          </a:p>
          <a:p>
            <a:pPr marL="343080" indent="-343080" defTabSz="914400">
              <a:lnSpc>
                <a:spcPct val="100000"/>
              </a:lnSpc>
              <a:spcAft>
                <a:spcPts val="400"/>
              </a:spcAft>
              <a:buClr>
                <a:srgbClr val="334155"/>
              </a:buClr>
              <a:buFont typeface="Symbol" charset="2"/>
              <a:buChar char=""/>
            </a:pPr>
            <a:r>
              <a:rPr b="0" lang="en-US" sz="1150" strike="noStrike" u="none">
                <a:solidFill>
                  <a:srgbClr val="334155"/>
                </a:solidFill>
                <a:effectLst/>
                <a:uFillTx/>
                <a:latin typeface="Calibri"/>
                <a:ea typeface="Calibri"/>
              </a:rPr>
              <a:t>Preamble collision ⇒ both UEs fail ⇒ retry</a:t>
            </a:r>
            <a:endParaRPr b="0" lang="en-TR" sz="1150" strike="noStrike" u="none">
              <a:solidFill>
                <a:srgbClr val="000000"/>
              </a:solidFill>
              <a:effectLst/>
              <a:uFillTx/>
              <a:latin typeface="Arial"/>
            </a:endParaRPr>
          </a:p>
          <a:p>
            <a:pPr marL="343080" indent="-343080" defTabSz="914400">
              <a:lnSpc>
                <a:spcPct val="100000"/>
              </a:lnSpc>
              <a:spcAft>
                <a:spcPts val="400"/>
              </a:spcAft>
              <a:buClr>
                <a:srgbClr val="334155"/>
              </a:buClr>
              <a:buFont typeface="Symbol" charset="2"/>
              <a:buChar char=""/>
            </a:pPr>
            <a:r>
              <a:rPr b="0" lang="en-US" sz="1150" strike="noStrike" u="none">
                <a:solidFill>
                  <a:srgbClr val="334155"/>
                </a:solidFill>
                <a:effectLst/>
                <a:uFillTx/>
                <a:latin typeface="Calibri"/>
                <a:ea typeface="Calibri"/>
              </a:rPr>
              <a:t>gNB buffers pending Msg3 (RRC Requests) up to K = 200</a:t>
            </a:r>
            <a:endParaRPr b="0" lang="en-TR" sz="1150" strike="noStrike" u="none">
              <a:solidFill>
                <a:srgbClr val="000000"/>
              </a:solidFill>
              <a:effectLst/>
              <a:uFillTx/>
              <a:latin typeface="Arial"/>
            </a:endParaRPr>
          </a:p>
          <a:p>
            <a:pPr marL="343080" indent="-343080" defTabSz="914400">
              <a:lnSpc>
                <a:spcPct val="100000"/>
              </a:lnSpc>
              <a:spcAft>
                <a:spcPts val="400"/>
              </a:spcAft>
              <a:buClr>
                <a:srgbClr val="334155"/>
              </a:buClr>
              <a:buFont typeface="Symbol" charset="2"/>
              <a:buChar char=""/>
            </a:pPr>
            <a:r>
              <a:rPr b="0" lang="en-US" sz="1150" strike="noStrike" u="none">
                <a:solidFill>
                  <a:srgbClr val="334155"/>
                </a:solidFill>
                <a:effectLst/>
                <a:uFillTx/>
                <a:latin typeface="Calibri"/>
                <a:ea typeface="Calibri"/>
              </a:rPr>
              <a:t>At λ_high = 500 req/s, buffer fills in 0.4 s</a:t>
            </a:r>
            <a:endParaRPr b="0" lang="en-TR" sz="1150" strike="noStrike" u="none">
              <a:solidFill>
                <a:srgbClr val="000000"/>
              </a:solidFill>
              <a:effectLst/>
              <a:uFillTx/>
              <a:latin typeface="Arial"/>
            </a:endParaRPr>
          </a:p>
          <a:p>
            <a:pPr marL="343080" indent="-343080" defTabSz="914400">
              <a:lnSpc>
                <a:spcPct val="100000"/>
              </a:lnSpc>
              <a:spcAft>
                <a:spcPts val="400"/>
              </a:spcAft>
              <a:buClr>
                <a:srgbClr val="334155"/>
              </a:buClr>
              <a:buFont typeface="Symbol" charset="2"/>
              <a:buChar char=""/>
            </a:pPr>
            <a:r>
              <a:rPr b="0" lang="en-US" sz="1150" strike="noStrike" u="none">
                <a:solidFill>
                  <a:srgbClr val="334155"/>
                </a:solidFill>
                <a:effectLst/>
                <a:uFillTx/>
                <a:latin typeface="Calibri"/>
                <a:ea typeface="Calibri"/>
              </a:rPr>
              <a:t>Dropped devices retry — load never subsides</a:t>
            </a:r>
            <a:endParaRPr b="0" lang="en-TR" sz="1150" strike="noStrike" u="none">
              <a:solidFill>
                <a:srgbClr val="000000"/>
              </a:solidFill>
              <a:effectLst/>
              <a:uFillTx/>
              <a:latin typeface="Arial"/>
            </a:endParaRPr>
          </a:p>
        </p:txBody>
      </p:sp>
      <p:sp>
        <p:nvSpPr>
          <p:cNvPr id="89" name="Shape 8"/>
          <p:cNvSpPr/>
          <p:nvPr/>
        </p:nvSpPr>
        <p:spPr>
          <a:xfrm>
            <a:off x="822960" y="5394960"/>
            <a:ext cx="5576760" cy="593280"/>
          </a:xfrm>
          <a:prstGeom prst="rect">
            <a:avLst/>
          </a:prstGeom>
          <a:solidFill>
            <a:srgbClr val="fbe9e7"/>
          </a:solidFill>
          <a:ln w="12700">
            <a:solidFill>
              <a:srgbClr val="c0392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90" name="Text 9"/>
          <p:cNvSpPr/>
          <p:nvPr/>
        </p:nvSpPr>
        <p:spPr>
          <a:xfrm>
            <a:off x="960120" y="5394960"/>
            <a:ext cx="5348160" cy="593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150" strike="noStrike" u="none">
                <a:solidFill>
                  <a:srgbClr val="1a2233"/>
                </a:solidFill>
                <a:effectLst/>
                <a:uFillTx/>
                <a:latin typeface="Calibri"/>
                <a:ea typeface="Calibri"/>
              </a:rPr>
              <a:t>Net effect: RACH becomes a denial-of-service point — legitimate UEs cannot complete connection setup.</a:t>
            </a:r>
            <a:endParaRPr b="0" lang="en-TR" sz="1150" strike="noStrike" u="none">
              <a:solidFill>
                <a:srgbClr val="000000"/>
              </a:solidFill>
              <a:effectLst/>
              <a:uFillTx/>
              <a:latin typeface="Arial"/>
            </a:endParaRPr>
          </a:p>
        </p:txBody>
      </p:sp>
      <p:sp>
        <p:nvSpPr>
          <p:cNvPr id="91" name="Shape 10"/>
          <p:cNvSpPr/>
          <p:nvPr/>
        </p:nvSpPr>
        <p:spPr>
          <a:xfrm>
            <a:off x="6903720" y="1600200"/>
            <a:ext cx="470808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92" name="Text 11"/>
          <p:cNvSpPr/>
          <p:nvPr/>
        </p:nvSpPr>
        <p:spPr>
          <a:xfrm>
            <a:off x="7178040" y="1737360"/>
            <a:ext cx="425088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RACH procedure (Msg1–Msg4)</a:t>
            </a:r>
            <a:endParaRPr b="0" lang="en-TR" sz="1400" strike="noStrike" u="none">
              <a:solidFill>
                <a:srgbClr val="000000"/>
              </a:solidFill>
              <a:effectLst/>
              <a:uFillTx/>
              <a:latin typeface="Arial"/>
            </a:endParaRPr>
          </a:p>
        </p:txBody>
      </p:sp>
      <p:sp>
        <p:nvSpPr>
          <p:cNvPr id="93" name="Shape 12"/>
          <p:cNvSpPr/>
          <p:nvPr/>
        </p:nvSpPr>
        <p:spPr>
          <a:xfrm>
            <a:off x="7086600" y="2103120"/>
            <a:ext cx="1279080" cy="364680"/>
          </a:xfrm>
          <a:prstGeom prst="roundRect">
            <a:avLst>
              <a:gd name="adj" fmla="val 12500"/>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94" name="Text 13"/>
          <p:cNvSpPr/>
          <p:nvPr/>
        </p:nvSpPr>
        <p:spPr>
          <a:xfrm>
            <a:off x="7086600" y="2103120"/>
            <a:ext cx="1279080" cy="364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ffffff"/>
                </a:solidFill>
                <a:effectLst/>
                <a:uFillTx/>
                <a:latin typeface="Calibri"/>
                <a:ea typeface="Calibri"/>
              </a:rPr>
              <a:t>UE</a:t>
            </a:r>
            <a:endParaRPr b="0" lang="en-TR" sz="1200" strike="noStrike" u="none">
              <a:solidFill>
                <a:srgbClr val="000000"/>
              </a:solidFill>
              <a:effectLst/>
              <a:uFillTx/>
              <a:latin typeface="Arial"/>
            </a:endParaRPr>
          </a:p>
        </p:txBody>
      </p:sp>
      <p:sp>
        <p:nvSpPr>
          <p:cNvPr id="95" name="Shape 14"/>
          <p:cNvSpPr/>
          <p:nvPr/>
        </p:nvSpPr>
        <p:spPr>
          <a:xfrm>
            <a:off x="9966960" y="2103120"/>
            <a:ext cx="1279080" cy="364680"/>
          </a:xfrm>
          <a:prstGeom prst="roundRect">
            <a:avLst>
              <a:gd name="adj" fmla="val 12500"/>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96" name="Text 15"/>
          <p:cNvSpPr/>
          <p:nvPr/>
        </p:nvSpPr>
        <p:spPr>
          <a:xfrm>
            <a:off x="9966960" y="2103120"/>
            <a:ext cx="1279080" cy="364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ffffff"/>
                </a:solidFill>
                <a:effectLst/>
                <a:uFillTx/>
                <a:latin typeface="Calibri"/>
                <a:ea typeface="Calibri"/>
              </a:rPr>
              <a:t>gNB</a:t>
            </a:r>
            <a:endParaRPr b="0" lang="en-TR" sz="1200" strike="noStrike" u="none">
              <a:solidFill>
                <a:srgbClr val="000000"/>
              </a:solidFill>
              <a:effectLst/>
              <a:uFillTx/>
              <a:latin typeface="Arial"/>
            </a:endParaRPr>
          </a:p>
        </p:txBody>
      </p:sp>
      <p:sp>
        <p:nvSpPr>
          <p:cNvPr id="97" name="Shape 16"/>
          <p:cNvSpPr/>
          <p:nvPr/>
        </p:nvSpPr>
        <p:spPr>
          <a:xfrm>
            <a:off x="7726680" y="2423160"/>
            <a:ext cx="360" cy="3429000"/>
          </a:xfrm>
          <a:prstGeom prst="line">
            <a:avLst/>
          </a:prstGeom>
          <a:ln w="12700">
            <a:solidFill>
              <a:srgbClr val="64748b"/>
            </a:solidFill>
            <a:prstDash val="dash"/>
            <a:round/>
          </a:ln>
        </p:spPr>
        <p:style>
          <a:lnRef idx="0"/>
          <a:fillRef idx="0"/>
          <a:effectRef idx="0"/>
          <a:fontRef idx="minor"/>
        </p:style>
        <p:txBody>
          <a:bodyPr lIns="90000" rIns="90000" tIns="45000" bIns="45000" anchor="t" anchorCtr="1">
            <a:noAutofit/>
          </a:bodyPr>
          <a:p>
            <a:endParaRPr b="0" lang="en-TR" sz="1800" strike="noStrike" u="none">
              <a:solidFill>
                <a:srgbClr val="000000"/>
              </a:solidFill>
              <a:effectLst/>
              <a:uFillTx/>
              <a:latin typeface="Arial"/>
            </a:endParaRPr>
          </a:p>
        </p:txBody>
      </p:sp>
      <p:sp>
        <p:nvSpPr>
          <p:cNvPr id="98" name="Shape 17"/>
          <p:cNvSpPr/>
          <p:nvPr/>
        </p:nvSpPr>
        <p:spPr>
          <a:xfrm>
            <a:off x="10607040" y="2423160"/>
            <a:ext cx="360" cy="3429000"/>
          </a:xfrm>
          <a:prstGeom prst="line">
            <a:avLst/>
          </a:prstGeom>
          <a:ln w="12700">
            <a:solidFill>
              <a:srgbClr val="64748b"/>
            </a:solidFill>
            <a:prstDash val="dash"/>
            <a:round/>
          </a:ln>
        </p:spPr>
        <p:style>
          <a:lnRef idx="0"/>
          <a:fillRef idx="0"/>
          <a:effectRef idx="0"/>
          <a:fontRef idx="minor"/>
        </p:style>
        <p:txBody>
          <a:bodyPr lIns="90000" rIns="90000" tIns="45000" bIns="45000" anchor="t" anchorCtr="1">
            <a:noAutofit/>
          </a:bodyPr>
          <a:p>
            <a:endParaRPr b="0" lang="en-TR" sz="1800" strike="noStrike" u="none">
              <a:solidFill>
                <a:srgbClr val="000000"/>
              </a:solidFill>
              <a:effectLst/>
              <a:uFillTx/>
              <a:latin typeface="Arial"/>
            </a:endParaRPr>
          </a:p>
        </p:txBody>
      </p:sp>
      <p:sp>
        <p:nvSpPr>
          <p:cNvPr id="99" name="Text 18"/>
          <p:cNvSpPr/>
          <p:nvPr/>
        </p:nvSpPr>
        <p:spPr>
          <a:xfrm>
            <a:off x="7726680" y="2496240"/>
            <a:ext cx="2879280" cy="227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050" strike="noStrike" u="none">
                <a:solidFill>
                  <a:srgbClr val="1a2233"/>
                </a:solidFill>
                <a:effectLst/>
                <a:uFillTx/>
                <a:latin typeface="Calibri"/>
                <a:ea typeface="Calibri"/>
              </a:rPr>
              <a:t>Msg1 — Preamble</a:t>
            </a:r>
            <a:endParaRPr b="0" lang="en-TR" sz="1050" strike="noStrike" u="none">
              <a:solidFill>
                <a:srgbClr val="000000"/>
              </a:solidFill>
              <a:effectLst/>
              <a:uFillTx/>
              <a:latin typeface="Arial"/>
            </a:endParaRPr>
          </a:p>
        </p:txBody>
      </p:sp>
      <p:sp>
        <p:nvSpPr>
          <p:cNvPr id="100" name="Shape 19"/>
          <p:cNvSpPr/>
          <p:nvPr/>
        </p:nvSpPr>
        <p:spPr>
          <a:xfrm>
            <a:off x="7772400" y="2743200"/>
            <a:ext cx="2788920" cy="360"/>
          </a:xfrm>
          <a:prstGeom prst="line">
            <a:avLst/>
          </a:prstGeom>
          <a:ln w="25400">
            <a:solidFill>
              <a:srgbClr val="065a82"/>
            </a:solidFill>
            <a:round/>
            <a:tailEnd len="med" type="triangle" w="med"/>
          </a:ln>
        </p:spPr>
        <p:style>
          <a:lnRef idx="0"/>
          <a:fillRef idx="0"/>
          <a:effectRef idx="0"/>
          <a:fontRef idx="minor"/>
        </p:style>
        <p:txBody>
          <a:bodyPr lIns="90000" rIns="90000" tIns="-44640" bIns="-44640" anchor="t" anchorCtr="1">
            <a:noAutofit/>
          </a:bodyPr>
          <a:p>
            <a:endParaRPr b="0" lang="en-TR" sz="1800" strike="noStrike" u="none">
              <a:solidFill>
                <a:srgbClr val="000000"/>
              </a:solidFill>
              <a:effectLst/>
              <a:uFillTx/>
              <a:latin typeface="Arial"/>
            </a:endParaRPr>
          </a:p>
        </p:txBody>
      </p:sp>
      <p:sp>
        <p:nvSpPr>
          <p:cNvPr id="101" name="Text 20"/>
          <p:cNvSpPr/>
          <p:nvPr/>
        </p:nvSpPr>
        <p:spPr>
          <a:xfrm>
            <a:off x="7726680" y="3182040"/>
            <a:ext cx="2879280" cy="227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050" strike="noStrike" u="none">
                <a:solidFill>
                  <a:srgbClr val="1a2233"/>
                </a:solidFill>
                <a:effectLst/>
                <a:uFillTx/>
                <a:latin typeface="Calibri"/>
                <a:ea typeface="Calibri"/>
              </a:rPr>
              <a:t>Msg2 — RAR</a:t>
            </a:r>
            <a:endParaRPr b="0" lang="en-TR" sz="1050" strike="noStrike" u="none">
              <a:solidFill>
                <a:srgbClr val="000000"/>
              </a:solidFill>
              <a:effectLst/>
              <a:uFillTx/>
              <a:latin typeface="Arial"/>
            </a:endParaRPr>
          </a:p>
        </p:txBody>
      </p:sp>
      <p:sp>
        <p:nvSpPr>
          <p:cNvPr id="102" name="Shape 21"/>
          <p:cNvSpPr/>
          <p:nvPr/>
        </p:nvSpPr>
        <p:spPr>
          <a:xfrm>
            <a:off x="7772400" y="3429000"/>
            <a:ext cx="2788920" cy="360"/>
          </a:xfrm>
          <a:prstGeom prst="line">
            <a:avLst/>
          </a:prstGeom>
          <a:ln w="25400">
            <a:solidFill>
              <a:srgbClr val="1c7293"/>
            </a:solidFill>
            <a:round/>
            <a:headEnd len="med" type="triangle" w="med"/>
          </a:ln>
        </p:spPr>
        <p:style>
          <a:lnRef idx="0"/>
          <a:fillRef idx="0"/>
          <a:effectRef idx="0"/>
          <a:fontRef idx="minor"/>
        </p:style>
        <p:txBody>
          <a:bodyPr lIns="90000" rIns="90000" tIns="-44640" bIns="-44640" anchor="t" anchorCtr="1">
            <a:noAutofit/>
          </a:bodyPr>
          <a:p>
            <a:endParaRPr b="0" lang="en-TR" sz="1800" strike="noStrike" u="none">
              <a:solidFill>
                <a:srgbClr val="000000"/>
              </a:solidFill>
              <a:effectLst/>
              <a:uFillTx/>
              <a:latin typeface="Arial"/>
            </a:endParaRPr>
          </a:p>
        </p:txBody>
      </p:sp>
      <p:sp>
        <p:nvSpPr>
          <p:cNvPr id="103" name="Text 22"/>
          <p:cNvSpPr/>
          <p:nvPr/>
        </p:nvSpPr>
        <p:spPr>
          <a:xfrm>
            <a:off x="7726680" y="3867840"/>
            <a:ext cx="2879280" cy="227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050" strike="noStrike" u="none">
                <a:solidFill>
                  <a:srgbClr val="1a2233"/>
                </a:solidFill>
                <a:effectLst/>
                <a:uFillTx/>
                <a:latin typeface="Calibri"/>
                <a:ea typeface="Calibri"/>
              </a:rPr>
              <a:t>Msg3 — RRC Request</a:t>
            </a:r>
            <a:endParaRPr b="0" lang="en-TR" sz="1050" strike="noStrike" u="none">
              <a:solidFill>
                <a:srgbClr val="000000"/>
              </a:solidFill>
              <a:effectLst/>
              <a:uFillTx/>
              <a:latin typeface="Arial"/>
            </a:endParaRPr>
          </a:p>
        </p:txBody>
      </p:sp>
      <p:sp>
        <p:nvSpPr>
          <p:cNvPr id="104" name="Shape 23"/>
          <p:cNvSpPr/>
          <p:nvPr/>
        </p:nvSpPr>
        <p:spPr>
          <a:xfrm>
            <a:off x="7772400" y="4114800"/>
            <a:ext cx="2788920" cy="360"/>
          </a:xfrm>
          <a:prstGeom prst="line">
            <a:avLst/>
          </a:prstGeom>
          <a:ln w="25400">
            <a:solidFill>
              <a:srgbClr val="065a82"/>
            </a:solidFill>
            <a:round/>
            <a:tailEnd len="med" type="triangle" w="med"/>
          </a:ln>
        </p:spPr>
        <p:style>
          <a:lnRef idx="0"/>
          <a:fillRef idx="0"/>
          <a:effectRef idx="0"/>
          <a:fontRef idx="minor"/>
        </p:style>
        <p:txBody>
          <a:bodyPr lIns="90000" rIns="90000" tIns="-44640" bIns="-44640" anchor="t" anchorCtr="1">
            <a:noAutofit/>
          </a:bodyPr>
          <a:p>
            <a:endParaRPr b="0" lang="en-TR" sz="1800" strike="noStrike" u="none">
              <a:solidFill>
                <a:srgbClr val="000000"/>
              </a:solidFill>
              <a:effectLst/>
              <a:uFillTx/>
              <a:latin typeface="Arial"/>
            </a:endParaRPr>
          </a:p>
        </p:txBody>
      </p:sp>
      <p:sp>
        <p:nvSpPr>
          <p:cNvPr id="105" name="Text 24"/>
          <p:cNvSpPr/>
          <p:nvPr/>
        </p:nvSpPr>
        <p:spPr>
          <a:xfrm>
            <a:off x="7726680" y="4553640"/>
            <a:ext cx="2879280" cy="227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050" strike="noStrike" u="none">
                <a:solidFill>
                  <a:srgbClr val="1a2233"/>
                </a:solidFill>
                <a:effectLst/>
                <a:uFillTx/>
                <a:latin typeface="Calibri"/>
                <a:ea typeface="Calibri"/>
              </a:rPr>
              <a:t>Msg4 — RRC Setup</a:t>
            </a:r>
            <a:endParaRPr b="0" lang="en-TR" sz="1050" strike="noStrike" u="none">
              <a:solidFill>
                <a:srgbClr val="000000"/>
              </a:solidFill>
              <a:effectLst/>
              <a:uFillTx/>
              <a:latin typeface="Arial"/>
            </a:endParaRPr>
          </a:p>
        </p:txBody>
      </p:sp>
      <p:sp>
        <p:nvSpPr>
          <p:cNvPr id="106" name="Shape 25"/>
          <p:cNvSpPr/>
          <p:nvPr/>
        </p:nvSpPr>
        <p:spPr>
          <a:xfrm>
            <a:off x="7772400" y="4800600"/>
            <a:ext cx="2788920" cy="360"/>
          </a:xfrm>
          <a:prstGeom prst="line">
            <a:avLst/>
          </a:prstGeom>
          <a:ln w="25400">
            <a:solidFill>
              <a:srgbClr val="1c7293"/>
            </a:solidFill>
            <a:round/>
            <a:headEnd len="med" type="triangle" w="med"/>
          </a:ln>
        </p:spPr>
        <p:style>
          <a:lnRef idx="0"/>
          <a:fillRef idx="0"/>
          <a:effectRef idx="0"/>
          <a:fontRef idx="minor"/>
        </p:style>
        <p:txBody>
          <a:bodyPr lIns="90000" rIns="90000" tIns="-44640" bIns="-44640" anchor="t" anchorCtr="1">
            <a:noAutofit/>
          </a:bodyPr>
          <a:p>
            <a:endParaRPr b="0" lang="en-TR" sz="1800" strike="noStrike" u="none">
              <a:solidFill>
                <a:srgbClr val="000000"/>
              </a:solidFill>
              <a:effectLst/>
              <a:uFillTx/>
              <a:latin typeface="Arial"/>
            </a:endParaRPr>
          </a:p>
        </p:txBody>
      </p:sp>
      <p:sp>
        <p:nvSpPr>
          <p:cNvPr id="107" name="Shape 26"/>
          <p:cNvSpPr/>
          <p:nvPr/>
        </p:nvSpPr>
        <p:spPr>
          <a:xfrm>
            <a:off x="8618400" y="5806440"/>
            <a:ext cx="1279080" cy="318960"/>
          </a:xfrm>
          <a:prstGeom prst="roundRect">
            <a:avLst>
              <a:gd name="adj" fmla="val 22857"/>
            </a:avLst>
          </a:prstGeom>
          <a:solidFill>
            <a:srgbClr val="0e8a6b"/>
          </a:solidFill>
          <a:ln w="12700">
            <a:solidFill>
              <a:srgbClr val="0e8a6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108" name="Text 27"/>
          <p:cNvSpPr/>
          <p:nvPr/>
        </p:nvSpPr>
        <p:spPr>
          <a:xfrm>
            <a:off x="8618400" y="5806440"/>
            <a:ext cx="1279080" cy="318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trike="noStrike" u="none">
                <a:solidFill>
                  <a:srgbClr val="ffffff"/>
                </a:solidFill>
                <a:effectLst/>
                <a:uFillTx/>
                <a:latin typeface="Calibri"/>
                <a:ea typeface="Calibri"/>
              </a:rPr>
              <a:t>connected</a:t>
            </a:r>
            <a:endParaRPr b="0" lang="en-TR" sz="1100" strike="noStrike" u="none">
              <a:solidFill>
                <a:srgbClr val="000000"/>
              </a:solidFill>
              <a:effectLst/>
              <a:uFillTx/>
              <a:latin typeface="Arial"/>
            </a:endParaRPr>
          </a:p>
        </p:txBody>
      </p:sp>
      <p:sp>
        <p:nvSpPr>
          <p:cNvPr id="109" name="Shape 28"/>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110" name="Text 29"/>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111" name="Text 30"/>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4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2"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THREAT MODEL</a:t>
            </a:r>
            <a:endParaRPr b="0" lang="en-TR" sz="1100" strike="noStrike" u="none">
              <a:solidFill>
                <a:srgbClr val="000000"/>
              </a:solidFill>
              <a:effectLst/>
              <a:uFillTx/>
              <a:latin typeface="Arial"/>
            </a:endParaRPr>
          </a:p>
        </p:txBody>
      </p:sp>
      <p:sp>
        <p:nvSpPr>
          <p:cNvPr id="113"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The RRC signaling storm attack</a:t>
            </a:r>
            <a:endParaRPr b="0" lang="en-TR" sz="3000" strike="noStrike" u="none">
              <a:solidFill>
                <a:srgbClr val="000000"/>
              </a:solidFill>
              <a:effectLst/>
              <a:uFillTx/>
              <a:latin typeface="Arial"/>
            </a:endParaRPr>
          </a:p>
        </p:txBody>
      </p:sp>
      <p:sp>
        <p:nvSpPr>
          <p:cNvPr id="114" name="Shape 2"/>
          <p:cNvSpPr/>
          <p:nvPr/>
        </p:nvSpPr>
        <p:spPr>
          <a:xfrm>
            <a:off x="548640" y="1600200"/>
            <a:ext cx="594252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15" name="Shape 3"/>
          <p:cNvSpPr/>
          <p:nvPr/>
        </p:nvSpPr>
        <p:spPr>
          <a:xfrm>
            <a:off x="548640" y="1600200"/>
            <a:ext cx="63000" cy="4525200"/>
          </a:xfrm>
          <a:prstGeom prst="rect">
            <a:avLst/>
          </a:prstGeom>
          <a:solidFill>
            <a:srgbClr val="c0392b"/>
          </a:solidFill>
          <a:ln w="12700">
            <a:solidFill>
              <a:srgbClr val="c0392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pic>
        <p:nvPicPr>
          <p:cNvPr id="116" name="Image 0" descr="preencoded.png"/>
          <p:cNvPicPr/>
          <p:nvPr/>
        </p:nvPicPr>
        <p:blipFill>
          <a:blip r:embed="rId1"/>
          <a:stretch/>
        </p:blipFill>
        <p:spPr>
          <a:xfrm>
            <a:off x="822960" y="1783080"/>
            <a:ext cx="410400" cy="410400"/>
          </a:xfrm>
          <a:prstGeom prst="rect">
            <a:avLst/>
          </a:prstGeom>
          <a:noFill/>
          <a:ln w="0">
            <a:noFill/>
          </a:ln>
        </p:spPr>
      </p:pic>
      <p:sp>
        <p:nvSpPr>
          <p:cNvPr id="117" name="Text 4"/>
          <p:cNvSpPr/>
          <p:nvPr/>
        </p:nvSpPr>
        <p:spPr>
          <a:xfrm>
            <a:off x="1325880" y="1783080"/>
            <a:ext cx="5028120" cy="410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1a2233"/>
                </a:solidFill>
                <a:effectLst/>
                <a:uFillTx/>
                <a:latin typeface="Cambria"/>
                <a:ea typeface="Cambria"/>
              </a:rPr>
              <a:t>Attack mechanism</a:t>
            </a:r>
            <a:endParaRPr b="0" lang="en-TR" sz="1600" strike="noStrike" u="none">
              <a:solidFill>
                <a:srgbClr val="000000"/>
              </a:solidFill>
              <a:effectLst/>
              <a:uFillTx/>
              <a:latin typeface="Arial"/>
            </a:endParaRPr>
          </a:p>
        </p:txBody>
      </p:sp>
      <p:sp>
        <p:nvSpPr>
          <p:cNvPr id="118" name="Text 5"/>
          <p:cNvSpPr/>
          <p:nvPr/>
        </p:nvSpPr>
        <p:spPr>
          <a:xfrm>
            <a:off x="822960" y="2377440"/>
            <a:ext cx="5393880" cy="237636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499"/>
              </a:spcAft>
              <a:buClr>
                <a:srgbClr val="334155"/>
              </a:buClr>
              <a:buFont typeface="Symbol" charset="2"/>
              <a:buChar char=""/>
            </a:pPr>
            <a:r>
              <a:rPr b="0" lang="en-US" sz="1250" strike="noStrike" u="none">
                <a:solidFill>
                  <a:srgbClr val="334155"/>
                </a:solidFill>
                <a:effectLst/>
                <a:uFillTx/>
                <a:latin typeface="Calibri"/>
                <a:ea typeface="Calibri"/>
              </a:rPr>
              <a:t>Adversary coordinates a botnet of compromised devices</a:t>
            </a:r>
            <a:endParaRPr b="0" lang="en-TR" sz="1250" strike="noStrike" u="none">
              <a:solidFill>
                <a:srgbClr val="000000"/>
              </a:solidFill>
              <a:effectLst/>
              <a:uFillTx/>
              <a:latin typeface="Arial"/>
            </a:endParaRPr>
          </a:p>
          <a:p>
            <a:pPr marL="343080" indent="-343080" defTabSz="914400">
              <a:lnSpc>
                <a:spcPct val="100000"/>
              </a:lnSpc>
              <a:spcAft>
                <a:spcPts val="499"/>
              </a:spcAft>
              <a:buClr>
                <a:srgbClr val="334155"/>
              </a:buClr>
              <a:buFont typeface="Symbol" charset="2"/>
              <a:buChar char=""/>
            </a:pPr>
            <a:r>
              <a:rPr b="0" lang="en-US" sz="1250" strike="noStrike" u="none">
                <a:solidFill>
                  <a:srgbClr val="334155"/>
                </a:solidFill>
                <a:effectLst/>
                <a:uFillTx/>
                <a:latin typeface="Calibri"/>
                <a:ea typeface="Calibri"/>
              </a:rPr>
              <a:t>Each device sends RRC connection requests at high rate</a:t>
            </a:r>
            <a:endParaRPr b="0" lang="en-TR" sz="1250" strike="noStrike" u="none">
              <a:solidFill>
                <a:srgbClr val="000000"/>
              </a:solidFill>
              <a:effectLst/>
              <a:uFillTx/>
              <a:latin typeface="Arial"/>
            </a:endParaRPr>
          </a:p>
          <a:p>
            <a:pPr marL="343080" indent="-343080" defTabSz="914400">
              <a:lnSpc>
                <a:spcPct val="100000"/>
              </a:lnSpc>
              <a:spcAft>
                <a:spcPts val="499"/>
              </a:spcAft>
              <a:buClr>
                <a:srgbClr val="334155"/>
              </a:buClr>
              <a:buFont typeface="Symbol" charset="2"/>
              <a:buChar char=""/>
            </a:pPr>
            <a:r>
              <a:rPr b="0" lang="en-US" sz="1250" strike="noStrike" u="none">
                <a:solidFill>
                  <a:srgbClr val="334155"/>
                </a:solidFill>
                <a:effectLst/>
                <a:uFillTx/>
                <a:latin typeface="Calibri"/>
                <a:ea typeface="Calibri"/>
              </a:rPr>
              <a:t>Combined rate: λ_high = 500 req/s vs. normal λ_low = 10 req/s (50×)</a:t>
            </a:r>
            <a:endParaRPr b="0" lang="en-TR" sz="1250" strike="noStrike" u="none">
              <a:solidFill>
                <a:srgbClr val="000000"/>
              </a:solidFill>
              <a:effectLst/>
              <a:uFillTx/>
              <a:latin typeface="Arial"/>
            </a:endParaRPr>
          </a:p>
          <a:p>
            <a:pPr marL="343080" indent="-343080" defTabSz="914400">
              <a:lnSpc>
                <a:spcPct val="100000"/>
              </a:lnSpc>
              <a:spcAft>
                <a:spcPts val="499"/>
              </a:spcAft>
              <a:buClr>
                <a:srgbClr val="334155"/>
              </a:buClr>
              <a:buFont typeface="Symbol" charset="2"/>
              <a:buChar char=""/>
            </a:pPr>
            <a:r>
              <a:rPr b="0" lang="en-US" sz="1250" strike="noStrike" u="none">
                <a:solidFill>
                  <a:srgbClr val="334155"/>
                </a:solidFill>
                <a:effectLst/>
                <a:uFillTx/>
                <a:latin typeface="Calibri"/>
                <a:ea typeface="Calibri"/>
              </a:rPr>
              <a:t>RACH buffer saturates within seconds</a:t>
            </a:r>
            <a:endParaRPr b="0" lang="en-TR" sz="1250" strike="noStrike" u="none">
              <a:solidFill>
                <a:srgbClr val="000000"/>
              </a:solidFill>
              <a:effectLst/>
              <a:uFillTx/>
              <a:latin typeface="Arial"/>
            </a:endParaRPr>
          </a:p>
          <a:p>
            <a:pPr marL="343080" indent="-343080" defTabSz="914400">
              <a:lnSpc>
                <a:spcPct val="100000"/>
              </a:lnSpc>
              <a:spcAft>
                <a:spcPts val="499"/>
              </a:spcAft>
              <a:buClr>
                <a:srgbClr val="334155"/>
              </a:buClr>
              <a:buFont typeface="Symbol" charset="2"/>
              <a:buChar char=""/>
            </a:pPr>
            <a:r>
              <a:rPr b="0" lang="en-US" sz="1250" strike="noStrike" u="none">
                <a:solidFill>
                  <a:srgbClr val="334155"/>
                </a:solidFill>
                <a:effectLst/>
                <a:uFillTx/>
                <a:latin typeface="Calibri"/>
                <a:ea typeface="Calibri"/>
              </a:rPr>
              <a:t>Access requests are dropped — QoS failure</a:t>
            </a:r>
            <a:endParaRPr b="0" lang="en-TR" sz="1250" strike="noStrike" u="none">
              <a:solidFill>
                <a:srgbClr val="000000"/>
              </a:solidFill>
              <a:effectLst/>
              <a:uFillTx/>
              <a:latin typeface="Arial"/>
            </a:endParaRPr>
          </a:p>
        </p:txBody>
      </p:sp>
      <p:sp>
        <p:nvSpPr>
          <p:cNvPr id="119" name="Text 6"/>
          <p:cNvSpPr/>
          <p:nvPr/>
        </p:nvSpPr>
        <p:spPr>
          <a:xfrm>
            <a:off x="822960" y="4846320"/>
            <a:ext cx="539388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100" strike="noStrike" u="none">
                <a:solidFill>
                  <a:srgbClr val="64748b"/>
                </a:solidFill>
                <a:effectLst/>
                <a:uFillTx/>
                <a:latin typeface="Calibri"/>
                <a:ea typeface="Calibri"/>
              </a:rPr>
              <a:t>Termed “RRC Signaling Storm” in the literature [b1].</a:t>
            </a:r>
            <a:endParaRPr b="0" lang="en-TR" sz="1100" strike="noStrike" u="none">
              <a:solidFill>
                <a:srgbClr val="000000"/>
              </a:solidFill>
              <a:effectLst/>
              <a:uFillTx/>
              <a:latin typeface="Arial"/>
            </a:endParaRPr>
          </a:p>
        </p:txBody>
      </p:sp>
      <p:sp>
        <p:nvSpPr>
          <p:cNvPr id="120" name="Shape 7"/>
          <p:cNvSpPr/>
          <p:nvPr/>
        </p:nvSpPr>
        <p:spPr>
          <a:xfrm>
            <a:off x="822960" y="5394960"/>
            <a:ext cx="5393880" cy="593280"/>
          </a:xfrm>
          <a:prstGeom prst="rect">
            <a:avLst/>
          </a:prstGeom>
          <a:solidFill>
            <a:srgbClr val="fbe9e7"/>
          </a:solidFill>
          <a:ln w="12700">
            <a:solidFill>
              <a:srgbClr val="c0392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21" name="Text 8"/>
          <p:cNvSpPr/>
          <p:nvPr/>
        </p:nvSpPr>
        <p:spPr>
          <a:xfrm>
            <a:off x="960120" y="5394960"/>
            <a:ext cx="5119560" cy="593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200" strike="noStrike" u="none">
                <a:solidFill>
                  <a:srgbClr val="1a2233"/>
                </a:solidFill>
                <a:effectLst/>
                <a:uFillTx/>
                <a:latin typeface="Calibri"/>
                <a:ea typeface="Calibri"/>
              </a:rPr>
              <a:t>Impact: All connected services lose access until the attack subsides.</a:t>
            </a:r>
            <a:endParaRPr b="0" lang="en-TR" sz="1200" strike="noStrike" u="none">
              <a:solidFill>
                <a:srgbClr val="000000"/>
              </a:solidFill>
              <a:effectLst/>
              <a:uFillTx/>
              <a:latin typeface="Arial"/>
            </a:endParaRPr>
          </a:p>
        </p:txBody>
      </p:sp>
      <p:sp>
        <p:nvSpPr>
          <p:cNvPr id="122" name="Shape 9"/>
          <p:cNvSpPr/>
          <p:nvPr/>
        </p:nvSpPr>
        <p:spPr>
          <a:xfrm>
            <a:off x="6766560" y="1600200"/>
            <a:ext cx="484524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23" name="Text 10"/>
          <p:cNvSpPr/>
          <p:nvPr/>
        </p:nvSpPr>
        <p:spPr>
          <a:xfrm>
            <a:off x="7040880" y="1737360"/>
            <a:ext cx="438804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Attack flow</a:t>
            </a:r>
            <a:endParaRPr b="0" lang="en-TR" sz="1400" strike="noStrike" u="none">
              <a:solidFill>
                <a:srgbClr val="000000"/>
              </a:solidFill>
              <a:effectLst/>
              <a:uFillTx/>
              <a:latin typeface="Arial"/>
            </a:endParaRPr>
          </a:p>
        </p:txBody>
      </p:sp>
      <p:sp>
        <p:nvSpPr>
          <p:cNvPr id="124" name="Shape 11"/>
          <p:cNvSpPr/>
          <p:nvPr/>
        </p:nvSpPr>
        <p:spPr>
          <a:xfrm>
            <a:off x="8183880" y="2194560"/>
            <a:ext cx="2010600" cy="776160"/>
          </a:xfrm>
          <a:prstGeom prst="roundRect">
            <a:avLst>
              <a:gd name="adj" fmla="val 11765"/>
            </a:avLst>
          </a:prstGeom>
          <a:solidFill>
            <a:srgbClr val="c0392b"/>
          </a:solidFill>
          <a:ln w="12700">
            <a:solidFill>
              <a:srgbClr val="c0392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125" name="Text 12"/>
          <p:cNvSpPr/>
          <p:nvPr/>
        </p:nvSpPr>
        <p:spPr>
          <a:xfrm>
            <a:off x="8183880" y="2194560"/>
            <a:ext cx="2010600" cy="7761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ffffff"/>
                </a:solidFill>
                <a:effectLst/>
                <a:uFillTx/>
                <a:latin typeface="Calibri"/>
                <a:ea typeface="Calibri"/>
              </a:rPr>
              <a:t>Botnet</a:t>
            </a:r>
            <a:endParaRPr b="0" lang="en-TR" sz="1400" strike="noStrike" u="none">
              <a:solidFill>
                <a:srgbClr val="000000"/>
              </a:solidFill>
              <a:effectLst/>
              <a:uFillTx/>
              <a:latin typeface="Arial"/>
            </a:endParaRPr>
          </a:p>
          <a:p>
            <a:pPr algn="ctr" defTabSz="914400">
              <a:lnSpc>
                <a:spcPct val="100000"/>
              </a:lnSpc>
              <a:tabLst>
                <a:tab algn="l" pos="0"/>
              </a:tabLst>
            </a:pPr>
            <a:r>
              <a:rPr b="0" lang="en-US" sz="1100" strike="noStrike" u="none">
                <a:solidFill>
                  <a:srgbClr val="ffe9e5"/>
                </a:solidFill>
                <a:effectLst/>
                <a:uFillTx/>
                <a:latin typeface="Calibri"/>
                <a:ea typeface="Calibri"/>
              </a:rPr>
              <a:t>500 req/s</a:t>
            </a:r>
            <a:endParaRPr b="0" lang="en-TR" sz="1100" strike="noStrike" u="none">
              <a:solidFill>
                <a:srgbClr val="000000"/>
              </a:solidFill>
              <a:effectLst/>
              <a:uFillTx/>
              <a:latin typeface="Arial"/>
            </a:endParaRPr>
          </a:p>
        </p:txBody>
      </p:sp>
      <p:sp>
        <p:nvSpPr>
          <p:cNvPr id="126" name="Shape 13"/>
          <p:cNvSpPr/>
          <p:nvPr/>
        </p:nvSpPr>
        <p:spPr>
          <a:xfrm>
            <a:off x="7909560" y="3611880"/>
            <a:ext cx="2559240" cy="867600"/>
          </a:xfrm>
          <a:prstGeom prst="roundRect">
            <a:avLst>
              <a:gd name="adj" fmla="val 10526"/>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127" name="Text 14"/>
          <p:cNvSpPr/>
          <p:nvPr/>
        </p:nvSpPr>
        <p:spPr>
          <a:xfrm>
            <a:off x="7909560" y="3611880"/>
            <a:ext cx="2559240" cy="867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trike="noStrike" u="none">
                <a:solidFill>
                  <a:srgbClr val="ffffff"/>
                </a:solidFill>
                <a:effectLst/>
                <a:uFillTx/>
                <a:latin typeface="Calibri"/>
                <a:ea typeface="Calibri"/>
              </a:rPr>
              <a:t>gNB RACH</a:t>
            </a:r>
            <a:endParaRPr b="0" lang="en-TR" sz="1500" strike="noStrike" u="none">
              <a:solidFill>
                <a:srgbClr val="000000"/>
              </a:solidFill>
              <a:effectLst/>
              <a:uFillTx/>
              <a:latin typeface="Arial"/>
            </a:endParaRPr>
          </a:p>
          <a:p>
            <a:pPr algn="ctr" defTabSz="914400">
              <a:lnSpc>
                <a:spcPct val="100000"/>
              </a:lnSpc>
              <a:tabLst>
                <a:tab algn="l" pos="0"/>
              </a:tabLst>
            </a:pPr>
            <a:r>
              <a:rPr b="0" lang="en-US" sz="1100" strike="noStrike" u="none">
                <a:solidFill>
                  <a:srgbClr val="cfe2f3"/>
                </a:solidFill>
                <a:effectLst/>
                <a:uFillTx/>
                <a:latin typeface="Calibri"/>
                <a:ea typeface="Calibri"/>
              </a:rPr>
              <a:t>K = 200, c = 54</a:t>
            </a:r>
            <a:endParaRPr b="0" lang="en-TR" sz="1100" strike="noStrike" u="none">
              <a:solidFill>
                <a:srgbClr val="000000"/>
              </a:solidFill>
              <a:effectLst/>
              <a:uFillTx/>
              <a:latin typeface="Arial"/>
            </a:endParaRPr>
          </a:p>
        </p:txBody>
      </p:sp>
      <p:sp>
        <p:nvSpPr>
          <p:cNvPr id="128" name="Shape 15"/>
          <p:cNvSpPr/>
          <p:nvPr/>
        </p:nvSpPr>
        <p:spPr>
          <a:xfrm>
            <a:off x="8001000" y="5120640"/>
            <a:ext cx="2376360" cy="776160"/>
          </a:xfrm>
          <a:prstGeom prst="roundRect">
            <a:avLst>
              <a:gd name="adj" fmla="val 11765"/>
            </a:avLst>
          </a:prstGeom>
          <a:solidFill>
            <a:srgbClr val="ffffff"/>
          </a:solidFill>
          <a:ln w="19050">
            <a:solidFill>
              <a:srgbClr val="64748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29" name="Text 16"/>
          <p:cNvSpPr/>
          <p:nvPr/>
        </p:nvSpPr>
        <p:spPr>
          <a:xfrm>
            <a:off x="8001000" y="5120640"/>
            <a:ext cx="2376360" cy="7761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1a2233"/>
                </a:solidFill>
                <a:effectLst/>
                <a:uFillTx/>
                <a:latin typeface="Calibri"/>
                <a:ea typeface="Calibri"/>
              </a:rPr>
              <a:t>Legitimate UEs</a:t>
            </a:r>
            <a:endParaRPr b="0" lang="en-TR" sz="1300" strike="noStrike" u="none">
              <a:solidFill>
                <a:srgbClr val="000000"/>
              </a:solidFill>
              <a:effectLst/>
              <a:uFillTx/>
              <a:latin typeface="Arial"/>
            </a:endParaRPr>
          </a:p>
        </p:txBody>
      </p:sp>
      <p:sp>
        <p:nvSpPr>
          <p:cNvPr id="130" name="Shape 17"/>
          <p:cNvSpPr/>
          <p:nvPr/>
        </p:nvSpPr>
        <p:spPr>
          <a:xfrm>
            <a:off x="9189720" y="2971800"/>
            <a:ext cx="360" cy="640080"/>
          </a:xfrm>
          <a:prstGeom prst="line">
            <a:avLst/>
          </a:prstGeom>
          <a:ln w="38100">
            <a:solidFill>
              <a:srgbClr val="c0392b"/>
            </a:solidFill>
            <a:round/>
            <a:tailEnd len="med" type="triangle" w="med"/>
          </a:ln>
        </p:spPr>
        <p:style>
          <a:lnRef idx="0"/>
          <a:fillRef idx="0"/>
          <a:effectRef idx="0"/>
          <a:fontRef idx="minor"/>
        </p:style>
        <p:txBody>
          <a:bodyPr lIns="90000" rIns="90000" tIns="45000" bIns="45000" anchor="t" anchorCtr="1">
            <a:noAutofit/>
          </a:bodyPr>
          <a:p>
            <a:endParaRPr b="0" lang="en-TR" sz="1800" strike="noStrike" u="none">
              <a:solidFill>
                <a:srgbClr val="000000"/>
              </a:solidFill>
              <a:effectLst/>
              <a:uFillTx/>
              <a:latin typeface="Arial"/>
            </a:endParaRPr>
          </a:p>
        </p:txBody>
      </p:sp>
      <p:sp>
        <p:nvSpPr>
          <p:cNvPr id="131" name="Text 18"/>
          <p:cNvSpPr/>
          <p:nvPr/>
        </p:nvSpPr>
        <p:spPr>
          <a:xfrm>
            <a:off x="8092440" y="306324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i="1" lang="en-US" sz="1100" strike="noStrike" u="none">
                <a:solidFill>
                  <a:srgbClr val="c0392b"/>
                </a:solidFill>
                <a:effectLst/>
                <a:uFillTx/>
                <a:latin typeface="Calibri"/>
                <a:ea typeface="Calibri"/>
              </a:rPr>
              <a:t>flood</a:t>
            </a:r>
            <a:endParaRPr b="0" lang="en-TR" sz="1100" strike="noStrike" u="none">
              <a:solidFill>
                <a:srgbClr val="000000"/>
              </a:solidFill>
              <a:effectLst/>
              <a:uFillTx/>
              <a:latin typeface="Arial"/>
            </a:endParaRPr>
          </a:p>
        </p:txBody>
      </p:sp>
      <p:sp>
        <p:nvSpPr>
          <p:cNvPr id="132" name="Text 19"/>
          <p:cNvSpPr/>
          <p:nvPr/>
        </p:nvSpPr>
        <p:spPr>
          <a:xfrm>
            <a:off x="9372600" y="3063240"/>
            <a:ext cx="1827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i="1" lang="en-US" sz="1050" strike="noStrike" u="none">
                <a:solidFill>
                  <a:srgbClr val="c0392b"/>
                </a:solidFill>
                <a:effectLst/>
                <a:uFillTx/>
                <a:latin typeface="Calibri"/>
                <a:ea typeface="Calibri"/>
              </a:rPr>
              <a:t>⚠ buffer overflow</a:t>
            </a:r>
            <a:endParaRPr b="0" lang="en-TR" sz="1050" strike="noStrike" u="none">
              <a:solidFill>
                <a:srgbClr val="000000"/>
              </a:solidFill>
              <a:effectLst/>
              <a:uFillTx/>
              <a:latin typeface="Arial"/>
            </a:endParaRPr>
          </a:p>
        </p:txBody>
      </p:sp>
      <p:sp>
        <p:nvSpPr>
          <p:cNvPr id="133" name="Shape 20"/>
          <p:cNvSpPr/>
          <p:nvPr/>
        </p:nvSpPr>
        <p:spPr>
          <a:xfrm>
            <a:off x="9189720" y="4480560"/>
            <a:ext cx="360" cy="640080"/>
          </a:xfrm>
          <a:prstGeom prst="line">
            <a:avLst/>
          </a:prstGeom>
          <a:ln w="25400">
            <a:solidFill>
              <a:srgbClr val="64748b"/>
            </a:solidFill>
            <a:prstDash val="dash"/>
            <a:round/>
            <a:tailEnd len="med" type="triangle" w="med"/>
          </a:ln>
        </p:spPr>
        <p:style>
          <a:lnRef idx="0"/>
          <a:fillRef idx="0"/>
          <a:effectRef idx="0"/>
          <a:fontRef idx="minor"/>
        </p:style>
        <p:txBody>
          <a:bodyPr lIns="90000" rIns="90000" tIns="45000" bIns="45000" anchor="t" anchorCtr="1">
            <a:noAutofit/>
          </a:bodyPr>
          <a:p>
            <a:endParaRPr b="0" lang="en-TR" sz="1800" strike="noStrike" u="none">
              <a:solidFill>
                <a:srgbClr val="000000"/>
              </a:solidFill>
              <a:effectLst/>
              <a:uFillTx/>
              <a:latin typeface="Arial"/>
            </a:endParaRPr>
          </a:p>
        </p:txBody>
      </p:sp>
      <p:sp>
        <p:nvSpPr>
          <p:cNvPr id="134" name="Text 21"/>
          <p:cNvSpPr/>
          <p:nvPr/>
        </p:nvSpPr>
        <p:spPr>
          <a:xfrm>
            <a:off x="9281160" y="4617720"/>
            <a:ext cx="109620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i="1" lang="en-US" sz="1100" strike="noStrike" u="none">
                <a:solidFill>
                  <a:srgbClr val="64748b"/>
                </a:solidFill>
                <a:effectLst/>
                <a:uFillTx/>
                <a:latin typeface="Calibri"/>
                <a:ea typeface="Calibri"/>
              </a:rPr>
              <a:t>blocked</a:t>
            </a:r>
            <a:endParaRPr b="0" lang="en-TR" sz="1100" strike="noStrike" u="none">
              <a:solidFill>
                <a:srgbClr val="000000"/>
              </a:solidFill>
              <a:effectLst/>
              <a:uFillTx/>
              <a:latin typeface="Arial"/>
            </a:endParaRPr>
          </a:p>
        </p:txBody>
      </p:sp>
      <p:sp>
        <p:nvSpPr>
          <p:cNvPr id="135" name="Shape 22"/>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136" name="Text 23"/>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137" name="Text 24"/>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5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8"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PROBLEM</a:t>
            </a:r>
            <a:endParaRPr b="0" lang="en-TR" sz="1100" strike="noStrike" u="none">
              <a:solidFill>
                <a:srgbClr val="000000"/>
              </a:solidFill>
              <a:effectLst/>
              <a:uFillTx/>
              <a:latin typeface="Arial"/>
            </a:endParaRPr>
          </a:p>
        </p:txBody>
      </p:sp>
      <p:sp>
        <p:nvSpPr>
          <p:cNvPr id="139"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Control-loop latency in ACB/UAC</a:t>
            </a:r>
            <a:endParaRPr b="0" lang="en-TR" sz="3000" strike="noStrike" u="none">
              <a:solidFill>
                <a:srgbClr val="000000"/>
              </a:solidFill>
              <a:effectLst/>
              <a:uFillTx/>
              <a:latin typeface="Arial"/>
            </a:endParaRPr>
          </a:p>
        </p:txBody>
      </p:sp>
      <p:sp>
        <p:nvSpPr>
          <p:cNvPr id="140" name="Text 2"/>
          <p:cNvSpPr/>
          <p:nvPr/>
        </p:nvSpPr>
        <p:spPr>
          <a:xfrm>
            <a:off x="548640" y="1554480"/>
            <a:ext cx="109717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300" strike="noStrike" u="none">
                <a:solidFill>
                  <a:srgbClr val="334155"/>
                </a:solidFill>
                <a:effectLst/>
                <a:uFillTx/>
                <a:latin typeface="Calibri"/>
                <a:ea typeface="Calibri"/>
              </a:rPr>
              <a:t>Current defence: Access Class Barring (ACB) — 3GPP TS 38.331 UAC framework.</a:t>
            </a:r>
            <a:endParaRPr b="0" lang="en-TR" sz="1300" strike="noStrike" u="none">
              <a:solidFill>
                <a:srgbClr val="000000"/>
              </a:solidFill>
              <a:effectLst/>
              <a:uFillTx/>
              <a:latin typeface="Arial"/>
            </a:endParaRPr>
          </a:p>
        </p:txBody>
      </p:sp>
      <p:sp>
        <p:nvSpPr>
          <p:cNvPr id="141" name="Shape 3"/>
          <p:cNvSpPr/>
          <p:nvPr/>
        </p:nvSpPr>
        <p:spPr>
          <a:xfrm>
            <a:off x="731520" y="2926080"/>
            <a:ext cx="10698480" cy="360"/>
          </a:xfrm>
          <a:prstGeom prst="line">
            <a:avLst/>
          </a:prstGeom>
          <a:ln w="25400">
            <a:solidFill>
              <a:srgbClr val="64748b"/>
            </a:solidFill>
            <a:round/>
          </a:ln>
        </p:spPr>
        <p:style>
          <a:lnRef idx="0"/>
          <a:fillRef idx="0"/>
          <a:effectRef idx="0"/>
          <a:fontRef idx="minor"/>
        </p:style>
        <p:txBody>
          <a:bodyPr lIns="90000" rIns="90000" tIns="-44640" bIns="-44640" anchor="t" anchorCtr="1">
            <a:noAutofit/>
          </a:bodyPr>
          <a:p>
            <a:endParaRPr b="0" lang="en-TR" sz="1800" strike="noStrike" u="none">
              <a:solidFill>
                <a:srgbClr val="000000"/>
              </a:solidFill>
              <a:effectLst/>
              <a:uFillTx/>
              <a:latin typeface="Arial"/>
            </a:endParaRPr>
          </a:p>
        </p:txBody>
      </p:sp>
      <p:sp>
        <p:nvSpPr>
          <p:cNvPr id="142" name="Shape 4"/>
          <p:cNvSpPr/>
          <p:nvPr/>
        </p:nvSpPr>
        <p:spPr>
          <a:xfrm>
            <a:off x="594360" y="2788920"/>
            <a:ext cx="273240" cy="273240"/>
          </a:xfrm>
          <a:prstGeom prst="ellipse">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143" name="Text 5"/>
          <p:cNvSpPr/>
          <p:nvPr/>
        </p:nvSpPr>
        <p:spPr>
          <a:xfrm>
            <a:off x="-548640" y="3154680"/>
            <a:ext cx="2559240" cy="456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50" strike="noStrike" u="none">
                <a:solidFill>
                  <a:srgbClr val="1a2233"/>
                </a:solidFill>
                <a:effectLst/>
                <a:uFillTx/>
                <a:latin typeface="Calibri"/>
                <a:ea typeface="Calibri"/>
              </a:rPr>
              <a:t>Attack starts</a:t>
            </a:r>
            <a:endParaRPr b="0" lang="en-TR" sz="1150" strike="noStrike" u="none">
              <a:solidFill>
                <a:srgbClr val="000000"/>
              </a:solidFill>
              <a:effectLst/>
              <a:uFillTx/>
              <a:latin typeface="Arial"/>
            </a:endParaRPr>
          </a:p>
        </p:txBody>
      </p:sp>
      <p:sp>
        <p:nvSpPr>
          <p:cNvPr id="144" name="Shape 6"/>
          <p:cNvSpPr/>
          <p:nvPr/>
        </p:nvSpPr>
        <p:spPr>
          <a:xfrm>
            <a:off x="3803760" y="2788920"/>
            <a:ext cx="273240" cy="273240"/>
          </a:xfrm>
          <a:prstGeom prst="ellipse">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145" name="Text 7"/>
          <p:cNvSpPr/>
          <p:nvPr/>
        </p:nvSpPr>
        <p:spPr>
          <a:xfrm>
            <a:off x="2660760" y="3154680"/>
            <a:ext cx="2559240" cy="456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50" strike="noStrike" u="none">
                <a:solidFill>
                  <a:srgbClr val="1a2233"/>
                </a:solidFill>
                <a:effectLst/>
                <a:uFillTx/>
                <a:latin typeface="Calibri"/>
                <a:ea typeface="Calibri"/>
              </a:rPr>
              <a:t>Queue fills up</a:t>
            </a:r>
            <a:endParaRPr b="0" lang="en-TR" sz="1150" strike="noStrike" u="none">
              <a:solidFill>
                <a:srgbClr val="000000"/>
              </a:solidFill>
              <a:effectLst/>
              <a:uFillTx/>
              <a:latin typeface="Arial"/>
            </a:endParaRPr>
          </a:p>
        </p:txBody>
      </p:sp>
      <p:sp>
        <p:nvSpPr>
          <p:cNvPr id="146" name="Shape 8"/>
          <p:cNvSpPr/>
          <p:nvPr/>
        </p:nvSpPr>
        <p:spPr>
          <a:xfrm>
            <a:off x="7013520" y="2788920"/>
            <a:ext cx="273240" cy="273240"/>
          </a:xfrm>
          <a:prstGeom prst="ellipse">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47" name="Text 9"/>
          <p:cNvSpPr/>
          <p:nvPr/>
        </p:nvSpPr>
        <p:spPr>
          <a:xfrm>
            <a:off x="5870520" y="3154680"/>
            <a:ext cx="2559240" cy="456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50" strike="noStrike" u="none">
                <a:solidFill>
                  <a:srgbClr val="1a2233"/>
                </a:solidFill>
                <a:effectLst/>
                <a:uFillTx/>
                <a:latin typeface="Calibri"/>
                <a:ea typeface="Calibri"/>
              </a:rPr>
              <a:t>ACB detects Q &gt; 0.8K</a:t>
            </a:r>
            <a:endParaRPr b="0" lang="en-TR" sz="1150" strike="noStrike" u="none">
              <a:solidFill>
                <a:srgbClr val="000000"/>
              </a:solidFill>
              <a:effectLst/>
              <a:uFillTx/>
              <a:latin typeface="Arial"/>
            </a:endParaRPr>
          </a:p>
        </p:txBody>
      </p:sp>
      <p:sp>
        <p:nvSpPr>
          <p:cNvPr id="148" name="Shape 10"/>
          <p:cNvSpPr/>
          <p:nvPr/>
        </p:nvSpPr>
        <p:spPr>
          <a:xfrm>
            <a:off x="10437120" y="2788920"/>
            <a:ext cx="273240" cy="273240"/>
          </a:xfrm>
          <a:prstGeom prst="ellipse">
            <a:avLst/>
          </a:prstGeom>
          <a:solidFill>
            <a:srgbClr val="c0392b"/>
          </a:solidFill>
          <a:ln w="12700">
            <a:solidFill>
              <a:srgbClr val="c0392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149" name="Text 11"/>
          <p:cNvSpPr/>
          <p:nvPr/>
        </p:nvSpPr>
        <p:spPr>
          <a:xfrm>
            <a:off x="9294120" y="3154680"/>
            <a:ext cx="2559240" cy="456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50" strike="noStrike" u="none">
                <a:solidFill>
                  <a:srgbClr val="1a2233"/>
                </a:solidFill>
                <a:effectLst/>
                <a:uFillTx/>
                <a:latin typeface="Calibri"/>
                <a:ea typeface="Calibri"/>
              </a:rPr>
              <a:t>Dropping starts</a:t>
            </a:r>
            <a:endParaRPr b="0" lang="en-TR" sz="1150" strike="noStrike" u="none">
              <a:solidFill>
                <a:srgbClr val="000000"/>
              </a:solidFill>
              <a:effectLst/>
              <a:uFillTx/>
              <a:latin typeface="Arial"/>
            </a:endParaRPr>
          </a:p>
        </p:txBody>
      </p:sp>
      <p:sp>
        <p:nvSpPr>
          <p:cNvPr id="150" name="Shape 12"/>
          <p:cNvSpPr/>
          <p:nvPr/>
        </p:nvSpPr>
        <p:spPr>
          <a:xfrm>
            <a:off x="7150680" y="2286000"/>
            <a:ext cx="3422520" cy="456120"/>
          </a:xfrm>
          <a:prstGeom prst="rect">
            <a:avLst/>
          </a:prstGeom>
          <a:solidFill>
            <a:srgbClr val="fbe9e7">
              <a:alpha val="70000"/>
            </a:srgbClr>
          </a:solidFill>
          <a:ln w="12700">
            <a:solidFill>
              <a:srgbClr val="c0392b"/>
            </a:solidFill>
            <a:prstDash val="dash"/>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51" name="Text 13"/>
          <p:cNvSpPr/>
          <p:nvPr/>
        </p:nvSpPr>
        <p:spPr>
          <a:xfrm>
            <a:off x="7150680" y="2331720"/>
            <a:ext cx="3422520" cy="410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i="1" lang="en-US" sz="1150" strike="noStrike" u="none">
                <a:solidFill>
                  <a:srgbClr val="c0392b"/>
                </a:solidFill>
                <a:effectLst/>
                <a:uFillTx/>
                <a:latin typeface="Calibri"/>
                <a:ea typeface="Calibri"/>
              </a:rPr>
              <a:t>Control-loop latency  —  damage already done</a:t>
            </a:r>
            <a:endParaRPr b="0" lang="en-TR" sz="1150" strike="noStrike" u="none">
              <a:solidFill>
                <a:srgbClr val="000000"/>
              </a:solidFill>
              <a:effectLst/>
              <a:uFillTx/>
              <a:latin typeface="Arial"/>
            </a:endParaRPr>
          </a:p>
        </p:txBody>
      </p:sp>
      <p:sp>
        <p:nvSpPr>
          <p:cNvPr id="152" name="Shape 14"/>
          <p:cNvSpPr/>
          <p:nvPr/>
        </p:nvSpPr>
        <p:spPr>
          <a:xfrm>
            <a:off x="548640" y="3931920"/>
            <a:ext cx="5485320" cy="210204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53" name="Shape 15"/>
          <p:cNvSpPr/>
          <p:nvPr/>
        </p:nvSpPr>
        <p:spPr>
          <a:xfrm>
            <a:off x="548640" y="3931920"/>
            <a:ext cx="63000" cy="210204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154" name="Text 16"/>
          <p:cNvSpPr/>
          <p:nvPr/>
        </p:nvSpPr>
        <p:spPr>
          <a:xfrm>
            <a:off x="777240" y="4069080"/>
            <a:ext cx="511956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Fundamental causality constraint</a:t>
            </a:r>
            <a:endParaRPr b="0" lang="en-TR" sz="1400" strike="noStrike" u="none">
              <a:solidFill>
                <a:srgbClr val="000000"/>
              </a:solidFill>
              <a:effectLst/>
              <a:uFillTx/>
              <a:latin typeface="Arial"/>
            </a:endParaRPr>
          </a:p>
        </p:txBody>
      </p:sp>
      <p:sp>
        <p:nvSpPr>
          <p:cNvPr id="155" name="Text 17"/>
          <p:cNvSpPr/>
          <p:nvPr/>
        </p:nvSpPr>
        <p:spPr>
          <a:xfrm>
            <a:off x="777240" y="4480560"/>
            <a:ext cx="5119560" cy="1461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ACB throttles only after observing Q_real &gt; 0.8K. During the build-up, requests are silently dropped.</a:t>
            </a:r>
            <a:endParaRPr b="0" lang="en-TR" sz="1200" strike="noStrike" u="none">
              <a:solidFill>
                <a:srgbClr val="000000"/>
              </a:solidFill>
              <a:effectLst/>
              <a:uFillTx/>
              <a:latin typeface="Arial"/>
            </a:endParaRPr>
          </a:p>
        </p:txBody>
      </p:sp>
      <p:sp>
        <p:nvSpPr>
          <p:cNvPr id="156" name="Shape 18"/>
          <p:cNvSpPr/>
          <p:nvPr/>
        </p:nvSpPr>
        <p:spPr>
          <a:xfrm>
            <a:off x="6263640" y="3931920"/>
            <a:ext cx="5485320" cy="210204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57" name="Shape 19"/>
          <p:cNvSpPr/>
          <p:nvPr/>
        </p:nvSpPr>
        <p:spPr>
          <a:xfrm>
            <a:off x="6263640" y="3931920"/>
            <a:ext cx="63000" cy="210204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58" name="Text 20"/>
          <p:cNvSpPr/>
          <p:nvPr/>
        </p:nvSpPr>
        <p:spPr>
          <a:xfrm>
            <a:off x="6492240" y="4069080"/>
            <a:ext cx="511956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Empirical evidence</a:t>
            </a:r>
            <a:endParaRPr b="0" lang="en-TR" sz="1400" strike="noStrike" u="none">
              <a:solidFill>
                <a:srgbClr val="000000"/>
              </a:solidFill>
              <a:effectLst/>
              <a:uFillTx/>
              <a:latin typeface="Arial"/>
            </a:endParaRPr>
          </a:p>
        </p:txBody>
      </p:sp>
      <p:sp>
        <p:nvSpPr>
          <p:cNvPr id="159" name="Text 21"/>
          <p:cNvSpPr/>
          <p:nvPr/>
        </p:nvSpPr>
        <p:spPr>
          <a:xfrm>
            <a:off x="6492240" y="4480560"/>
            <a:ext cx="5119560" cy="1461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Seo et al. (2021): Random access delay requirements can be violated when the RA procedure enters unstable or saturated operating regions.</a:t>
            </a:r>
            <a:endParaRPr b="0" lang="en-TR" sz="1200" strike="noStrike" u="none">
              <a:solidFill>
                <a:srgbClr val="000000"/>
              </a:solidFill>
              <a:effectLst/>
              <a:uFillTx/>
              <a:latin typeface="Arial"/>
            </a:endParaRPr>
          </a:p>
          <a:p>
            <a:pPr defTabSz="914400">
              <a:lnSpc>
                <a:spcPct val="100000"/>
              </a:lnSpc>
              <a:tabLst>
                <a:tab algn="l" pos="0"/>
              </a:tabLst>
            </a:pPr>
            <a:endParaRPr b="0" lang="en-TR" sz="1200" strike="noStrike" u="none">
              <a:solidFill>
                <a:srgbClr val="000000"/>
              </a:solidFill>
              <a:effectLst/>
              <a:uFillTx/>
              <a:latin typeface="Arial"/>
            </a:endParaRPr>
          </a:p>
          <a:p>
            <a:pPr defTabSz="914400">
              <a:lnSpc>
                <a:spcPct val="100000"/>
              </a:lnSpc>
              <a:tabLst>
                <a:tab algn="l" pos="0"/>
              </a:tabLst>
            </a:pPr>
            <a:r>
              <a:rPr b="0" lang="en-US" sz="1200" strike="noStrike" u="none">
                <a:solidFill>
                  <a:srgbClr val="334155"/>
                </a:solidFill>
                <a:effectLst/>
                <a:uFillTx/>
                <a:latin typeface="Calibri"/>
                <a:ea typeface="Calibri"/>
              </a:rPr>
              <a:t>This supports the claim that reactive ACB/UAC is too late under bursty overload: once congestion is observed, delay and drops may already be unavoidable.</a:t>
            </a:r>
            <a:endParaRPr b="0" lang="en-TR" sz="1200" strike="noStrike" u="none">
              <a:solidFill>
                <a:srgbClr val="000000"/>
              </a:solidFill>
              <a:effectLst/>
              <a:uFillTx/>
              <a:latin typeface="Arial"/>
            </a:endParaRPr>
          </a:p>
          <a:p>
            <a:pPr defTabSz="914400">
              <a:lnSpc>
                <a:spcPct val="100000"/>
              </a:lnSpc>
              <a:tabLst>
                <a:tab algn="l" pos="0"/>
              </a:tabLst>
            </a:pPr>
            <a:endParaRPr b="0" lang="en-TR" sz="1200" strike="noStrike" u="none">
              <a:solidFill>
                <a:srgbClr val="000000"/>
              </a:solidFill>
              <a:effectLst/>
              <a:uFillTx/>
              <a:latin typeface="Arial"/>
            </a:endParaRPr>
          </a:p>
        </p:txBody>
      </p:sp>
      <p:sp>
        <p:nvSpPr>
          <p:cNvPr id="160" name="Shape 22"/>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161" name="Text 23"/>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162" name="Text 24"/>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6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3"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RESEARCH GAP</a:t>
            </a:r>
            <a:endParaRPr b="0" lang="en-TR" sz="1100" strike="noStrike" u="none">
              <a:solidFill>
                <a:srgbClr val="000000"/>
              </a:solidFill>
              <a:effectLst/>
              <a:uFillTx/>
              <a:latin typeface="Arial"/>
            </a:endParaRPr>
          </a:p>
        </p:txBody>
      </p:sp>
      <p:sp>
        <p:nvSpPr>
          <p:cNvPr id="164"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Why existing approaches fall short</a:t>
            </a:r>
            <a:endParaRPr b="0" lang="en-TR" sz="3000" strike="noStrike" u="none">
              <a:solidFill>
                <a:srgbClr val="000000"/>
              </a:solidFill>
              <a:effectLst/>
              <a:uFillTx/>
              <a:latin typeface="Arial"/>
            </a:endParaRPr>
          </a:p>
        </p:txBody>
      </p:sp>
      <p:sp>
        <p:nvSpPr>
          <p:cNvPr id="165" name="Shape 2"/>
          <p:cNvSpPr/>
          <p:nvPr/>
        </p:nvSpPr>
        <p:spPr>
          <a:xfrm>
            <a:off x="548640" y="1691640"/>
            <a:ext cx="3610800" cy="3656520"/>
          </a:xfrm>
          <a:prstGeom prst="rect">
            <a:avLst/>
          </a:prstGeom>
          <a:solidFill>
            <a:srgbClr val="ffffff"/>
          </a:solidFill>
          <a:ln w="9525">
            <a:noFill/>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66" name="Shape 3"/>
          <p:cNvSpPr/>
          <p:nvPr/>
        </p:nvSpPr>
        <p:spPr>
          <a:xfrm>
            <a:off x="548640" y="1691640"/>
            <a:ext cx="3610800" cy="50184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pic>
        <p:nvPicPr>
          <p:cNvPr id="167" name="Image 0" descr="preencoded.png"/>
          <p:cNvPicPr/>
          <p:nvPr/>
        </p:nvPicPr>
        <p:blipFill>
          <a:blip r:embed="rId1"/>
          <a:stretch/>
        </p:blipFill>
        <p:spPr>
          <a:xfrm>
            <a:off x="777240" y="1801440"/>
            <a:ext cx="291600" cy="291600"/>
          </a:xfrm>
          <a:prstGeom prst="rect">
            <a:avLst/>
          </a:prstGeom>
          <a:noFill/>
          <a:ln w="0">
            <a:noFill/>
          </a:ln>
        </p:spPr>
      </p:pic>
      <p:sp>
        <p:nvSpPr>
          <p:cNvPr id="168" name="Text 4"/>
          <p:cNvSpPr/>
          <p:nvPr/>
        </p:nvSpPr>
        <p:spPr>
          <a:xfrm>
            <a:off x="1143000" y="1691640"/>
            <a:ext cx="2970720" cy="501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ffffff"/>
                </a:solidFill>
                <a:effectLst/>
                <a:uFillTx/>
                <a:latin typeface="Cambria"/>
                <a:ea typeface="Cambria"/>
              </a:rPr>
              <a:t>Reactive ACB / UAC</a:t>
            </a:r>
            <a:endParaRPr b="0" lang="en-TR" sz="1400" strike="noStrike" u="none">
              <a:solidFill>
                <a:srgbClr val="000000"/>
              </a:solidFill>
              <a:effectLst/>
              <a:uFillTx/>
              <a:latin typeface="Arial"/>
            </a:endParaRPr>
          </a:p>
        </p:txBody>
      </p:sp>
      <p:sp>
        <p:nvSpPr>
          <p:cNvPr id="169" name="Text 5"/>
          <p:cNvSpPr/>
          <p:nvPr/>
        </p:nvSpPr>
        <p:spPr>
          <a:xfrm>
            <a:off x="777240" y="2437560"/>
            <a:ext cx="3153600" cy="254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1" lang="en-US" sz="1300" strike="noStrike" u="none">
                <a:solidFill>
                  <a:srgbClr val="0e8a6b"/>
                </a:solidFill>
                <a:effectLst/>
                <a:uFillTx/>
                <a:latin typeface="Calibri"/>
                <a:ea typeface="Calibri"/>
              </a:rPr>
              <a:t>Strength</a:t>
            </a:r>
            <a:endParaRPr b="0" lang="en-TR" sz="1300" strike="noStrike" u="none">
              <a:solidFill>
                <a:srgbClr val="000000"/>
              </a:solidFill>
              <a:effectLst/>
              <a:uFillTx/>
              <a:latin typeface="Arial"/>
            </a:endParaRPr>
          </a:p>
        </p:txBody>
      </p:sp>
      <p:sp>
        <p:nvSpPr>
          <p:cNvPr id="170" name="Text 6"/>
          <p:cNvSpPr/>
          <p:nvPr/>
        </p:nvSpPr>
        <p:spPr>
          <a:xfrm>
            <a:off x="777240" y="2651760"/>
            <a:ext cx="3153600" cy="821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Simple, standards-compliant</a:t>
            </a:r>
            <a:endParaRPr b="0" lang="en-TR" sz="1200" strike="noStrike" u="none">
              <a:solidFill>
                <a:srgbClr val="000000"/>
              </a:solidFill>
              <a:effectLst/>
              <a:uFillTx/>
              <a:latin typeface="Arial"/>
            </a:endParaRPr>
          </a:p>
        </p:txBody>
      </p:sp>
      <p:sp>
        <p:nvSpPr>
          <p:cNvPr id="171" name="Shape 7"/>
          <p:cNvSpPr/>
          <p:nvPr/>
        </p:nvSpPr>
        <p:spPr>
          <a:xfrm>
            <a:off x="777240" y="3566160"/>
            <a:ext cx="3153600" cy="3600"/>
          </a:xfrm>
          <a:prstGeom prst="rect">
            <a:avLst/>
          </a:prstGeom>
          <a:solidFill>
            <a:srgbClr val="e2e8f0"/>
          </a:solidFill>
          <a:ln w="12700">
            <a:solidFill>
              <a:srgbClr val="e2e8f0"/>
            </a:solidFill>
            <a:round/>
          </a:ln>
        </p:spPr>
        <p:style>
          <a:lnRef idx="0"/>
          <a:fillRef idx="0"/>
          <a:effectRef idx="0"/>
          <a:fontRef idx="minor"/>
        </p:style>
        <p:txBody>
          <a:bodyPr lIns="90000" rIns="90000" tIns="-40320" bIns="-40320" anchor="t">
            <a:noAutofit/>
          </a:bodyPr>
          <a:p>
            <a:pPr>
              <a:lnSpc>
                <a:spcPct val="100000"/>
              </a:lnSpc>
            </a:pPr>
            <a:endParaRPr b="0" lang="en-TR" sz="1800" strike="noStrike" u="none">
              <a:solidFill>
                <a:srgbClr val="000000"/>
              </a:solidFill>
              <a:effectLst/>
              <a:uFillTx/>
              <a:latin typeface="Arial"/>
            </a:endParaRPr>
          </a:p>
        </p:txBody>
      </p:sp>
      <p:sp>
        <p:nvSpPr>
          <p:cNvPr id="172" name="Text 8"/>
          <p:cNvSpPr/>
          <p:nvPr/>
        </p:nvSpPr>
        <p:spPr>
          <a:xfrm>
            <a:off x="777240" y="3657600"/>
            <a:ext cx="315360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c0392b"/>
                </a:solidFill>
                <a:effectLst/>
                <a:uFillTx/>
                <a:latin typeface="Calibri"/>
                <a:ea typeface="Calibri"/>
              </a:rPr>
              <a:t>Limitation</a:t>
            </a:r>
            <a:endParaRPr b="0" lang="en-TR" sz="1300" strike="noStrike" u="none">
              <a:solidFill>
                <a:srgbClr val="000000"/>
              </a:solidFill>
              <a:effectLst/>
              <a:uFillTx/>
              <a:latin typeface="Arial"/>
            </a:endParaRPr>
          </a:p>
        </p:txBody>
      </p:sp>
      <p:sp>
        <p:nvSpPr>
          <p:cNvPr id="173" name="Text 9"/>
          <p:cNvSpPr/>
          <p:nvPr/>
        </p:nvSpPr>
        <p:spPr>
          <a:xfrm>
            <a:off x="777240" y="3931920"/>
            <a:ext cx="3153600" cy="1324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Reacts after saturation; inherent control-loop latency</a:t>
            </a:r>
            <a:endParaRPr b="0" lang="en-TR" sz="1200" strike="noStrike" u="none">
              <a:solidFill>
                <a:srgbClr val="000000"/>
              </a:solidFill>
              <a:effectLst/>
              <a:uFillTx/>
              <a:latin typeface="Arial"/>
            </a:endParaRPr>
          </a:p>
        </p:txBody>
      </p:sp>
      <p:sp>
        <p:nvSpPr>
          <p:cNvPr id="174" name="Shape 10"/>
          <p:cNvSpPr/>
          <p:nvPr/>
        </p:nvSpPr>
        <p:spPr>
          <a:xfrm>
            <a:off x="4434840" y="1691640"/>
            <a:ext cx="3610800" cy="365652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75" name="Shape 11"/>
          <p:cNvSpPr/>
          <p:nvPr/>
        </p:nvSpPr>
        <p:spPr>
          <a:xfrm>
            <a:off x="4434840" y="1691640"/>
            <a:ext cx="3610800" cy="50184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pic>
        <p:nvPicPr>
          <p:cNvPr id="176" name="Image 1" descr="preencoded.png"/>
          <p:cNvPicPr/>
          <p:nvPr/>
        </p:nvPicPr>
        <p:blipFill>
          <a:blip r:embed="rId2"/>
          <a:stretch/>
        </p:blipFill>
        <p:spPr>
          <a:xfrm>
            <a:off x="4663440" y="1801440"/>
            <a:ext cx="291600" cy="291600"/>
          </a:xfrm>
          <a:prstGeom prst="rect">
            <a:avLst/>
          </a:prstGeom>
          <a:noFill/>
          <a:ln w="0">
            <a:noFill/>
          </a:ln>
        </p:spPr>
      </p:pic>
      <p:sp>
        <p:nvSpPr>
          <p:cNvPr id="177" name="Text 12"/>
          <p:cNvSpPr/>
          <p:nvPr/>
        </p:nvSpPr>
        <p:spPr>
          <a:xfrm>
            <a:off x="5029200" y="1691640"/>
            <a:ext cx="2970720" cy="501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ffffff"/>
                </a:solidFill>
                <a:effectLst/>
                <a:uFillTx/>
                <a:latin typeface="Cambria"/>
                <a:ea typeface="Cambria"/>
              </a:rPr>
              <a:t>ML / DNN predictors</a:t>
            </a:r>
            <a:endParaRPr b="0" lang="en-TR" sz="1400" strike="noStrike" u="none">
              <a:solidFill>
                <a:srgbClr val="000000"/>
              </a:solidFill>
              <a:effectLst/>
              <a:uFillTx/>
              <a:latin typeface="Arial"/>
            </a:endParaRPr>
          </a:p>
        </p:txBody>
      </p:sp>
      <p:sp>
        <p:nvSpPr>
          <p:cNvPr id="178" name="Text 13"/>
          <p:cNvSpPr/>
          <p:nvPr/>
        </p:nvSpPr>
        <p:spPr>
          <a:xfrm>
            <a:off x="4663440" y="2377440"/>
            <a:ext cx="315360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0e8a6b"/>
                </a:solidFill>
                <a:effectLst/>
                <a:uFillTx/>
                <a:latin typeface="Calibri"/>
                <a:ea typeface="Calibri"/>
              </a:rPr>
              <a:t>Strength</a:t>
            </a:r>
            <a:endParaRPr b="0" lang="en-TR" sz="1300" strike="noStrike" u="none">
              <a:solidFill>
                <a:srgbClr val="000000"/>
              </a:solidFill>
              <a:effectLst/>
              <a:uFillTx/>
              <a:latin typeface="Arial"/>
            </a:endParaRPr>
          </a:p>
        </p:txBody>
      </p:sp>
      <p:sp>
        <p:nvSpPr>
          <p:cNvPr id="179" name="Text 14"/>
          <p:cNvSpPr/>
          <p:nvPr/>
        </p:nvSpPr>
        <p:spPr>
          <a:xfrm>
            <a:off x="4663440" y="2651760"/>
            <a:ext cx="3153600" cy="821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High accuracy on stationary traffic</a:t>
            </a:r>
            <a:endParaRPr b="0" lang="en-TR" sz="1200" strike="noStrike" u="none">
              <a:solidFill>
                <a:srgbClr val="000000"/>
              </a:solidFill>
              <a:effectLst/>
              <a:uFillTx/>
              <a:latin typeface="Arial"/>
            </a:endParaRPr>
          </a:p>
        </p:txBody>
      </p:sp>
      <p:sp>
        <p:nvSpPr>
          <p:cNvPr id="180" name="Shape 15"/>
          <p:cNvSpPr/>
          <p:nvPr/>
        </p:nvSpPr>
        <p:spPr>
          <a:xfrm>
            <a:off x="4663440" y="3566160"/>
            <a:ext cx="3153600" cy="3600"/>
          </a:xfrm>
          <a:prstGeom prst="rect">
            <a:avLst/>
          </a:prstGeom>
          <a:solidFill>
            <a:srgbClr val="e2e8f0"/>
          </a:solidFill>
          <a:ln w="12700">
            <a:solidFill>
              <a:srgbClr val="e2e8f0"/>
            </a:solidFill>
            <a:round/>
          </a:ln>
        </p:spPr>
        <p:style>
          <a:lnRef idx="0"/>
          <a:fillRef idx="0"/>
          <a:effectRef idx="0"/>
          <a:fontRef idx="minor"/>
        </p:style>
        <p:txBody>
          <a:bodyPr lIns="90000" rIns="90000" tIns="-40320" bIns="-40320" anchor="t">
            <a:noAutofit/>
          </a:bodyPr>
          <a:p>
            <a:pPr>
              <a:lnSpc>
                <a:spcPct val="100000"/>
              </a:lnSpc>
            </a:pPr>
            <a:endParaRPr b="0" lang="en-TR" sz="1800" strike="noStrike" u="none">
              <a:solidFill>
                <a:srgbClr val="000000"/>
              </a:solidFill>
              <a:effectLst/>
              <a:uFillTx/>
              <a:latin typeface="Arial"/>
            </a:endParaRPr>
          </a:p>
        </p:txBody>
      </p:sp>
      <p:sp>
        <p:nvSpPr>
          <p:cNvPr id="181" name="Text 16"/>
          <p:cNvSpPr/>
          <p:nvPr/>
        </p:nvSpPr>
        <p:spPr>
          <a:xfrm>
            <a:off x="4663440" y="3657600"/>
            <a:ext cx="315360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c0392b"/>
                </a:solidFill>
                <a:effectLst/>
                <a:uFillTx/>
                <a:latin typeface="Calibri"/>
                <a:ea typeface="Calibri"/>
              </a:rPr>
              <a:t>Limitation</a:t>
            </a:r>
            <a:endParaRPr b="0" lang="en-TR" sz="1300" strike="noStrike" u="none">
              <a:solidFill>
                <a:srgbClr val="000000"/>
              </a:solidFill>
              <a:effectLst/>
              <a:uFillTx/>
              <a:latin typeface="Arial"/>
            </a:endParaRPr>
          </a:p>
        </p:txBody>
      </p:sp>
      <p:sp>
        <p:nvSpPr>
          <p:cNvPr id="182" name="Text 17"/>
          <p:cNvSpPr/>
          <p:nvPr/>
        </p:nvSpPr>
        <p:spPr>
          <a:xfrm>
            <a:off x="4663440" y="3931920"/>
            <a:ext cx="3153600" cy="1324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O(W) inference, W ~ 10⁵–10⁷; ms latency — impractical on gNB hardware</a:t>
            </a:r>
            <a:endParaRPr b="0" lang="en-TR" sz="1200" strike="noStrike" u="none">
              <a:solidFill>
                <a:srgbClr val="000000"/>
              </a:solidFill>
              <a:effectLst/>
              <a:uFillTx/>
              <a:latin typeface="Arial"/>
            </a:endParaRPr>
          </a:p>
        </p:txBody>
      </p:sp>
      <p:sp>
        <p:nvSpPr>
          <p:cNvPr id="183" name="Shape 18"/>
          <p:cNvSpPr/>
          <p:nvPr/>
        </p:nvSpPr>
        <p:spPr>
          <a:xfrm>
            <a:off x="8321040" y="1691640"/>
            <a:ext cx="3610800" cy="365652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184" name="Shape 19"/>
          <p:cNvSpPr/>
          <p:nvPr/>
        </p:nvSpPr>
        <p:spPr>
          <a:xfrm>
            <a:off x="8321040" y="1691640"/>
            <a:ext cx="3610800" cy="50184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pic>
        <p:nvPicPr>
          <p:cNvPr id="185" name="Image 2" descr="preencoded.png"/>
          <p:cNvPicPr/>
          <p:nvPr/>
        </p:nvPicPr>
        <p:blipFill>
          <a:blip r:embed="rId3"/>
          <a:stretch/>
        </p:blipFill>
        <p:spPr>
          <a:xfrm>
            <a:off x="8549640" y="1801440"/>
            <a:ext cx="291600" cy="291600"/>
          </a:xfrm>
          <a:prstGeom prst="rect">
            <a:avLst/>
          </a:prstGeom>
          <a:noFill/>
          <a:ln w="0">
            <a:noFill/>
          </a:ln>
        </p:spPr>
      </p:pic>
      <p:sp>
        <p:nvSpPr>
          <p:cNvPr id="186" name="Text 20"/>
          <p:cNvSpPr/>
          <p:nvPr/>
        </p:nvSpPr>
        <p:spPr>
          <a:xfrm>
            <a:off x="8915400" y="1691640"/>
            <a:ext cx="2970720" cy="501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ffffff"/>
                </a:solidFill>
                <a:effectLst/>
                <a:uFillTx/>
                <a:latin typeface="Cambria"/>
                <a:ea typeface="Cambria"/>
              </a:rPr>
              <a:t>Standard Digital Twin</a:t>
            </a:r>
            <a:endParaRPr b="0" lang="en-TR" sz="1400" strike="noStrike" u="none">
              <a:solidFill>
                <a:srgbClr val="000000"/>
              </a:solidFill>
              <a:effectLst/>
              <a:uFillTx/>
              <a:latin typeface="Arial"/>
            </a:endParaRPr>
          </a:p>
        </p:txBody>
      </p:sp>
      <p:sp>
        <p:nvSpPr>
          <p:cNvPr id="187" name="Text 21"/>
          <p:cNvSpPr/>
          <p:nvPr/>
        </p:nvSpPr>
        <p:spPr>
          <a:xfrm>
            <a:off x="8549640" y="2377440"/>
            <a:ext cx="315360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0e8a6b"/>
                </a:solidFill>
                <a:effectLst/>
                <a:uFillTx/>
                <a:latin typeface="Calibri"/>
                <a:ea typeface="Calibri"/>
              </a:rPr>
              <a:t>Strength</a:t>
            </a:r>
            <a:endParaRPr b="0" lang="en-TR" sz="1300" strike="noStrike" u="none">
              <a:solidFill>
                <a:srgbClr val="000000"/>
              </a:solidFill>
              <a:effectLst/>
              <a:uFillTx/>
              <a:latin typeface="Arial"/>
            </a:endParaRPr>
          </a:p>
        </p:txBody>
      </p:sp>
      <p:sp>
        <p:nvSpPr>
          <p:cNvPr id="188" name="Text 22"/>
          <p:cNvSpPr/>
          <p:nvPr/>
        </p:nvSpPr>
        <p:spPr>
          <a:xfrm>
            <a:off x="8549640" y="2651760"/>
            <a:ext cx="3153600" cy="821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Proactive control possible</a:t>
            </a:r>
            <a:endParaRPr b="0" lang="en-TR" sz="1200" strike="noStrike" u="none">
              <a:solidFill>
                <a:srgbClr val="000000"/>
              </a:solidFill>
              <a:effectLst/>
              <a:uFillTx/>
              <a:latin typeface="Arial"/>
            </a:endParaRPr>
          </a:p>
        </p:txBody>
      </p:sp>
      <p:sp>
        <p:nvSpPr>
          <p:cNvPr id="189" name="Shape 23"/>
          <p:cNvSpPr/>
          <p:nvPr/>
        </p:nvSpPr>
        <p:spPr>
          <a:xfrm>
            <a:off x="8549640" y="3566160"/>
            <a:ext cx="3153600" cy="3600"/>
          </a:xfrm>
          <a:prstGeom prst="rect">
            <a:avLst/>
          </a:prstGeom>
          <a:solidFill>
            <a:srgbClr val="e2e8f0"/>
          </a:solidFill>
          <a:ln w="12700">
            <a:solidFill>
              <a:srgbClr val="e2e8f0"/>
            </a:solidFill>
            <a:round/>
          </a:ln>
        </p:spPr>
        <p:style>
          <a:lnRef idx="0"/>
          <a:fillRef idx="0"/>
          <a:effectRef idx="0"/>
          <a:fontRef idx="minor"/>
        </p:style>
        <p:txBody>
          <a:bodyPr lIns="90000" rIns="90000" tIns="-40320" bIns="-40320" anchor="t">
            <a:noAutofit/>
          </a:bodyPr>
          <a:p>
            <a:pPr>
              <a:lnSpc>
                <a:spcPct val="100000"/>
              </a:lnSpc>
            </a:pPr>
            <a:endParaRPr b="0" lang="en-TR" sz="1800" strike="noStrike" u="none">
              <a:solidFill>
                <a:srgbClr val="000000"/>
              </a:solidFill>
              <a:effectLst/>
              <a:uFillTx/>
              <a:latin typeface="Arial"/>
            </a:endParaRPr>
          </a:p>
        </p:txBody>
      </p:sp>
      <p:sp>
        <p:nvSpPr>
          <p:cNvPr id="190" name="Text 24"/>
          <p:cNvSpPr/>
          <p:nvPr/>
        </p:nvSpPr>
        <p:spPr>
          <a:xfrm>
            <a:off x="8549640" y="3657600"/>
            <a:ext cx="315360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c0392b"/>
                </a:solidFill>
                <a:effectLst/>
                <a:uFillTx/>
                <a:latin typeface="Calibri"/>
                <a:ea typeface="Calibri"/>
              </a:rPr>
              <a:t>Limitation</a:t>
            </a:r>
            <a:endParaRPr b="0" lang="en-TR" sz="1300" strike="noStrike" u="none">
              <a:solidFill>
                <a:srgbClr val="000000"/>
              </a:solidFill>
              <a:effectLst/>
              <a:uFillTx/>
              <a:latin typeface="Arial"/>
            </a:endParaRPr>
          </a:p>
        </p:txBody>
      </p:sp>
      <p:sp>
        <p:nvSpPr>
          <p:cNvPr id="191" name="Text 25"/>
          <p:cNvSpPr/>
          <p:nvPr/>
        </p:nvSpPr>
        <p:spPr>
          <a:xfrm>
            <a:off x="8549640" y="3931920"/>
            <a:ext cx="3153600" cy="1324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trike="noStrike" u="none">
                <a:solidFill>
                  <a:srgbClr val="334155"/>
                </a:solidFill>
                <a:effectLst/>
                <a:uFillTx/>
                <a:latin typeface="Calibri"/>
                <a:ea typeface="Calibri"/>
              </a:rPr>
              <a:t>Model drift under non-stationary traffic; mirroring error grows unbounded</a:t>
            </a:r>
            <a:endParaRPr b="0" lang="en-TR" sz="1200" strike="noStrike" u="none">
              <a:solidFill>
                <a:srgbClr val="000000"/>
              </a:solidFill>
              <a:effectLst/>
              <a:uFillTx/>
              <a:latin typeface="Arial"/>
            </a:endParaRPr>
          </a:p>
        </p:txBody>
      </p:sp>
      <p:sp>
        <p:nvSpPr>
          <p:cNvPr id="192" name="Shape 26"/>
          <p:cNvSpPr/>
          <p:nvPr/>
        </p:nvSpPr>
        <p:spPr>
          <a:xfrm>
            <a:off x="548640" y="5532120"/>
            <a:ext cx="11063160" cy="593280"/>
          </a:xfrm>
          <a:prstGeom prst="rect">
            <a:avLst/>
          </a:prstGeom>
          <a:solidFill>
            <a:srgbClr val="0b1e3f"/>
          </a:solidFill>
          <a:ln w="12700">
            <a:solidFill>
              <a:srgbClr val="0b1e3f"/>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pic>
        <p:nvPicPr>
          <p:cNvPr id="193" name="Image 3" descr="preencoded.png"/>
          <p:cNvPicPr/>
          <p:nvPr/>
        </p:nvPicPr>
        <p:blipFill>
          <a:blip r:embed="rId4"/>
          <a:stretch/>
        </p:blipFill>
        <p:spPr>
          <a:xfrm>
            <a:off x="713160" y="5650920"/>
            <a:ext cx="364680" cy="364680"/>
          </a:xfrm>
          <a:prstGeom prst="rect">
            <a:avLst/>
          </a:prstGeom>
          <a:noFill/>
          <a:ln w="0">
            <a:noFill/>
          </a:ln>
        </p:spPr>
      </p:pic>
      <p:sp>
        <p:nvSpPr>
          <p:cNvPr id="194" name="Text 27"/>
          <p:cNvSpPr/>
          <p:nvPr/>
        </p:nvSpPr>
        <p:spPr>
          <a:xfrm>
            <a:off x="1188720" y="5532120"/>
            <a:ext cx="10331640" cy="593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50" strike="noStrike" u="none">
                <a:solidFill>
                  <a:srgbClr val="ffffff"/>
                </a:solidFill>
                <a:effectLst/>
                <a:uFillTx/>
                <a:latin typeface="Calibri"/>
                <a:ea typeface="Calibri"/>
              </a:rPr>
              <a:t>Gap: no DT approach suppresses model drift via an online calibration loop during the attack interval. This work closes that gap.</a:t>
            </a:r>
            <a:endParaRPr b="0" lang="en-TR" sz="1250" strike="noStrike" u="none">
              <a:solidFill>
                <a:srgbClr val="000000"/>
              </a:solidFill>
              <a:effectLst/>
              <a:uFillTx/>
              <a:latin typeface="Arial"/>
            </a:endParaRPr>
          </a:p>
        </p:txBody>
      </p:sp>
      <p:sp>
        <p:nvSpPr>
          <p:cNvPr id="195" name="Shape 28"/>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196" name="Text 29"/>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197" name="Text 30"/>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7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8"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SYSTEM MODEL</a:t>
            </a:r>
            <a:endParaRPr b="0" lang="en-TR" sz="1100" strike="noStrike" u="none">
              <a:solidFill>
                <a:srgbClr val="000000"/>
              </a:solidFill>
              <a:effectLst/>
              <a:uFillTx/>
              <a:latin typeface="Arial"/>
            </a:endParaRPr>
          </a:p>
        </p:txBody>
      </p:sp>
      <p:sp>
        <p:nvSpPr>
          <p:cNvPr id="199"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MMPP/M/c/K queue</a:t>
            </a:r>
            <a:endParaRPr b="0" lang="en-TR" sz="3000" strike="noStrike" u="none">
              <a:solidFill>
                <a:srgbClr val="000000"/>
              </a:solidFill>
              <a:effectLst/>
              <a:uFillTx/>
              <a:latin typeface="Arial"/>
            </a:endParaRPr>
          </a:p>
        </p:txBody>
      </p:sp>
      <p:sp>
        <p:nvSpPr>
          <p:cNvPr id="200" name="Shape 2"/>
          <p:cNvSpPr/>
          <p:nvPr/>
        </p:nvSpPr>
        <p:spPr>
          <a:xfrm>
            <a:off x="548640" y="1600200"/>
            <a:ext cx="639972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01" name="Text 3"/>
          <p:cNvSpPr/>
          <p:nvPr/>
        </p:nvSpPr>
        <p:spPr>
          <a:xfrm>
            <a:off x="822960" y="1737360"/>
            <a:ext cx="594252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Two-state CTMC: Markov-Modulated Poisson Process</a:t>
            </a:r>
            <a:endParaRPr b="0" lang="en-TR" sz="1400" strike="noStrike" u="none">
              <a:solidFill>
                <a:srgbClr val="000000"/>
              </a:solidFill>
              <a:effectLst/>
              <a:uFillTx/>
              <a:latin typeface="Arial"/>
            </a:endParaRPr>
          </a:p>
        </p:txBody>
      </p:sp>
      <p:sp>
        <p:nvSpPr>
          <p:cNvPr id="202" name="Shape 4"/>
          <p:cNvSpPr/>
          <p:nvPr/>
        </p:nvSpPr>
        <p:spPr>
          <a:xfrm>
            <a:off x="914400" y="2880360"/>
            <a:ext cx="1827720" cy="1187640"/>
          </a:xfrm>
          <a:prstGeom prst="roundRect">
            <a:avLst>
              <a:gd name="adj" fmla="val 7692"/>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203" name="Text 5"/>
          <p:cNvSpPr/>
          <p:nvPr/>
        </p:nvSpPr>
        <p:spPr>
          <a:xfrm>
            <a:off x="914400" y="2880360"/>
            <a:ext cx="1827720" cy="1187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trike="noStrike" u="none">
                <a:solidFill>
                  <a:srgbClr val="ffffff"/>
                </a:solidFill>
                <a:effectLst/>
                <a:uFillTx/>
                <a:latin typeface="Calibri"/>
                <a:ea typeface="Calibri"/>
              </a:rPr>
              <a:t>S₀ — Normal</a:t>
            </a:r>
            <a:endParaRPr b="0" lang="en-TR" sz="1500" strike="noStrike" u="none">
              <a:solidFill>
                <a:srgbClr val="000000"/>
              </a:solidFill>
              <a:effectLst/>
              <a:uFillTx/>
              <a:latin typeface="Arial"/>
            </a:endParaRPr>
          </a:p>
          <a:p>
            <a:pPr algn="ctr" defTabSz="914400">
              <a:lnSpc>
                <a:spcPct val="100000"/>
              </a:lnSpc>
              <a:tabLst>
                <a:tab algn="l" pos="0"/>
              </a:tabLst>
            </a:pPr>
            <a:r>
              <a:rPr b="0" lang="en-US" sz="1300" strike="noStrike" u="none">
                <a:solidFill>
                  <a:srgbClr val="cfe2f3"/>
                </a:solidFill>
                <a:effectLst/>
                <a:uFillTx/>
                <a:latin typeface="Calibri"/>
                <a:ea typeface="Calibri"/>
              </a:rPr>
              <a:t>λ = 10 req/s</a:t>
            </a:r>
            <a:endParaRPr b="0" lang="en-TR" sz="1300" strike="noStrike" u="none">
              <a:solidFill>
                <a:srgbClr val="000000"/>
              </a:solidFill>
              <a:effectLst/>
              <a:uFillTx/>
              <a:latin typeface="Arial"/>
            </a:endParaRPr>
          </a:p>
        </p:txBody>
      </p:sp>
      <p:sp>
        <p:nvSpPr>
          <p:cNvPr id="204" name="Shape 6"/>
          <p:cNvSpPr/>
          <p:nvPr/>
        </p:nvSpPr>
        <p:spPr>
          <a:xfrm>
            <a:off x="4754880" y="2880360"/>
            <a:ext cx="1827720" cy="1187640"/>
          </a:xfrm>
          <a:prstGeom prst="roundRect">
            <a:avLst>
              <a:gd name="adj" fmla="val 7692"/>
            </a:avLst>
          </a:prstGeom>
          <a:solidFill>
            <a:srgbClr val="c0392b"/>
          </a:solidFill>
          <a:ln w="12700">
            <a:solidFill>
              <a:srgbClr val="c0392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205" name="Text 7"/>
          <p:cNvSpPr/>
          <p:nvPr/>
        </p:nvSpPr>
        <p:spPr>
          <a:xfrm>
            <a:off x="4754880" y="2880360"/>
            <a:ext cx="1827720" cy="1187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trike="noStrike" u="none">
                <a:solidFill>
                  <a:srgbClr val="ffffff"/>
                </a:solidFill>
                <a:effectLst/>
                <a:uFillTx/>
                <a:latin typeface="Calibri"/>
                <a:ea typeface="Calibri"/>
              </a:rPr>
              <a:t>S₁ — Burst</a:t>
            </a:r>
            <a:endParaRPr b="0" lang="en-TR" sz="1500" strike="noStrike" u="none">
              <a:solidFill>
                <a:srgbClr val="000000"/>
              </a:solidFill>
              <a:effectLst/>
              <a:uFillTx/>
              <a:latin typeface="Arial"/>
            </a:endParaRPr>
          </a:p>
          <a:p>
            <a:pPr algn="ctr" defTabSz="914400">
              <a:lnSpc>
                <a:spcPct val="100000"/>
              </a:lnSpc>
              <a:tabLst>
                <a:tab algn="l" pos="0"/>
              </a:tabLst>
            </a:pPr>
            <a:r>
              <a:rPr b="0" lang="en-US" sz="1300" strike="noStrike" u="none">
                <a:solidFill>
                  <a:srgbClr val="ffe9e5"/>
                </a:solidFill>
                <a:effectLst/>
                <a:uFillTx/>
                <a:latin typeface="Calibri"/>
                <a:ea typeface="Calibri"/>
              </a:rPr>
              <a:t>λ = 500 req/s</a:t>
            </a:r>
            <a:endParaRPr b="0" lang="en-TR" sz="1300" strike="noStrike" u="none">
              <a:solidFill>
                <a:srgbClr val="000000"/>
              </a:solidFill>
              <a:effectLst/>
              <a:uFillTx/>
              <a:latin typeface="Arial"/>
            </a:endParaRPr>
          </a:p>
        </p:txBody>
      </p:sp>
      <p:sp>
        <p:nvSpPr>
          <p:cNvPr id="206" name="Shape 8"/>
          <p:cNvSpPr/>
          <p:nvPr/>
        </p:nvSpPr>
        <p:spPr>
          <a:xfrm>
            <a:off x="2743200" y="3200400"/>
            <a:ext cx="2011680" cy="360"/>
          </a:xfrm>
          <a:prstGeom prst="line">
            <a:avLst/>
          </a:prstGeom>
          <a:ln w="31750">
            <a:solidFill>
              <a:srgbClr val="f4a11a"/>
            </a:solidFill>
            <a:round/>
            <a:tailEnd len="med" type="triangle" w="med"/>
          </a:ln>
        </p:spPr>
        <p:style>
          <a:lnRef idx="0"/>
          <a:fillRef idx="0"/>
          <a:effectRef idx="0"/>
          <a:fontRef idx="minor"/>
        </p:style>
        <p:txBody>
          <a:bodyPr lIns="90000" rIns="90000" tIns="-44640" bIns="-44640" anchor="t" anchorCtr="1">
            <a:noAutofit/>
          </a:bodyPr>
          <a:p>
            <a:endParaRPr b="0" lang="en-TR" sz="1800" strike="noStrike" u="none">
              <a:solidFill>
                <a:srgbClr val="000000"/>
              </a:solidFill>
              <a:effectLst/>
              <a:uFillTx/>
              <a:latin typeface="Arial"/>
            </a:endParaRPr>
          </a:p>
        </p:txBody>
      </p:sp>
      <p:sp>
        <p:nvSpPr>
          <p:cNvPr id="207" name="Text 9"/>
          <p:cNvSpPr/>
          <p:nvPr/>
        </p:nvSpPr>
        <p:spPr>
          <a:xfrm>
            <a:off x="2743200" y="2880360"/>
            <a:ext cx="2010600" cy="273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1a2233"/>
                </a:solidFill>
                <a:effectLst/>
                <a:uFillTx/>
                <a:latin typeface="Consolas"/>
                <a:ea typeface="Consolas"/>
              </a:rPr>
              <a:t>α = 0.1</a:t>
            </a:r>
            <a:endParaRPr b="0" lang="en-TR" sz="1300" strike="noStrike" u="none">
              <a:solidFill>
                <a:srgbClr val="000000"/>
              </a:solidFill>
              <a:effectLst/>
              <a:uFillTx/>
              <a:latin typeface="Arial"/>
            </a:endParaRPr>
          </a:p>
        </p:txBody>
      </p:sp>
      <p:sp>
        <p:nvSpPr>
          <p:cNvPr id="208" name="Shape 10"/>
          <p:cNvSpPr/>
          <p:nvPr/>
        </p:nvSpPr>
        <p:spPr>
          <a:xfrm>
            <a:off x="2743200" y="3749040"/>
            <a:ext cx="2011680" cy="360"/>
          </a:xfrm>
          <a:prstGeom prst="line">
            <a:avLst/>
          </a:prstGeom>
          <a:ln w="31750">
            <a:solidFill>
              <a:srgbClr val="1c7293"/>
            </a:solidFill>
            <a:round/>
            <a:headEnd len="med" type="triangle" w="med"/>
          </a:ln>
        </p:spPr>
        <p:style>
          <a:lnRef idx="0"/>
          <a:fillRef idx="0"/>
          <a:effectRef idx="0"/>
          <a:fontRef idx="minor"/>
        </p:style>
        <p:txBody>
          <a:bodyPr lIns="90000" rIns="90000" tIns="-44640" bIns="-44640" anchor="t" anchorCtr="1">
            <a:noAutofit/>
          </a:bodyPr>
          <a:p>
            <a:endParaRPr b="0" lang="en-TR" sz="1800" strike="noStrike" u="none">
              <a:solidFill>
                <a:srgbClr val="000000"/>
              </a:solidFill>
              <a:effectLst/>
              <a:uFillTx/>
              <a:latin typeface="Arial"/>
            </a:endParaRPr>
          </a:p>
        </p:txBody>
      </p:sp>
      <p:sp>
        <p:nvSpPr>
          <p:cNvPr id="209" name="Text 11"/>
          <p:cNvSpPr/>
          <p:nvPr/>
        </p:nvSpPr>
        <p:spPr>
          <a:xfrm>
            <a:off x="2743200" y="3794760"/>
            <a:ext cx="2010600" cy="273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1a2233"/>
                </a:solidFill>
                <a:effectLst/>
                <a:uFillTx/>
                <a:latin typeface="Consolas"/>
                <a:ea typeface="Consolas"/>
              </a:rPr>
              <a:t>β = 0.5</a:t>
            </a:r>
            <a:endParaRPr b="0" lang="en-TR" sz="1300" strike="noStrike" u="none">
              <a:solidFill>
                <a:srgbClr val="000000"/>
              </a:solidFill>
              <a:effectLst/>
              <a:uFillTx/>
              <a:latin typeface="Arial"/>
            </a:endParaRPr>
          </a:p>
        </p:txBody>
      </p:sp>
      <p:sp>
        <p:nvSpPr>
          <p:cNvPr id="210" name="Text 12"/>
          <p:cNvSpPr/>
          <p:nvPr/>
        </p:nvSpPr>
        <p:spPr>
          <a:xfrm>
            <a:off x="822960" y="4389120"/>
            <a:ext cx="59425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065a82"/>
                </a:solidFill>
                <a:effectLst/>
                <a:uFillTx/>
                <a:latin typeface="Cambria"/>
                <a:ea typeface="Cambria"/>
              </a:rPr>
              <a:t>Generator matrix</a:t>
            </a:r>
            <a:endParaRPr b="0" lang="en-TR" sz="1300" strike="noStrike" u="none">
              <a:solidFill>
                <a:srgbClr val="000000"/>
              </a:solidFill>
              <a:effectLst/>
              <a:uFillTx/>
              <a:latin typeface="Arial"/>
            </a:endParaRPr>
          </a:p>
        </p:txBody>
      </p:sp>
      <p:sp>
        <p:nvSpPr>
          <p:cNvPr id="211" name="Text 13"/>
          <p:cNvSpPr/>
          <p:nvPr/>
        </p:nvSpPr>
        <p:spPr>
          <a:xfrm>
            <a:off x="822960" y="4709160"/>
            <a:ext cx="5942520" cy="410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1a2233"/>
                </a:solidFill>
                <a:effectLst/>
                <a:uFillTx/>
                <a:latin typeface="Consolas"/>
                <a:ea typeface="Consolas"/>
              </a:rPr>
              <a:t>Q = [ −α   α ;  β   −β ]   ;   sojourn ~ Exp(|Q_ii|)</a:t>
            </a:r>
            <a:endParaRPr b="0" lang="en-TR" sz="1400" strike="noStrike" u="none">
              <a:solidFill>
                <a:srgbClr val="000000"/>
              </a:solidFill>
              <a:effectLst/>
              <a:uFillTx/>
              <a:latin typeface="Arial"/>
            </a:endParaRPr>
          </a:p>
        </p:txBody>
      </p:sp>
      <p:sp>
        <p:nvSpPr>
          <p:cNvPr id="212" name="Text 14"/>
          <p:cNvSpPr/>
          <p:nvPr/>
        </p:nvSpPr>
        <p:spPr>
          <a:xfrm>
            <a:off x="822960" y="5212080"/>
            <a:ext cx="59425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150" strike="noStrike" u="none">
                <a:solidFill>
                  <a:srgbClr val="64748b"/>
                </a:solidFill>
                <a:effectLst/>
                <a:uFillTx/>
                <a:latin typeface="Calibri"/>
                <a:ea typeface="Calibri"/>
              </a:rPr>
              <a:t>Exact CTMC dynamics in DES — no matrix exponential needed.</a:t>
            </a:r>
            <a:endParaRPr b="0" lang="en-TR" sz="1150" strike="noStrike" u="none">
              <a:solidFill>
                <a:srgbClr val="000000"/>
              </a:solidFill>
              <a:effectLst/>
              <a:uFillTx/>
              <a:latin typeface="Arial"/>
            </a:endParaRPr>
          </a:p>
        </p:txBody>
      </p:sp>
      <p:sp>
        <p:nvSpPr>
          <p:cNvPr id="213" name="Shape 15"/>
          <p:cNvSpPr/>
          <p:nvPr/>
        </p:nvSpPr>
        <p:spPr>
          <a:xfrm>
            <a:off x="7178040" y="1600200"/>
            <a:ext cx="457092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14" name="Shape 16"/>
          <p:cNvSpPr/>
          <p:nvPr/>
        </p:nvSpPr>
        <p:spPr>
          <a:xfrm>
            <a:off x="7178040" y="1600200"/>
            <a:ext cx="63000" cy="452520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215" name="Text 17"/>
          <p:cNvSpPr/>
          <p:nvPr/>
        </p:nvSpPr>
        <p:spPr>
          <a:xfrm>
            <a:off x="7452360" y="1737360"/>
            <a:ext cx="41137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a2233"/>
                </a:solidFill>
                <a:effectLst/>
                <a:uFillTx/>
                <a:latin typeface="Cambria"/>
                <a:ea typeface="Cambria"/>
              </a:rPr>
              <a:t>Physical gNB RACH</a:t>
            </a:r>
            <a:endParaRPr b="0" lang="en-TR" sz="1500" strike="noStrike" u="none">
              <a:solidFill>
                <a:srgbClr val="000000"/>
              </a:solidFill>
              <a:effectLst/>
              <a:uFillTx/>
              <a:latin typeface="Arial"/>
            </a:endParaRPr>
          </a:p>
        </p:txBody>
      </p:sp>
      <p:graphicFrame>
        <p:nvGraphicFramePr>
          <p:cNvPr id="216" name="Table 0"/>
          <p:cNvGraphicFramePr/>
          <p:nvPr/>
        </p:nvGraphicFramePr>
        <p:xfrm>
          <a:off x="7452360" y="2240280"/>
          <a:ext cx="4023000" cy="1645920"/>
        </p:xfrm>
        <a:graphic>
          <a:graphicData uri="http://schemas.openxmlformats.org/drawingml/2006/table">
            <a:tbl>
              <a:tblPr/>
              <a:tblGrid>
                <a:gridCol w="2286000"/>
                <a:gridCol w="1737360"/>
              </a:tblGrid>
              <a:tr h="411480">
                <a:tc>
                  <a:txBody>
                    <a:bodyPr anchor="ctr">
                      <a:noAutofit/>
                    </a:bodyPr>
                    <a:p>
                      <a:pPr defTabSz="914400">
                        <a:lnSpc>
                          <a:spcPct val="100000"/>
                        </a:lnSpc>
                        <a:tabLst>
                          <a:tab algn="l" pos="0"/>
                        </a:tabLst>
                      </a:pPr>
                      <a:r>
                        <a:rPr b="1" lang="en-US" sz="1200" strike="noStrike" u="none">
                          <a:solidFill>
                            <a:srgbClr val="ffffff"/>
                          </a:solidFill>
                          <a:effectLst/>
                          <a:uFillTx/>
                          <a:latin typeface="Calibri"/>
                          <a:ea typeface="Calibri"/>
                        </a:rPr>
                        <a:t>Parameter</a:t>
                      </a:r>
                      <a:endParaRPr b="0" lang="en-TR" sz="1200" strike="noStrike" u="none">
                        <a:solidFill>
                          <a:srgbClr val="ffffff"/>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solidFill>
                      <a:srgbClr val="065a82"/>
                    </a:solidFill>
                  </a:tcPr>
                </a:tc>
                <a:tc>
                  <a:txBody>
                    <a:bodyPr anchor="ctr">
                      <a:noAutofit/>
                    </a:bodyPr>
                    <a:p>
                      <a:pPr defTabSz="914400">
                        <a:lnSpc>
                          <a:spcPct val="100000"/>
                        </a:lnSpc>
                        <a:tabLst>
                          <a:tab algn="l" pos="0"/>
                        </a:tabLst>
                      </a:pPr>
                      <a:r>
                        <a:rPr b="1" lang="en-US" sz="1200" strike="noStrike" u="none">
                          <a:solidFill>
                            <a:srgbClr val="ffffff"/>
                          </a:solidFill>
                          <a:effectLst/>
                          <a:uFillTx/>
                          <a:latin typeface="Calibri"/>
                          <a:ea typeface="Calibri"/>
                        </a:rPr>
                        <a:t>Value</a:t>
                      </a:r>
                      <a:endParaRPr b="0" lang="en-TR" sz="1200" strike="noStrike" u="none">
                        <a:solidFill>
                          <a:srgbClr val="ffffff"/>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solidFill>
                      <a:srgbClr val="065a82"/>
                    </a:solidFill>
                  </a:tcPr>
                </a:tc>
              </a:tr>
              <a:tr h="411480">
                <a:tc>
                  <a:txBody>
                    <a:bodyPr anchor="ctr">
                      <a:noAutofit/>
                    </a:bodyPr>
                    <a:p>
                      <a:pPr defTabSz="914400">
                        <a:lnSpc>
                          <a:spcPct val="100000"/>
                        </a:lnSpc>
                        <a:tabLst>
                          <a:tab algn="l" pos="0"/>
                        </a:tabLst>
                      </a:pPr>
                      <a:r>
                        <a:rPr b="0" lang="en-US" sz="1200" strike="noStrike" u="none">
                          <a:solidFill>
                            <a:srgbClr val="1a2233"/>
                          </a:solidFill>
                          <a:effectLst/>
                          <a:uFillTx/>
                          <a:latin typeface="Calibri"/>
                          <a:ea typeface="Calibri"/>
                        </a:rPr>
                        <a:t>Preamble channels</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0" lang="en-US" sz="1200" strike="noStrike" u="none">
                          <a:solidFill>
                            <a:srgbClr val="1a2233"/>
                          </a:solidFill>
                          <a:effectLst/>
                          <a:uFillTx/>
                          <a:latin typeface="Calibri"/>
                          <a:ea typeface="Calibri"/>
                        </a:rPr>
                        <a:t>c = 54</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r>
              <a:tr h="411480">
                <a:tc>
                  <a:txBody>
                    <a:bodyPr anchor="ctr">
                      <a:noAutofit/>
                    </a:bodyPr>
                    <a:p>
                      <a:pPr defTabSz="914400">
                        <a:lnSpc>
                          <a:spcPct val="100000"/>
                        </a:lnSpc>
                        <a:tabLst>
                          <a:tab algn="l" pos="0"/>
                        </a:tabLst>
                      </a:pPr>
                      <a:r>
                        <a:rPr b="0" lang="en-US" sz="1200" strike="noStrike" u="none">
                          <a:solidFill>
                            <a:srgbClr val="1a2233"/>
                          </a:solidFill>
                          <a:effectLst/>
                          <a:uFillTx/>
                          <a:latin typeface="Calibri"/>
                          <a:ea typeface="Calibri"/>
                        </a:rPr>
                        <a:t>Buffer capacity</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0" lang="en-US" sz="1200" strike="noStrike" u="none">
                          <a:solidFill>
                            <a:srgbClr val="1a2233"/>
                          </a:solidFill>
                          <a:effectLst/>
                          <a:uFillTx/>
                          <a:latin typeface="Calibri"/>
                          <a:ea typeface="Calibri"/>
                        </a:rPr>
                        <a:t>K = 200</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r>
              <a:tr h="411480">
                <a:tc>
                  <a:txBody>
                    <a:bodyPr anchor="ctr">
                      <a:noAutofit/>
                    </a:bodyPr>
                    <a:p>
                      <a:pPr defTabSz="914400">
                        <a:lnSpc>
                          <a:spcPct val="100000"/>
                        </a:lnSpc>
                        <a:tabLst>
                          <a:tab algn="l" pos="0"/>
                        </a:tabLst>
                      </a:pPr>
                      <a:r>
                        <a:rPr b="0" lang="en-US" sz="1200" strike="noStrike" u="none">
                          <a:solidFill>
                            <a:srgbClr val="1a2233"/>
                          </a:solidFill>
                          <a:effectLst/>
                          <a:uFillTx/>
                          <a:latin typeface="Calibri"/>
                          <a:ea typeface="Calibri"/>
                        </a:rPr>
                        <a:t>Service time</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0" lang="en-US" sz="1200" strike="noStrike" u="none">
                          <a:solidFill>
                            <a:srgbClr val="1a2233"/>
                          </a:solidFill>
                          <a:effectLst/>
                          <a:uFillTx/>
                          <a:latin typeface="Calibri"/>
                          <a:ea typeface="Calibri"/>
                        </a:rPr>
                        <a:t>Exp(1)</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r>
            </a:tbl>
          </a:graphicData>
        </a:graphic>
      </p:graphicFrame>
      <p:pic>
        <p:nvPicPr>
          <p:cNvPr id="217" name="Image 0" descr="preencoded.png"/>
          <p:cNvPicPr/>
          <p:nvPr/>
        </p:nvPicPr>
        <p:blipFill>
          <a:blip r:embed="rId1"/>
          <a:stretch/>
        </p:blipFill>
        <p:spPr>
          <a:xfrm>
            <a:off x="7452360" y="4709160"/>
            <a:ext cx="410400" cy="410400"/>
          </a:xfrm>
          <a:prstGeom prst="rect">
            <a:avLst/>
          </a:prstGeom>
          <a:noFill/>
          <a:ln w="0">
            <a:noFill/>
          </a:ln>
        </p:spPr>
      </p:pic>
      <p:sp>
        <p:nvSpPr>
          <p:cNvPr id="218" name="Text 18"/>
          <p:cNvSpPr/>
          <p:nvPr/>
        </p:nvSpPr>
        <p:spPr>
          <a:xfrm>
            <a:off x="7955280" y="4709160"/>
            <a:ext cx="3656520" cy="1187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150" strike="noStrike" u="none">
                <a:solidFill>
                  <a:srgbClr val="334155"/>
                </a:solidFill>
                <a:effectLst/>
                <a:uFillTx/>
                <a:latin typeface="Calibri"/>
                <a:ea typeface="Calibri"/>
              </a:rPr>
              <a:t>Stationary blocking governed by classical M/c/K formulas; non-stationarity comes from MMPP modulation.</a:t>
            </a:r>
            <a:endParaRPr b="0" lang="en-TR" sz="1150" strike="noStrike" u="none">
              <a:solidFill>
                <a:srgbClr val="000000"/>
              </a:solidFill>
              <a:effectLst/>
              <a:uFillTx/>
              <a:latin typeface="Arial"/>
            </a:endParaRPr>
          </a:p>
        </p:txBody>
      </p:sp>
      <p:sp>
        <p:nvSpPr>
          <p:cNvPr id="219" name="Shape 19"/>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220" name="Text 20"/>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221" name="Text 21"/>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8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2"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PROPOSED METHOD</a:t>
            </a:r>
            <a:endParaRPr b="0" lang="en-TR" sz="1100" strike="noStrike" u="none">
              <a:solidFill>
                <a:srgbClr val="000000"/>
              </a:solidFill>
              <a:effectLst/>
              <a:uFillTx/>
              <a:latin typeface="Arial"/>
            </a:endParaRPr>
          </a:p>
        </p:txBody>
      </p:sp>
      <p:sp>
        <p:nvSpPr>
          <p:cNvPr id="223"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Calibrated Digital Twin architecture</a:t>
            </a:r>
            <a:endParaRPr b="0" lang="en-TR" sz="3000" strike="noStrike" u="none">
              <a:solidFill>
                <a:srgbClr val="000000"/>
              </a:solidFill>
              <a:effectLst/>
              <a:uFillTx/>
              <a:latin typeface="Arial"/>
            </a:endParaRPr>
          </a:p>
        </p:txBody>
      </p:sp>
      <p:sp>
        <p:nvSpPr>
          <p:cNvPr id="224" name="Shape 2"/>
          <p:cNvSpPr/>
          <p:nvPr/>
        </p:nvSpPr>
        <p:spPr>
          <a:xfrm>
            <a:off x="548640" y="1645920"/>
            <a:ext cx="2742120" cy="42966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25" name="Shape 3"/>
          <p:cNvSpPr/>
          <p:nvPr/>
        </p:nvSpPr>
        <p:spPr>
          <a:xfrm>
            <a:off x="548640" y="1645920"/>
            <a:ext cx="63000" cy="4296600"/>
          </a:xfrm>
          <a:prstGeom prst="rect">
            <a:avLst/>
          </a:prstGeom>
          <a:solidFill>
            <a:srgbClr val="c0392b"/>
          </a:solidFill>
          <a:ln w="12700">
            <a:solidFill>
              <a:srgbClr val="c0392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pic>
        <p:nvPicPr>
          <p:cNvPr id="226" name="Image 0" descr="preencoded.png"/>
          <p:cNvPicPr/>
          <p:nvPr/>
        </p:nvPicPr>
        <p:blipFill>
          <a:blip r:embed="rId1"/>
          <a:stretch/>
        </p:blipFill>
        <p:spPr>
          <a:xfrm>
            <a:off x="1645920" y="1874520"/>
            <a:ext cx="547560" cy="547560"/>
          </a:xfrm>
          <a:prstGeom prst="rect">
            <a:avLst/>
          </a:prstGeom>
          <a:noFill/>
          <a:ln w="0">
            <a:noFill/>
          </a:ln>
        </p:spPr>
      </p:pic>
      <p:sp>
        <p:nvSpPr>
          <p:cNvPr id="227" name="Text 4"/>
          <p:cNvSpPr/>
          <p:nvPr/>
        </p:nvSpPr>
        <p:spPr>
          <a:xfrm>
            <a:off x="548640" y="2514600"/>
            <a:ext cx="2742120" cy="364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1a2233"/>
                </a:solidFill>
                <a:effectLst/>
                <a:uFillTx/>
                <a:latin typeface="Cambria"/>
                <a:ea typeface="Cambria"/>
              </a:rPr>
              <a:t>Physical gNB RACH</a:t>
            </a:r>
            <a:endParaRPr b="0" lang="en-TR" sz="1400" strike="noStrike" u="none">
              <a:solidFill>
                <a:srgbClr val="000000"/>
              </a:solidFill>
              <a:effectLst/>
              <a:uFillTx/>
              <a:latin typeface="Arial"/>
            </a:endParaRPr>
          </a:p>
        </p:txBody>
      </p:sp>
      <p:sp>
        <p:nvSpPr>
          <p:cNvPr id="228" name="Shape 5"/>
          <p:cNvSpPr/>
          <p:nvPr/>
        </p:nvSpPr>
        <p:spPr>
          <a:xfrm>
            <a:off x="822960" y="3017520"/>
            <a:ext cx="2193480" cy="639000"/>
          </a:xfrm>
          <a:prstGeom prst="roundRect">
            <a:avLst>
              <a:gd name="adj" fmla="val 8571"/>
            </a:avLst>
          </a:prstGeom>
          <a:solidFill>
            <a:srgbClr val="f7f9fc"/>
          </a:solidFill>
          <a:ln w="12700">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29" name="Text 6"/>
          <p:cNvSpPr/>
          <p:nvPr/>
        </p:nvSpPr>
        <p:spPr>
          <a:xfrm>
            <a:off x="822960" y="3017520"/>
            <a:ext cx="2193480" cy="6390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065a82"/>
                </a:solidFill>
                <a:effectLst/>
                <a:uFillTx/>
                <a:latin typeface="Consolas"/>
                <a:ea typeface="Consolas"/>
              </a:rPr>
              <a:t>Q_real</a:t>
            </a:r>
            <a:endParaRPr b="0" lang="en-TR" sz="1400" strike="noStrike" u="none">
              <a:solidFill>
                <a:srgbClr val="000000"/>
              </a:solidFill>
              <a:effectLst/>
              <a:uFillTx/>
              <a:latin typeface="Arial"/>
            </a:endParaRPr>
          </a:p>
          <a:p>
            <a:pPr algn="ctr" defTabSz="914400">
              <a:lnSpc>
                <a:spcPct val="100000"/>
              </a:lnSpc>
              <a:tabLst>
                <a:tab algn="l" pos="0"/>
              </a:tabLst>
            </a:pPr>
            <a:r>
              <a:rPr b="0" lang="en-US" sz="1000" strike="noStrike" u="none">
                <a:solidFill>
                  <a:srgbClr val="64748b"/>
                </a:solidFill>
                <a:effectLst/>
                <a:uFillTx/>
                <a:latin typeface="Calibri"/>
                <a:ea typeface="Calibri"/>
              </a:rPr>
              <a:t>queue length</a:t>
            </a:r>
            <a:endParaRPr b="0" lang="en-TR" sz="1000" strike="noStrike" u="none">
              <a:solidFill>
                <a:srgbClr val="000000"/>
              </a:solidFill>
              <a:effectLst/>
              <a:uFillTx/>
              <a:latin typeface="Arial"/>
            </a:endParaRPr>
          </a:p>
        </p:txBody>
      </p:sp>
      <p:sp>
        <p:nvSpPr>
          <p:cNvPr id="230" name="Shape 7"/>
          <p:cNvSpPr/>
          <p:nvPr/>
        </p:nvSpPr>
        <p:spPr>
          <a:xfrm>
            <a:off x="822960" y="3840480"/>
            <a:ext cx="2193480" cy="639000"/>
          </a:xfrm>
          <a:prstGeom prst="roundRect">
            <a:avLst>
              <a:gd name="adj" fmla="val 8571"/>
            </a:avLst>
          </a:prstGeom>
          <a:solidFill>
            <a:srgbClr val="f7f9fc"/>
          </a:solidFill>
          <a:ln w="12700">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31" name="Text 8"/>
          <p:cNvSpPr/>
          <p:nvPr/>
        </p:nvSpPr>
        <p:spPr>
          <a:xfrm>
            <a:off x="822960" y="3840480"/>
            <a:ext cx="2193480" cy="6390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065a82"/>
                </a:solidFill>
                <a:effectLst/>
                <a:uFillTx/>
                <a:latin typeface="Consolas"/>
                <a:ea typeface="Consolas"/>
              </a:rPr>
              <a:t>n_win</a:t>
            </a:r>
            <a:endParaRPr b="0" lang="en-TR" sz="1400" strike="noStrike" u="none">
              <a:solidFill>
                <a:srgbClr val="000000"/>
              </a:solidFill>
              <a:effectLst/>
              <a:uFillTx/>
              <a:latin typeface="Arial"/>
            </a:endParaRPr>
          </a:p>
          <a:p>
            <a:pPr algn="ctr" defTabSz="914400">
              <a:lnSpc>
                <a:spcPct val="100000"/>
              </a:lnSpc>
              <a:tabLst>
                <a:tab algn="l" pos="0"/>
              </a:tabLst>
            </a:pPr>
            <a:r>
              <a:rPr b="0" lang="en-US" sz="1000" strike="noStrike" u="none">
                <a:solidFill>
                  <a:srgbClr val="64748b"/>
                </a:solidFill>
                <a:effectLst/>
                <a:uFillTx/>
                <a:latin typeface="Calibri"/>
                <a:ea typeface="Calibri"/>
              </a:rPr>
              <a:t>arrivals per Δ</a:t>
            </a:r>
            <a:endParaRPr b="0" lang="en-TR" sz="1000" strike="noStrike" u="none">
              <a:solidFill>
                <a:srgbClr val="000000"/>
              </a:solidFill>
              <a:effectLst/>
              <a:uFillTx/>
              <a:latin typeface="Arial"/>
            </a:endParaRPr>
          </a:p>
        </p:txBody>
      </p:sp>
      <p:sp>
        <p:nvSpPr>
          <p:cNvPr id="232" name="Text 9"/>
          <p:cNvSpPr/>
          <p:nvPr/>
        </p:nvSpPr>
        <p:spPr>
          <a:xfrm>
            <a:off x="640080" y="4754880"/>
            <a:ext cx="2559240" cy="913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i="1" lang="en-US" sz="1100" strike="noStrike" u="none">
                <a:solidFill>
                  <a:srgbClr val="c0392b"/>
                </a:solidFill>
                <a:effectLst/>
                <a:uFillTx/>
                <a:latin typeface="Calibri"/>
                <a:ea typeface="Calibri"/>
              </a:rPr>
              <a:t>p_acb → SIB1</a:t>
            </a:r>
            <a:endParaRPr b="0" lang="en-TR" sz="1100" strike="noStrike" u="none">
              <a:solidFill>
                <a:srgbClr val="000000"/>
              </a:solidFill>
              <a:effectLst/>
              <a:uFillTx/>
              <a:latin typeface="Arial"/>
            </a:endParaRPr>
          </a:p>
          <a:p>
            <a:pPr algn="ctr" defTabSz="914400">
              <a:lnSpc>
                <a:spcPct val="100000"/>
              </a:lnSpc>
              <a:tabLst>
                <a:tab algn="l" pos="0"/>
              </a:tabLst>
            </a:pPr>
            <a:r>
              <a:rPr b="1" i="1" lang="en-US" sz="1100" strike="noStrike" u="none">
                <a:solidFill>
                  <a:srgbClr val="c0392b"/>
                </a:solidFill>
                <a:effectLst/>
                <a:uFillTx/>
                <a:latin typeface="Calibri"/>
                <a:ea typeface="Calibri"/>
              </a:rPr>
              <a:t>uac-BarringInfo</a:t>
            </a:r>
            <a:endParaRPr b="0" lang="en-TR" sz="1100" strike="noStrike" u="none">
              <a:solidFill>
                <a:srgbClr val="000000"/>
              </a:solidFill>
              <a:effectLst/>
              <a:uFillTx/>
              <a:latin typeface="Arial"/>
            </a:endParaRPr>
          </a:p>
        </p:txBody>
      </p:sp>
      <p:sp>
        <p:nvSpPr>
          <p:cNvPr id="233" name="Shape 10"/>
          <p:cNvSpPr/>
          <p:nvPr/>
        </p:nvSpPr>
        <p:spPr>
          <a:xfrm>
            <a:off x="4206240" y="1645920"/>
            <a:ext cx="7405560" cy="42966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34" name="Shape 11"/>
          <p:cNvSpPr/>
          <p:nvPr/>
        </p:nvSpPr>
        <p:spPr>
          <a:xfrm>
            <a:off x="4206240" y="1645920"/>
            <a:ext cx="63000" cy="429660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235" name="Text 12"/>
          <p:cNvSpPr/>
          <p:nvPr/>
        </p:nvSpPr>
        <p:spPr>
          <a:xfrm>
            <a:off x="4480560" y="1783080"/>
            <a:ext cx="694836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a2233"/>
                </a:solidFill>
                <a:effectLst/>
                <a:uFillTx/>
                <a:latin typeface="Cambria"/>
                <a:ea typeface="Cambria"/>
              </a:rPr>
              <a:t>Digital Twin (xApp on Near-RT RIC)</a:t>
            </a:r>
            <a:endParaRPr b="0" lang="en-TR" sz="1500" strike="noStrike" u="none">
              <a:solidFill>
                <a:srgbClr val="000000"/>
              </a:solidFill>
              <a:effectLst/>
              <a:uFillTx/>
              <a:latin typeface="Arial"/>
            </a:endParaRPr>
          </a:p>
        </p:txBody>
      </p:sp>
      <p:sp>
        <p:nvSpPr>
          <p:cNvPr id="236" name="Text 13"/>
          <p:cNvSpPr/>
          <p:nvPr/>
        </p:nvSpPr>
        <p:spPr>
          <a:xfrm>
            <a:off x="10058400" y="1810440"/>
            <a:ext cx="1279080" cy="318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i="1" lang="en-US" sz="1100" strike="noStrike" u="none">
                <a:solidFill>
                  <a:srgbClr val="f4a11a"/>
                </a:solidFill>
                <a:effectLst/>
                <a:uFillTx/>
                <a:latin typeface="Calibri"/>
                <a:ea typeface="Calibri"/>
              </a:rPr>
              <a:t>Every Δ = 1 s</a:t>
            </a:r>
            <a:endParaRPr b="0" lang="en-TR" sz="1100" strike="noStrike" u="none">
              <a:solidFill>
                <a:srgbClr val="000000"/>
              </a:solidFill>
              <a:effectLst/>
              <a:uFillTx/>
              <a:latin typeface="Arial"/>
            </a:endParaRPr>
          </a:p>
        </p:txBody>
      </p:sp>
      <p:sp>
        <p:nvSpPr>
          <p:cNvPr id="237" name="Shape 14"/>
          <p:cNvSpPr/>
          <p:nvPr/>
        </p:nvSpPr>
        <p:spPr>
          <a:xfrm>
            <a:off x="4480560" y="2423160"/>
            <a:ext cx="2239200" cy="3199320"/>
          </a:xfrm>
          <a:prstGeom prst="roundRect">
            <a:avLst>
              <a:gd name="adj" fmla="val 3265"/>
            </a:avLst>
          </a:prstGeom>
          <a:solidFill>
            <a:srgbClr val="ffffff"/>
          </a:solidFill>
          <a:ln w="1905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38" name="Shape 15"/>
          <p:cNvSpPr/>
          <p:nvPr/>
        </p:nvSpPr>
        <p:spPr>
          <a:xfrm>
            <a:off x="4480560" y="2423160"/>
            <a:ext cx="2239200" cy="45612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239" name="Text 16"/>
          <p:cNvSpPr/>
          <p:nvPr/>
        </p:nvSpPr>
        <p:spPr>
          <a:xfrm>
            <a:off x="4617720" y="2423160"/>
            <a:ext cx="1964880" cy="456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ffffff"/>
                </a:solidFill>
                <a:effectLst/>
                <a:uFillTx/>
                <a:latin typeface="Cambria"/>
                <a:ea typeface="Cambria"/>
              </a:rPr>
              <a:t>①  Observe &amp; Predict</a:t>
            </a:r>
            <a:endParaRPr b="0" lang="en-TR" sz="1300" strike="noStrike" u="none">
              <a:solidFill>
                <a:srgbClr val="000000"/>
              </a:solidFill>
              <a:effectLst/>
              <a:uFillTx/>
              <a:latin typeface="Arial"/>
            </a:endParaRPr>
          </a:p>
        </p:txBody>
      </p:sp>
      <p:pic>
        <p:nvPicPr>
          <p:cNvPr id="240" name="Image 1" descr="preencoded.png"/>
          <p:cNvPicPr/>
          <p:nvPr/>
        </p:nvPicPr>
        <p:blipFill>
          <a:blip r:embed="rId2"/>
          <a:stretch/>
        </p:blipFill>
        <p:spPr>
          <a:xfrm>
            <a:off x="5280840" y="3200400"/>
            <a:ext cx="639000" cy="639000"/>
          </a:xfrm>
          <a:prstGeom prst="rect">
            <a:avLst/>
          </a:prstGeom>
          <a:noFill/>
          <a:ln w="0">
            <a:noFill/>
          </a:ln>
        </p:spPr>
      </p:pic>
      <p:sp>
        <p:nvSpPr>
          <p:cNvPr id="241" name="Text 17"/>
          <p:cNvSpPr/>
          <p:nvPr/>
        </p:nvSpPr>
        <p:spPr>
          <a:xfrm>
            <a:off x="4663440" y="3977640"/>
            <a:ext cx="1873440" cy="456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1a2233"/>
                </a:solidFill>
                <a:effectLst/>
                <a:uFillTx/>
                <a:latin typeface="Consolas"/>
                <a:ea typeface="Consolas"/>
              </a:rPr>
              <a:t>EMA → λ̂</a:t>
            </a:r>
            <a:endParaRPr b="0" lang="en-TR" sz="1400" strike="noStrike" u="none">
              <a:solidFill>
                <a:srgbClr val="000000"/>
              </a:solidFill>
              <a:effectLst/>
              <a:uFillTx/>
              <a:latin typeface="Arial"/>
            </a:endParaRPr>
          </a:p>
        </p:txBody>
      </p:sp>
      <p:sp>
        <p:nvSpPr>
          <p:cNvPr id="242" name="Text 18"/>
          <p:cNvSpPr/>
          <p:nvPr/>
        </p:nvSpPr>
        <p:spPr>
          <a:xfrm>
            <a:off x="4663440" y="4526280"/>
            <a:ext cx="1873440" cy="1004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rgbClr val="334155"/>
                </a:solidFill>
                <a:effectLst/>
                <a:uFillTx/>
                <a:latin typeface="Calibri"/>
                <a:ea typeface="Calibri"/>
              </a:rPr>
              <a:t>Count arrivals in Δ; EMA predicts λ̂.</a:t>
            </a:r>
            <a:endParaRPr b="0" lang="en-TR" sz="1100" strike="noStrike" u="none">
              <a:solidFill>
                <a:srgbClr val="000000"/>
              </a:solidFill>
              <a:effectLst/>
              <a:uFillTx/>
              <a:latin typeface="Arial"/>
            </a:endParaRPr>
          </a:p>
        </p:txBody>
      </p:sp>
      <p:sp>
        <p:nvSpPr>
          <p:cNvPr id="243" name="Shape 19"/>
          <p:cNvSpPr/>
          <p:nvPr/>
        </p:nvSpPr>
        <p:spPr>
          <a:xfrm>
            <a:off x="6858000" y="2423160"/>
            <a:ext cx="2239200" cy="3199320"/>
          </a:xfrm>
          <a:prstGeom prst="roundRect">
            <a:avLst>
              <a:gd name="adj" fmla="val 3265"/>
            </a:avLst>
          </a:prstGeom>
          <a:solidFill>
            <a:srgbClr val="ffffff"/>
          </a:solidFill>
          <a:ln w="1905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44" name="Shape 20"/>
          <p:cNvSpPr/>
          <p:nvPr/>
        </p:nvSpPr>
        <p:spPr>
          <a:xfrm>
            <a:off x="6858000" y="2423160"/>
            <a:ext cx="2239200" cy="45612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245" name="Text 21"/>
          <p:cNvSpPr/>
          <p:nvPr/>
        </p:nvSpPr>
        <p:spPr>
          <a:xfrm>
            <a:off x="6995160" y="2423160"/>
            <a:ext cx="1964880" cy="456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ffffff"/>
                </a:solidFill>
                <a:effectLst/>
                <a:uFillTx/>
                <a:latin typeface="Cambria"/>
                <a:ea typeface="Cambria"/>
              </a:rPr>
              <a:t>②  Control Decision</a:t>
            </a:r>
            <a:endParaRPr b="0" lang="en-TR" sz="1300" strike="noStrike" u="none">
              <a:solidFill>
                <a:srgbClr val="000000"/>
              </a:solidFill>
              <a:effectLst/>
              <a:uFillTx/>
              <a:latin typeface="Arial"/>
            </a:endParaRPr>
          </a:p>
        </p:txBody>
      </p:sp>
      <p:pic>
        <p:nvPicPr>
          <p:cNvPr id="246" name="Image 2" descr="preencoded.png"/>
          <p:cNvPicPr/>
          <p:nvPr/>
        </p:nvPicPr>
        <p:blipFill>
          <a:blip r:embed="rId3"/>
          <a:stretch/>
        </p:blipFill>
        <p:spPr>
          <a:xfrm>
            <a:off x="7658280" y="3200400"/>
            <a:ext cx="639000" cy="639000"/>
          </a:xfrm>
          <a:prstGeom prst="rect">
            <a:avLst/>
          </a:prstGeom>
          <a:noFill/>
          <a:ln w="0">
            <a:noFill/>
          </a:ln>
        </p:spPr>
      </p:pic>
      <p:sp>
        <p:nvSpPr>
          <p:cNvPr id="247" name="Text 22"/>
          <p:cNvSpPr/>
          <p:nvPr/>
        </p:nvSpPr>
        <p:spPr>
          <a:xfrm>
            <a:off x="7040880" y="3977640"/>
            <a:ext cx="1873440" cy="456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1a2233"/>
                </a:solidFill>
                <a:effectLst/>
                <a:uFillTx/>
                <a:latin typeface="Consolas"/>
                <a:ea typeface="Consolas"/>
              </a:rPr>
              <a:t>p_acb from Q_real</a:t>
            </a:r>
            <a:endParaRPr b="0" lang="en-TR" sz="1400" strike="noStrike" u="none">
              <a:solidFill>
                <a:srgbClr val="000000"/>
              </a:solidFill>
              <a:effectLst/>
              <a:uFillTx/>
              <a:latin typeface="Arial"/>
            </a:endParaRPr>
          </a:p>
        </p:txBody>
      </p:sp>
      <p:sp>
        <p:nvSpPr>
          <p:cNvPr id="248" name="Text 23"/>
          <p:cNvSpPr/>
          <p:nvPr/>
        </p:nvSpPr>
        <p:spPr>
          <a:xfrm>
            <a:off x="7040880" y="4526280"/>
            <a:ext cx="1873440" cy="1004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rgbClr val="334155"/>
                </a:solidFill>
                <a:effectLst/>
                <a:uFillTx/>
                <a:latin typeface="Calibri"/>
                <a:ea typeface="Calibri"/>
              </a:rPr>
              <a:t>Min. barring probability to keep Q_real &lt; K.</a:t>
            </a:r>
            <a:endParaRPr b="0" lang="en-TR" sz="1100" strike="noStrike" u="none">
              <a:solidFill>
                <a:srgbClr val="000000"/>
              </a:solidFill>
              <a:effectLst/>
              <a:uFillTx/>
              <a:latin typeface="Arial"/>
            </a:endParaRPr>
          </a:p>
        </p:txBody>
      </p:sp>
      <p:sp>
        <p:nvSpPr>
          <p:cNvPr id="249" name="Shape 24"/>
          <p:cNvSpPr/>
          <p:nvPr/>
        </p:nvSpPr>
        <p:spPr>
          <a:xfrm>
            <a:off x="9235440" y="2423160"/>
            <a:ext cx="2239200" cy="3199320"/>
          </a:xfrm>
          <a:prstGeom prst="roundRect">
            <a:avLst>
              <a:gd name="adj" fmla="val 3265"/>
            </a:avLst>
          </a:prstGeom>
          <a:solidFill>
            <a:srgbClr val="ffffff"/>
          </a:solidFill>
          <a:ln w="1905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50" name="Shape 25"/>
          <p:cNvSpPr/>
          <p:nvPr/>
        </p:nvSpPr>
        <p:spPr>
          <a:xfrm>
            <a:off x="9235440" y="2423160"/>
            <a:ext cx="2239200" cy="45612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51" name="Text 26"/>
          <p:cNvSpPr/>
          <p:nvPr/>
        </p:nvSpPr>
        <p:spPr>
          <a:xfrm>
            <a:off x="9372600" y="2423160"/>
            <a:ext cx="1964880" cy="456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ffffff"/>
                </a:solidFill>
                <a:effectLst/>
                <a:uFillTx/>
                <a:latin typeface="Cambria"/>
                <a:ea typeface="Cambria"/>
              </a:rPr>
              <a:t>③  Calibrate</a:t>
            </a:r>
            <a:endParaRPr b="0" lang="en-TR" sz="1300" strike="noStrike" u="none">
              <a:solidFill>
                <a:srgbClr val="000000"/>
              </a:solidFill>
              <a:effectLst/>
              <a:uFillTx/>
              <a:latin typeface="Arial"/>
            </a:endParaRPr>
          </a:p>
        </p:txBody>
      </p:sp>
      <p:pic>
        <p:nvPicPr>
          <p:cNvPr id="252" name="Image 3" descr="preencoded.png"/>
          <p:cNvPicPr/>
          <p:nvPr/>
        </p:nvPicPr>
        <p:blipFill>
          <a:blip r:embed="rId4"/>
          <a:stretch/>
        </p:blipFill>
        <p:spPr>
          <a:xfrm>
            <a:off x="10035720" y="3200400"/>
            <a:ext cx="639000" cy="639000"/>
          </a:xfrm>
          <a:prstGeom prst="rect">
            <a:avLst/>
          </a:prstGeom>
          <a:noFill/>
          <a:ln w="0">
            <a:noFill/>
          </a:ln>
        </p:spPr>
      </p:pic>
      <p:sp>
        <p:nvSpPr>
          <p:cNvPr id="253" name="Text 27"/>
          <p:cNvSpPr/>
          <p:nvPr/>
        </p:nvSpPr>
        <p:spPr>
          <a:xfrm>
            <a:off x="9418320" y="3977640"/>
            <a:ext cx="1873440" cy="456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1a2233"/>
                </a:solidFill>
                <a:effectLst/>
                <a:uFillTx/>
                <a:latin typeface="Consolas"/>
                <a:ea typeface="Consolas"/>
              </a:rPr>
              <a:t>α ← f(E)</a:t>
            </a:r>
            <a:endParaRPr b="0" lang="en-TR" sz="1400" strike="noStrike" u="none">
              <a:solidFill>
                <a:srgbClr val="000000"/>
              </a:solidFill>
              <a:effectLst/>
              <a:uFillTx/>
              <a:latin typeface="Arial"/>
            </a:endParaRPr>
          </a:p>
        </p:txBody>
      </p:sp>
      <p:sp>
        <p:nvSpPr>
          <p:cNvPr id="254" name="Text 28"/>
          <p:cNvSpPr/>
          <p:nvPr/>
        </p:nvSpPr>
        <p:spPr>
          <a:xfrm>
            <a:off x="9418320" y="4526280"/>
            <a:ext cx="1873440" cy="1004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rgbClr val="334155"/>
                </a:solidFill>
                <a:effectLst/>
                <a:uFillTx/>
                <a:latin typeface="Calibri"/>
                <a:ea typeface="Calibri"/>
              </a:rPr>
              <a:t>Adjust α via asymmetric step rule when E &gt; ε.</a:t>
            </a:r>
            <a:endParaRPr b="0" lang="en-TR" sz="1100" strike="noStrike" u="none">
              <a:solidFill>
                <a:srgbClr val="000000"/>
              </a:solidFill>
              <a:effectLst/>
              <a:uFillTx/>
              <a:latin typeface="Arial"/>
            </a:endParaRPr>
          </a:p>
        </p:txBody>
      </p:sp>
      <p:sp>
        <p:nvSpPr>
          <p:cNvPr id="255" name="Shape 29"/>
          <p:cNvSpPr/>
          <p:nvPr/>
        </p:nvSpPr>
        <p:spPr>
          <a:xfrm>
            <a:off x="3291840" y="3337560"/>
            <a:ext cx="914400" cy="360"/>
          </a:xfrm>
          <a:prstGeom prst="line">
            <a:avLst/>
          </a:prstGeom>
          <a:ln w="31750">
            <a:solidFill>
              <a:srgbClr val="065a82"/>
            </a:solidFill>
            <a:round/>
            <a:tailEnd len="med" type="triangle" w="med"/>
          </a:ln>
        </p:spPr>
        <p:style>
          <a:lnRef idx="0"/>
          <a:fillRef idx="0"/>
          <a:effectRef idx="0"/>
          <a:fontRef idx="minor"/>
        </p:style>
        <p:txBody>
          <a:bodyPr lIns="90000" rIns="90000" tIns="-44640" bIns="-44640" anchor="t" anchorCtr="1">
            <a:noAutofit/>
          </a:bodyPr>
          <a:p>
            <a:endParaRPr b="0" lang="en-TR" sz="1800" strike="noStrike" u="none">
              <a:solidFill>
                <a:srgbClr val="000000"/>
              </a:solidFill>
              <a:effectLst/>
              <a:uFillTx/>
              <a:latin typeface="Arial"/>
            </a:endParaRPr>
          </a:p>
        </p:txBody>
      </p:sp>
      <p:sp>
        <p:nvSpPr>
          <p:cNvPr id="256" name="Text 30"/>
          <p:cNvSpPr/>
          <p:nvPr/>
        </p:nvSpPr>
        <p:spPr>
          <a:xfrm>
            <a:off x="3337560" y="3063240"/>
            <a:ext cx="821880" cy="273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i="1" lang="en-US" sz="1000" strike="noStrike" u="none">
                <a:solidFill>
                  <a:srgbClr val="065a82"/>
                </a:solidFill>
                <a:effectLst/>
                <a:uFillTx/>
                <a:latin typeface="Calibri"/>
                <a:ea typeface="Calibri"/>
              </a:rPr>
              <a:t>observe</a:t>
            </a:r>
            <a:endParaRPr b="0" lang="en-TR" sz="1000" strike="noStrike" u="none">
              <a:solidFill>
                <a:srgbClr val="000000"/>
              </a:solidFill>
              <a:effectLst/>
              <a:uFillTx/>
              <a:latin typeface="Arial"/>
            </a:endParaRPr>
          </a:p>
        </p:txBody>
      </p:sp>
      <p:sp>
        <p:nvSpPr>
          <p:cNvPr id="257" name="Shape 31"/>
          <p:cNvSpPr/>
          <p:nvPr/>
        </p:nvSpPr>
        <p:spPr>
          <a:xfrm>
            <a:off x="7977960" y="5943600"/>
            <a:ext cx="360" cy="320040"/>
          </a:xfrm>
          <a:prstGeom prst="line">
            <a:avLst/>
          </a:prstGeom>
          <a:ln w="25400">
            <a:solidFill>
              <a:srgbClr val="c0392b"/>
            </a:solidFill>
            <a:round/>
          </a:ln>
        </p:spPr>
        <p:style>
          <a:lnRef idx="0"/>
          <a:fillRef idx="0"/>
          <a:effectRef idx="0"/>
          <a:fontRef idx="minor"/>
        </p:style>
        <p:txBody>
          <a:bodyPr lIns="90000" rIns="90000" tIns="45000" bIns="45000" anchor="t" anchorCtr="1">
            <a:noAutofit/>
          </a:bodyPr>
          <a:p>
            <a:endParaRPr b="0" lang="en-TR" sz="1800" strike="noStrike" u="none">
              <a:solidFill>
                <a:srgbClr val="000000"/>
              </a:solidFill>
              <a:effectLst/>
              <a:uFillTx/>
              <a:latin typeface="Arial"/>
            </a:endParaRPr>
          </a:p>
        </p:txBody>
      </p:sp>
      <p:sp>
        <p:nvSpPr>
          <p:cNvPr id="258" name="Shape 32"/>
          <p:cNvSpPr/>
          <p:nvPr/>
        </p:nvSpPr>
        <p:spPr>
          <a:xfrm>
            <a:off x="1920240" y="6263640"/>
            <a:ext cx="6057720" cy="360"/>
          </a:xfrm>
          <a:prstGeom prst="line">
            <a:avLst/>
          </a:prstGeom>
          <a:ln w="25400">
            <a:solidFill>
              <a:srgbClr val="c0392b"/>
            </a:solidFill>
            <a:round/>
          </a:ln>
        </p:spPr>
        <p:style>
          <a:lnRef idx="0"/>
          <a:fillRef idx="0"/>
          <a:effectRef idx="0"/>
          <a:fontRef idx="minor"/>
        </p:style>
        <p:txBody>
          <a:bodyPr lIns="90000" rIns="90000" tIns="-44640" bIns="-44640" anchor="t" anchorCtr="1">
            <a:noAutofit/>
          </a:bodyPr>
          <a:p>
            <a:endParaRPr b="0" lang="en-TR" sz="1800" strike="noStrike" u="none">
              <a:solidFill>
                <a:srgbClr val="000000"/>
              </a:solidFill>
              <a:effectLst/>
              <a:uFillTx/>
              <a:latin typeface="Arial"/>
            </a:endParaRPr>
          </a:p>
        </p:txBody>
      </p:sp>
      <p:sp>
        <p:nvSpPr>
          <p:cNvPr id="259" name="Shape 33"/>
          <p:cNvSpPr/>
          <p:nvPr/>
        </p:nvSpPr>
        <p:spPr>
          <a:xfrm>
            <a:off x="1920240" y="5943600"/>
            <a:ext cx="360" cy="320040"/>
          </a:xfrm>
          <a:prstGeom prst="line">
            <a:avLst/>
          </a:prstGeom>
          <a:ln w="25400">
            <a:solidFill>
              <a:srgbClr val="c0392b"/>
            </a:solidFill>
            <a:round/>
            <a:headEnd len="med" type="triangle" w="med"/>
          </a:ln>
        </p:spPr>
        <p:style>
          <a:lnRef idx="0"/>
          <a:fillRef idx="0"/>
          <a:effectRef idx="0"/>
          <a:fontRef idx="minor"/>
        </p:style>
        <p:txBody>
          <a:bodyPr lIns="90000" rIns="90000" tIns="45000" bIns="45000" anchor="t" anchorCtr="1">
            <a:noAutofit/>
          </a:bodyPr>
          <a:p>
            <a:endParaRPr b="0" lang="en-TR" sz="1800" strike="noStrike" u="none">
              <a:solidFill>
                <a:srgbClr val="000000"/>
              </a:solidFill>
              <a:effectLst/>
              <a:uFillTx/>
              <a:latin typeface="Arial"/>
            </a:endParaRPr>
          </a:p>
        </p:txBody>
      </p:sp>
      <p:sp>
        <p:nvSpPr>
          <p:cNvPr id="260" name="Text 34"/>
          <p:cNvSpPr/>
          <p:nvPr/>
        </p:nvSpPr>
        <p:spPr>
          <a:xfrm>
            <a:off x="2834640" y="6309360"/>
            <a:ext cx="4113720" cy="273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i="1" lang="en-US" sz="1000" strike="noStrike" u="none">
                <a:solidFill>
                  <a:srgbClr val="c0392b"/>
                </a:solidFill>
                <a:effectLst/>
                <a:uFillTx/>
                <a:latin typeface="Calibri"/>
                <a:ea typeface="Calibri"/>
              </a:rPr>
              <a:t>p_acb feedback into SIB1</a:t>
            </a:r>
            <a:endParaRPr b="0" lang="en-TR" sz="1000" strike="noStrike" u="none">
              <a:solidFill>
                <a:srgbClr val="000000"/>
              </a:solidFill>
              <a:effectLst/>
              <a:uFillTx/>
              <a:latin typeface="Arial"/>
            </a:endParaRPr>
          </a:p>
        </p:txBody>
      </p:sp>
      <p:sp>
        <p:nvSpPr>
          <p:cNvPr id="261" name="Shape 35"/>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262" name="Text 36"/>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263" name="Text 37"/>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9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4"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PROPOSED METHOD</a:t>
            </a:r>
            <a:endParaRPr b="0" lang="en-TR" sz="1100" strike="noStrike" u="none">
              <a:solidFill>
                <a:srgbClr val="000000"/>
              </a:solidFill>
              <a:effectLst/>
              <a:uFillTx/>
              <a:latin typeface="Arial"/>
            </a:endParaRPr>
          </a:p>
        </p:txBody>
      </p:sp>
      <p:sp>
        <p:nvSpPr>
          <p:cNvPr id="265"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EMA predictor and ACB control policy</a:t>
            </a:r>
            <a:endParaRPr b="0" lang="en-TR" sz="3000" strike="noStrike" u="none">
              <a:solidFill>
                <a:srgbClr val="000000"/>
              </a:solidFill>
              <a:effectLst/>
              <a:uFillTx/>
              <a:latin typeface="Arial"/>
            </a:endParaRPr>
          </a:p>
        </p:txBody>
      </p:sp>
      <p:sp>
        <p:nvSpPr>
          <p:cNvPr id="266" name="Shape 2"/>
          <p:cNvSpPr/>
          <p:nvPr/>
        </p:nvSpPr>
        <p:spPr>
          <a:xfrm>
            <a:off x="548640" y="1600200"/>
            <a:ext cx="553104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67" name="Shape 3"/>
          <p:cNvSpPr/>
          <p:nvPr/>
        </p:nvSpPr>
        <p:spPr>
          <a:xfrm>
            <a:off x="548640" y="1600200"/>
            <a:ext cx="63000" cy="452520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pic>
        <p:nvPicPr>
          <p:cNvPr id="268" name="Image 0" descr="preencoded.png"/>
          <p:cNvPicPr/>
          <p:nvPr/>
        </p:nvPicPr>
        <p:blipFill>
          <a:blip r:embed="rId1"/>
          <a:stretch/>
        </p:blipFill>
        <p:spPr>
          <a:xfrm>
            <a:off x="822960" y="1783080"/>
            <a:ext cx="364680" cy="364680"/>
          </a:xfrm>
          <a:prstGeom prst="rect">
            <a:avLst/>
          </a:prstGeom>
          <a:noFill/>
          <a:ln w="0">
            <a:noFill/>
          </a:ln>
        </p:spPr>
      </p:pic>
      <p:sp>
        <p:nvSpPr>
          <p:cNvPr id="269" name="Text 4"/>
          <p:cNvSpPr/>
          <p:nvPr/>
        </p:nvSpPr>
        <p:spPr>
          <a:xfrm>
            <a:off x="1325880" y="1783080"/>
            <a:ext cx="461664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a2233"/>
                </a:solidFill>
                <a:effectLst/>
                <a:uFillTx/>
                <a:latin typeface="Cambria"/>
                <a:ea typeface="Cambria"/>
              </a:rPr>
              <a:t>EMA arrival-rate predictor</a:t>
            </a:r>
            <a:endParaRPr b="0" lang="en-TR" sz="1500" strike="noStrike" u="none">
              <a:solidFill>
                <a:srgbClr val="000000"/>
              </a:solidFill>
              <a:effectLst/>
              <a:uFillTx/>
              <a:latin typeface="Arial"/>
            </a:endParaRPr>
          </a:p>
        </p:txBody>
      </p:sp>
      <p:sp>
        <p:nvSpPr>
          <p:cNvPr id="270" name="Shape 5"/>
          <p:cNvSpPr/>
          <p:nvPr/>
        </p:nvSpPr>
        <p:spPr>
          <a:xfrm>
            <a:off x="822960" y="2377440"/>
            <a:ext cx="4982400" cy="1324800"/>
          </a:xfrm>
          <a:prstGeom prst="rect">
            <a:avLst/>
          </a:prstGeom>
          <a:solidFill>
            <a:srgbClr val="f1f4f8"/>
          </a:solidFill>
          <a:ln w="12700">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71" name="Text 6"/>
          <p:cNvSpPr/>
          <p:nvPr/>
        </p:nvSpPr>
        <p:spPr>
          <a:xfrm>
            <a:off x="914400" y="2468880"/>
            <a:ext cx="4799520" cy="1187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onsolas"/>
                <a:ea typeface="Consolas"/>
              </a:rPr>
              <a:t>EMA_t = α · λ_cur + (1 − α) · EMA_{t−1}</a:t>
            </a:r>
            <a:endParaRPr b="0" lang="en-TR" sz="1400" strike="noStrike" u="none">
              <a:solidFill>
                <a:srgbClr val="000000"/>
              </a:solidFill>
              <a:effectLst/>
              <a:uFillTx/>
              <a:latin typeface="Arial"/>
            </a:endParaRPr>
          </a:p>
          <a:p>
            <a:pPr defTabSz="914400">
              <a:lnSpc>
                <a:spcPct val="100000"/>
              </a:lnSpc>
              <a:tabLst>
                <a:tab algn="l" pos="0"/>
              </a:tabLst>
            </a:pPr>
            <a:endParaRPr b="0" lang="en-TR" sz="1400" strike="noStrike" u="none">
              <a:solidFill>
                <a:srgbClr val="000000"/>
              </a:solidFill>
              <a:effectLst/>
              <a:uFillTx/>
              <a:latin typeface="Arial"/>
            </a:endParaRPr>
          </a:p>
          <a:p>
            <a:pPr defTabSz="914400">
              <a:lnSpc>
                <a:spcPct val="100000"/>
              </a:lnSpc>
              <a:tabLst>
                <a:tab algn="l" pos="0"/>
              </a:tabLst>
            </a:pPr>
            <a:r>
              <a:rPr b="1" lang="en-US" sz="1400" strike="noStrike" u="none">
                <a:solidFill>
                  <a:srgbClr val="1a2233"/>
                </a:solidFill>
                <a:effectLst/>
                <a:uFillTx/>
                <a:latin typeface="Consolas"/>
                <a:ea typeface="Consolas"/>
              </a:rPr>
              <a:t>λ_cur = n_win / Δ</a:t>
            </a:r>
            <a:endParaRPr b="0" lang="en-TR" sz="1400" strike="noStrike" u="none">
              <a:solidFill>
                <a:srgbClr val="000000"/>
              </a:solidFill>
              <a:effectLst/>
              <a:uFillTx/>
              <a:latin typeface="Arial"/>
            </a:endParaRPr>
          </a:p>
        </p:txBody>
      </p:sp>
      <p:sp>
        <p:nvSpPr>
          <p:cNvPr id="272" name="Text 7"/>
          <p:cNvSpPr/>
          <p:nvPr/>
        </p:nvSpPr>
        <p:spPr>
          <a:xfrm>
            <a:off x="822960" y="3840480"/>
            <a:ext cx="4982400" cy="118764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400"/>
              </a:spcAft>
              <a:buClr>
                <a:srgbClr val="334155"/>
              </a:buClr>
              <a:buFont typeface="Symbol" charset="2"/>
              <a:buChar char=""/>
            </a:pPr>
            <a:r>
              <a:rPr b="0" lang="en-US" sz="1200" strike="noStrike" u="none">
                <a:solidFill>
                  <a:srgbClr val="334155"/>
                </a:solidFill>
                <a:effectLst/>
                <a:uFillTx/>
                <a:latin typeface="Calibri"/>
                <a:ea typeface="Calibri"/>
              </a:rPr>
              <a:t>Initial weight α₀ = 0.20  </a:t>
            </a:r>
            <a:endParaRPr b="0" lang="en-TR" sz="1200" strike="noStrike" u="none">
              <a:solidFill>
                <a:srgbClr val="000000"/>
              </a:solidFill>
              <a:effectLst/>
              <a:uFillTx/>
              <a:latin typeface="Arial"/>
            </a:endParaRPr>
          </a:p>
          <a:p>
            <a:pPr marL="343080" indent="-343080" defTabSz="914400">
              <a:lnSpc>
                <a:spcPct val="100000"/>
              </a:lnSpc>
              <a:spcAft>
                <a:spcPts val="400"/>
              </a:spcAft>
              <a:buClr>
                <a:srgbClr val="334155"/>
              </a:buClr>
              <a:buFont typeface="Symbol" charset="2"/>
              <a:buChar char=""/>
            </a:pPr>
            <a:r>
              <a:rPr b="0" lang="en-US" sz="1200" strike="noStrike" u="none">
                <a:solidFill>
                  <a:srgbClr val="334155"/>
                </a:solidFill>
                <a:effectLst/>
                <a:uFillTx/>
                <a:latin typeface="Calibri"/>
                <a:ea typeface="Calibri"/>
              </a:rPr>
              <a:t>α is dynamic — updated by the calibration loop (Stage 3)</a:t>
            </a:r>
            <a:endParaRPr b="0" lang="en-TR" sz="1200" strike="noStrike" u="none">
              <a:solidFill>
                <a:srgbClr val="000000"/>
              </a:solidFill>
              <a:effectLst/>
              <a:uFillTx/>
              <a:latin typeface="Arial"/>
            </a:endParaRPr>
          </a:p>
        </p:txBody>
      </p:sp>
      <p:sp>
        <p:nvSpPr>
          <p:cNvPr id="273" name="Shape 8"/>
          <p:cNvSpPr/>
          <p:nvPr/>
        </p:nvSpPr>
        <p:spPr>
          <a:xfrm>
            <a:off x="822960" y="5212080"/>
            <a:ext cx="4982400" cy="776160"/>
          </a:xfrm>
          <a:prstGeom prst="rect">
            <a:avLst/>
          </a:prstGeom>
          <a:solidFill>
            <a:srgbClr val="e8f4f8"/>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74" name="Text 9"/>
          <p:cNvSpPr/>
          <p:nvPr/>
        </p:nvSpPr>
        <p:spPr>
          <a:xfrm>
            <a:off x="960120" y="5212080"/>
            <a:ext cx="475380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i="1" lang="en-US" sz="1200" strike="noStrike" u="none">
                <a:solidFill>
                  <a:srgbClr val="1a2233"/>
                </a:solidFill>
                <a:effectLst/>
                <a:uFillTx/>
                <a:latin typeface="Calibri"/>
                <a:ea typeface="Calibri"/>
              </a:rPr>
              <a:t>Key insight: p_acb rises before Q_real reaches K — proactive throttling, not reactive.</a:t>
            </a:r>
            <a:endParaRPr b="0" lang="en-TR" sz="1200" strike="noStrike" u="none">
              <a:solidFill>
                <a:srgbClr val="000000"/>
              </a:solidFill>
              <a:effectLst/>
              <a:uFillTx/>
              <a:latin typeface="Arial"/>
            </a:endParaRPr>
          </a:p>
        </p:txBody>
      </p:sp>
      <p:sp>
        <p:nvSpPr>
          <p:cNvPr id="275" name="Shape 10"/>
          <p:cNvSpPr/>
          <p:nvPr/>
        </p:nvSpPr>
        <p:spPr>
          <a:xfrm>
            <a:off x="6263640" y="1600200"/>
            <a:ext cx="553104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76" name="Shape 11"/>
          <p:cNvSpPr/>
          <p:nvPr/>
        </p:nvSpPr>
        <p:spPr>
          <a:xfrm>
            <a:off x="6263640" y="1600200"/>
            <a:ext cx="63000" cy="452520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pic>
        <p:nvPicPr>
          <p:cNvPr id="277" name="Image 1" descr="preencoded.png"/>
          <p:cNvPicPr/>
          <p:nvPr/>
        </p:nvPicPr>
        <p:blipFill>
          <a:blip r:embed="rId2"/>
          <a:stretch/>
        </p:blipFill>
        <p:spPr>
          <a:xfrm>
            <a:off x="6537960" y="1783080"/>
            <a:ext cx="364680" cy="364680"/>
          </a:xfrm>
          <a:prstGeom prst="rect">
            <a:avLst/>
          </a:prstGeom>
          <a:noFill/>
          <a:ln w="0">
            <a:noFill/>
          </a:ln>
        </p:spPr>
      </p:pic>
      <p:sp>
        <p:nvSpPr>
          <p:cNvPr id="278" name="Text 12"/>
          <p:cNvSpPr/>
          <p:nvPr/>
        </p:nvSpPr>
        <p:spPr>
          <a:xfrm>
            <a:off x="7040880" y="1783080"/>
            <a:ext cx="461664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rgbClr val="1a2233"/>
                </a:solidFill>
                <a:effectLst/>
                <a:uFillTx/>
                <a:latin typeface="Cambria"/>
                <a:ea typeface="Cambria"/>
              </a:rPr>
              <a:t>Stochastic barring probability</a:t>
            </a:r>
            <a:endParaRPr b="0" lang="en-TR" sz="1500" strike="noStrike" u="none">
              <a:solidFill>
                <a:srgbClr val="000000"/>
              </a:solidFill>
              <a:effectLst/>
              <a:uFillTx/>
              <a:latin typeface="Arial"/>
            </a:endParaRPr>
          </a:p>
        </p:txBody>
      </p:sp>
      <p:sp>
        <p:nvSpPr>
          <p:cNvPr id="279" name="Shape 13"/>
          <p:cNvSpPr/>
          <p:nvPr/>
        </p:nvSpPr>
        <p:spPr>
          <a:xfrm>
            <a:off x="6537960" y="2377440"/>
            <a:ext cx="4982400" cy="1324800"/>
          </a:xfrm>
          <a:prstGeom prst="rect">
            <a:avLst/>
          </a:prstGeom>
          <a:solidFill>
            <a:srgbClr val="f1f4f8"/>
          </a:solidFill>
          <a:ln w="12700">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80" name="Text 14"/>
          <p:cNvSpPr/>
          <p:nvPr/>
        </p:nvSpPr>
        <p:spPr>
          <a:xfrm>
            <a:off x="6629400" y="2468880"/>
            <a:ext cx="4799520" cy="1187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1a2233"/>
                </a:solidFill>
                <a:effectLst/>
                <a:uFillTx/>
                <a:latin typeface="Consolas"/>
                <a:ea typeface="Consolas"/>
              </a:rPr>
              <a:t>p_acb = max(0, min(1, 1 − (K − Q_real) / max(EMA_t · Δ, 1e−9)))</a:t>
            </a:r>
            <a:endParaRPr b="0" lang="en-TR" sz="1300" strike="noStrike" u="none">
              <a:solidFill>
                <a:srgbClr val="000000"/>
              </a:solidFill>
              <a:effectLst/>
              <a:uFillTx/>
              <a:latin typeface="Arial"/>
            </a:endParaRPr>
          </a:p>
        </p:txBody>
      </p:sp>
      <p:sp>
        <p:nvSpPr>
          <p:cNvPr id="281" name="Text 15"/>
          <p:cNvSpPr/>
          <p:nvPr/>
        </p:nvSpPr>
        <p:spPr>
          <a:xfrm>
            <a:off x="6537960" y="3840480"/>
            <a:ext cx="4982400" cy="219348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499"/>
              </a:spcAft>
              <a:buClr>
                <a:srgbClr val="334155"/>
              </a:buClr>
              <a:buFont typeface="Symbol" charset="2"/>
              <a:buChar char=""/>
            </a:pPr>
            <a:r>
              <a:rPr b="0" lang="en-US" sz="1200" strike="noStrike" u="none">
                <a:solidFill>
                  <a:srgbClr val="334155"/>
                </a:solidFill>
                <a:effectLst/>
                <a:uFillTx/>
                <a:latin typeface="Calibri"/>
                <a:ea typeface="Calibri"/>
              </a:rPr>
              <a:t>Minimum probability to prevent Q_real ≥ K next step</a:t>
            </a:r>
            <a:endParaRPr b="0" lang="en-TR" sz="1200" strike="noStrike" u="none">
              <a:solidFill>
                <a:srgbClr val="000000"/>
              </a:solidFill>
              <a:effectLst/>
              <a:uFillTx/>
              <a:latin typeface="Arial"/>
            </a:endParaRPr>
          </a:p>
          <a:p>
            <a:pPr marL="343080" indent="-343080" defTabSz="914400">
              <a:lnSpc>
                <a:spcPct val="100000"/>
              </a:lnSpc>
              <a:spcAft>
                <a:spcPts val="499"/>
              </a:spcAft>
              <a:buClr>
                <a:srgbClr val="334155"/>
              </a:buClr>
              <a:buFont typeface="Symbol" charset="2"/>
              <a:buChar char=""/>
            </a:pPr>
            <a:r>
              <a:rPr b="0" lang="en-US" sz="1200" strike="noStrike" u="none">
                <a:solidFill>
                  <a:srgbClr val="334155"/>
                </a:solidFill>
                <a:effectLst/>
                <a:uFillTx/>
                <a:latin typeface="Calibri"/>
                <a:ea typeface="Calibri"/>
              </a:rPr>
              <a:t>Applied as a Bernoulli trial per request</a:t>
            </a:r>
            <a:endParaRPr b="0" lang="en-TR" sz="1200" strike="noStrike" u="none">
              <a:solidFill>
                <a:srgbClr val="000000"/>
              </a:solidFill>
              <a:effectLst/>
              <a:uFillTx/>
              <a:latin typeface="Arial"/>
            </a:endParaRPr>
          </a:p>
          <a:p>
            <a:pPr marL="343080" indent="-343080" defTabSz="914400">
              <a:lnSpc>
                <a:spcPct val="100000"/>
              </a:lnSpc>
              <a:spcAft>
                <a:spcPts val="499"/>
              </a:spcAft>
              <a:buClr>
                <a:srgbClr val="334155"/>
              </a:buClr>
              <a:buFont typeface="Symbol" charset="2"/>
              <a:buChar char=""/>
            </a:pPr>
            <a:r>
              <a:rPr b="0" lang="en-US" sz="1200" strike="noStrike" u="none">
                <a:solidFill>
                  <a:srgbClr val="334155"/>
                </a:solidFill>
                <a:effectLst/>
                <a:uFillTx/>
                <a:latin typeface="Calibri"/>
                <a:ea typeface="Calibri"/>
              </a:rPr>
              <a:t>Maps to uac-BarringInfo in SIB1 (3GPP TS 38.331)</a:t>
            </a:r>
            <a:endParaRPr b="0" lang="en-TR" sz="1200" strike="noStrike" u="none">
              <a:solidFill>
                <a:srgbClr val="000000"/>
              </a:solidFill>
              <a:effectLst/>
              <a:uFillTx/>
              <a:latin typeface="Arial"/>
            </a:endParaRPr>
          </a:p>
        </p:txBody>
      </p:sp>
      <p:sp>
        <p:nvSpPr>
          <p:cNvPr id="282" name="Shape 16"/>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283" name="Text 17"/>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284" name="Text 18"/>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10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5"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PROPOSED METHOD</a:t>
            </a:r>
            <a:endParaRPr b="0" lang="en-TR" sz="1100" strike="noStrike" u="none">
              <a:solidFill>
                <a:srgbClr val="000000"/>
              </a:solidFill>
              <a:effectLst/>
              <a:uFillTx/>
              <a:latin typeface="Arial"/>
            </a:endParaRPr>
          </a:p>
        </p:txBody>
      </p:sp>
      <p:sp>
        <p:nvSpPr>
          <p:cNvPr id="286"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Continuous calibration loop</a:t>
            </a:r>
            <a:endParaRPr b="0" lang="en-TR" sz="3000" strike="noStrike" u="none">
              <a:solidFill>
                <a:srgbClr val="000000"/>
              </a:solidFill>
              <a:effectLst/>
              <a:uFillTx/>
              <a:latin typeface="Arial"/>
            </a:endParaRPr>
          </a:p>
        </p:txBody>
      </p:sp>
      <p:sp>
        <p:nvSpPr>
          <p:cNvPr id="287" name="Shape 2"/>
          <p:cNvSpPr/>
          <p:nvPr/>
        </p:nvSpPr>
        <p:spPr>
          <a:xfrm>
            <a:off x="548640" y="1554480"/>
            <a:ext cx="1106316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88" name="Shape 3"/>
          <p:cNvSpPr/>
          <p:nvPr/>
        </p:nvSpPr>
        <p:spPr>
          <a:xfrm>
            <a:off x="548640" y="1554480"/>
            <a:ext cx="63000" cy="10504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289" name="Text 4"/>
          <p:cNvSpPr/>
          <p:nvPr/>
        </p:nvSpPr>
        <p:spPr>
          <a:xfrm>
            <a:off x="777240" y="1627560"/>
            <a:ext cx="36565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065a82"/>
                </a:solidFill>
                <a:effectLst/>
                <a:uFillTx/>
                <a:latin typeface="Cambria"/>
                <a:ea typeface="Cambria"/>
              </a:rPr>
              <a:t>State-mirroring error</a:t>
            </a:r>
            <a:endParaRPr b="0" lang="en-TR" sz="1400" strike="noStrike" u="none">
              <a:solidFill>
                <a:srgbClr val="000000"/>
              </a:solidFill>
              <a:effectLst/>
              <a:uFillTx/>
              <a:latin typeface="Arial"/>
            </a:endParaRPr>
          </a:p>
        </p:txBody>
      </p:sp>
      <p:sp>
        <p:nvSpPr>
          <p:cNvPr id="290" name="Text 5"/>
          <p:cNvSpPr/>
          <p:nvPr/>
        </p:nvSpPr>
        <p:spPr>
          <a:xfrm>
            <a:off x="777240" y="1993320"/>
            <a:ext cx="10514520" cy="547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2233"/>
                </a:solidFill>
                <a:effectLst/>
                <a:uFillTx/>
                <a:latin typeface="Consolas"/>
                <a:ea typeface="Consolas"/>
              </a:rPr>
              <a:t>E(t) = | Q_real(t) − Q_virtual(t) |</a:t>
            </a:r>
            <a:endParaRPr b="0" lang="en-TR" sz="1800" strike="noStrike" u="none">
              <a:solidFill>
                <a:srgbClr val="000000"/>
              </a:solidFill>
              <a:effectLst/>
              <a:uFillTx/>
              <a:latin typeface="Arial"/>
            </a:endParaRPr>
          </a:p>
        </p:txBody>
      </p:sp>
      <p:sp>
        <p:nvSpPr>
          <p:cNvPr id="291" name="Shape 6"/>
          <p:cNvSpPr/>
          <p:nvPr/>
        </p:nvSpPr>
        <p:spPr>
          <a:xfrm>
            <a:off x="548640" y="2743200"/>
            <a:ext cx="5531040" cy="3382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92" name="Shape 7"/>
          <p:cNvSpPr/>
          <p:nvPr/>
        </p:nvSpPr>
        <p:spPr>
          <a:xfrm>
            <a:off x="548640" y="2743200"/>
            <a:ext cx="63000" cy="338220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93" name="Text 8"/>
          <p:cNvSpPr/>
          <p:nvPr/>
        </p:nvSpPr>
        <p:spPr>
          <a:xfrm>
            <a:off x="777240" y="2834640"/>
            <a:ext cx="511956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Asymmetric step rule</a:t>
            </a:r>
            <a:endParaRPr b="0" lang="en-TR" sz="1400" strike="noStrike" u="none">
              <a:solidFill>
                <a:srgbClr val="000000"/>
              </a:solidFill>
              <a:effectLst/>
              <a:uFillTx/>
              <a:latin typeface="Arial"/>
            </a:endParaRPr>
          </a:p>
        </p:txBody>
      </p:sp>
      <p:sp>
        <p:nvSpPr>
          <p:cNvPr id="294" name="Shape 9"/>
          <p:cNvSpPr/>
          <p:nvPr/>
        </p:nvSpPr>
        <p:spPr>
          <a:xfrm>
            <a:off x="777240" y="3246120"/>
            <a:ext cx="5073840" cy="1416240"/>
          </a:xfrm>
          <a:prstGeom prst="rect">
            <a:avLst/>
          </a:prstGeom>
          <a:solidFill>
            <a:srgbClr val="f1f4f8"/>
          </a:solidFill>
          <a:ln w="12700">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95" name="Text 10"/>
          <p:cNvSpPr/>
          <p:nvPr/>
        </p:nvSpPr>
        <p:spPr>
          <a:xfrm>
            <a:off x="914400" y="3291840"/>
            <a:ext cx="4845240" cy="1324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c0392b"/>
                </a:solidFill>
                <a:effectLst/>
                <a:uFillTx/>
                <a:latin typeface="Consolas"/>
                <a:ea typeface="Consolas"/>
              </a:rPr>
              <a:t>if  E &gt; ε  :</a:t>
            </a:r>
            <a:endParaRPr b="0" lang="en-TR" sz="1300" strike="noStrike" u="none">
              <a:solidFill>
                <a:srgbClr val="000000"/>
              </a:solidFill>
              <a:effectLst/>
              <a:uFillTx/>
              <a:latin typeface="Arial"/>
            </a:endParaRPr>
          </a:p>
          <a:p>
            <a:pPr defTabSz="914400">
              <a:lnSpc>
                <a:spcPct val="100000"/>
              </a:lnSpc>
              <a:tabLst>
                <a:tab algn="l" pos="0"/>
              </a:tabLst>
            </a:pPr>
            <a:r>
              <a:rPr b="0" lang="en-US" sz="1300" strike="noStrike" u="none">
                <a:solidFill>
                  <a:srgbClr val="1a2233"/>
                </a:solidFill>
                <a:effectLst/>
                <a:uFillTx/>
                <a:latin typeface="Consolas"/>
                <a:ea typeface="Consolas"/>
              </a:rPr>
              <a:t>    α ← min(α_max, α + δ⁺)</a:t>
            </a:r>
            <a:endParaRPr b="0" lang="en-TR" sz="1300" strike="noStrike" u="none">
              <a:solidFill>
                <a:srgbClr val="000000"/>
              </a:solidFill>
              <a:effectLst/>
              <a:uFillTx/>
              <a:latin typeface="Arial"/>
            </a:endParaRPr>
          </a:p>
          <a:p>
            <a:pPr defTabSz="914400">
              <a:lnSpc>
                <a:spcPct val="100000"/>
              </a:lnSpc>
              <a:tabLst>
                <a:tab algn="l" pos="0"/>
              </a:tabLst>
            </a:pPr>
            <a:r>
              <a:rPr b="1" lang="en-US" sz="1300" strike="noStrike" u="none">
                <a:solidFill>
                  <a:srgbClr val="0e8a6b"/>
                </a:solidFill>
                <a:effectLst/>
                <a:uFillTx/>
                <a:latin typeface="Consolas"/>
                <a:ea typeface="Consolas"/>
              </a:rPr>
              <a:t>else:</a:t>
            </a:r>
            <a:endParaRPr b="0" lang="en-TR" sz="1300" strike="noStrike" u="none">
              <a:solidFill>
                <a:srgbClr val="000000"/>
              </a:solidFill>
              <a:effectLst/>
              <a:uFillTx/>
              <a:latin typeface="Arial"/>
            </a:endParaRPr>
          </a:p>
          <a:p>
            <a:pPr defTabSz="914400">
              <a:lnSpc>
                <a:spcPct val="100000"/>
              </a:lnSpc>
              <a:tabLst>
                <a:tab algn="l" pos="0"/>
              </a:tabLst>
            </a:pPr>
            <a:r>
              <a:rPr b="0" lang="en-US" sz="1300" strike="noStrike" u="none">
                <a:solidFill>
                  <a:srgbClr val="1a2233"/>
                </a:solidFill>
                <a:effectLst/>
                <a:uFillTx/>
                <a:latin typeface="Consolas"/>
                <a:ea typeface="Consolas"/>
              </a:rPr>
              <a:t>    α ← max(α_min, α − δ⁻)</a:t>
            </a:r>
            <a:endParaRPr b="0" lang="en-TR" sz="1300" strike="noStrike" u="none">
              <a:solidFill>
                <a:srgbClr val="000000"/>
              </a:solidFill>
              <a:effectLst/>
              <a:uFillTx/>
              <a:latin typeface="Arial"/>
            </a:endParaRPr>
          </a:p>
        </p:txBody>
      </p:sp>
      <p:sp>
        <p:nvSpPr>
          <p:cNvPr id="296" name="Shape 11"/>
          <p:cNvSpPr/>
          <p:nvPr/>
        </p:nvSpPr>
        <p:spPr>
          <a:xfrm>
            <a:off x="777240" y="4800600"/>
            <a:ext cx="1626480" cy="1141920"/>
          </a:xfrm>
          <a:prstGeom prst="roundRect">
            <a:avLst>
              <a:gd name="adj" fmla="val 4000"/>
            </a:avLst>
          </a:prstGeom>
          <a:solidFill>
            <a:srgbClr val="f7f9fc"/>
          </a:solidFill>
          <a:ln w="12700">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297" name="Text 12"/>
          <p:cNvSpPr/>
          <p:nvPr/>
        </p:nvSpPr>
        <p:spPr>
          <a:xfrm>
            <a:off x="777240" y="4846320"/>
            <a:ext cx="1626480" cy="410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065a82"/>
                </a:solidFill>
                <a:effectLst/>
                <a:uFillTx/>
                <a:latin typeface="Consolas"/>
                <a:ea typeface="Consolas"/>
              </a:rPr>
              <a:t>ε</a:t>
            </a:r>
            <a:endParaRPr b="0" lang="en-TR" sz="1800" strike="noStrike" u="none">
              <a:solidFill>
                <a:srgbClr val="000000"/>
              </a:solidFill>
              <a:effectLst/>
              <a:uFillTx/>
              <a:latin typeface="Arial"/>
            </a:endParaRPr>
          </a:p>
        </p:txBody>
      </p:sp>
      <p:sp>
        <p:nvSpPr>
          <p:cNvPr id="298" name="Text 13"/>
          <p:cNvSpPr/>
          <p:nvPr/>
        </p:nvSpPr>
        <p:spPr>
          <a:xfrm>
            <a:off x="777240" y="5212080"/>
            <a:ext cx="1626480" cy="364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1a2233"/>
                </a:solidFill>
                <a:effectLst/>
                <a:uFillTx/>
                <a:latin typeface="Consolas"/>
                <a:ea typeface="Consolas"/>
              </a:rPr>
              <a:t>10</a:t>
            </a:r>
            <a:endParaRPr b="0" lang="en-TR" sz="1600" strike="noStrike" u="none">
              <a:solidFill>
                <a:srgbClr val="000000"/>
              </a:solidFill>
              <a:effectLst/>
              <a:uFillTx/>
              <a:latin typeface="Arial"/>
            </a:endParaRPr>
          </a:p>
        </p:txBody>
      </p:sp>
      <p:sp>
        <p:nvSpPr>
          <p:cNvPr id="299" name="Text 14"/>
          <p:cNvSpPr/>
          <p:nvPr/>
        </p:nvSpPr>
        <p:spPr>
          <a:xfrm>
            <a:off x="822960" y="5577840"/>
            <a:ext cx="1535040" cy="318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50" strike="noStrike" u="none">
                <a:solidFill>
                  <a:srgbClr val="64748b"/>
                </a:solidFill>
                <a:effectLst/>
                <a:uFillTx/>
                <a:latin typeface="Calibri"/>
                <a:ea typeface="Calibri"/>
              </a:rPr>
              <a:t>calibration threshold</a:t>
            </a:r>
            <a:endParaRPr b="0" lang="en-TR" sz="950" strike="noStrike" u="none">
              <a:solidFill>
                <a:srgbClr val="000000"/>
              </a:solidFill>
              <a:effectLst/>
              <a:uFillTx/>
              <a:latin typeface="Arial"/>
            </a:endParaRPr>
          </a:p>
        </p:txBody>
      </p:sp>
      <p:sp>
        <p:nvSpPr>
          <p:cNvPr id="300" name="Shape 15"/>
          <p:cNvSpPr/>
          <p:nvPr/>
        </p:nvSpPr>
        <p:spPr>
          <a:xfrm>
            <a:off x="2496240" y="4800600"/>
            <a:ext cx="1626480" cy="1141920"/>
          </a:xfrm>
          <a:prstGeom prst="roundRect">
            <a:avLst>
              <a:gd name="adj" fmla="val 4000"/>
            </a:avLst>
          </a:prstGeom>
          <a:solidFill>
            <a:srgbClr val="f7f9fc"/>
          </a:solidFill>
          <a:ln w="12700">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01" name="Text 16"/>
          <p:cNvSpPr/>
          <p:nvPr/>
        </p:nvSpPr>
        <p:spPr>
          <a:xfrm>
            <a:off x="2496240" y="4846320"/>
            <a:ext cx="1626480" cy="410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065a82"/>
                </a:solidFill>
                <a:effectLst/>
                <a:uFillTx/>
                <a:latin typeface="Consolas"/>
                <a:ea typeface="Consolas"/>
              </a:rPr>
              <a:t>δ⁺</a:t>
            </a:r>
            <a:endParaRPr b="0" lang="en-TR" sz="1800" strike="noStrike" u="none">
              <a:solidFill>
                <a:srgbClr val="000000"/>
              </a:solidFill>
              <a:effectLst/>
              <a:uFillTx/>
              <a:latin typeface="Arial"/>
            </a:endParaRPr>
          </a:p>
        </p:txBody>
      </p:sp>
      <p:sp>
        <p:nvSpPr>
          <p:cNvPr id="302" name="Text 17"/>
          <p:cNvSpPr/>
          <p:nvPr/>
        </p:nvSpPr>
        <p:spPr>
          <a:xfrm>
            <a:off x="2496240" y="5212080"/>
            <a:ext cx="1626480" cy="364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1a2233"/>
                </a:solidFill>
                <a:effectLst/>
                <a:uFillTx/>
                <a:latin typeface="Consolas"/>
                <a:ea typeface="Consolas"/>
              </a:rPr>
              <a:t>0.05</a:t>
            </a:r>
            <a:endParaRPr b="0" lang="en-TR" sz="1600" strike="noStrike" u="none">
              <a:solidFill>
                <a:srgbClr val="000000"/>
              </a:solidFill>
              <a:effectLst/>
              <a:uFillTx/>
              <a:latin typeface="Arial"/>
            </a:endParaRPr>
          </a:p>
        </p:txBody>
      </p:sp>
      <p:sp>
        <p:nvSpPr>
          <p:cNvPr id="303" name="Text 18"/>
          <p:cNvSpPr/>
          <p:nvPr/>
        </p:nvSpPr>
        <p:spPr>
          <a:xfrm>
            <a:off x="2541960" y="5577840"/>
            <a:ext cx="1535040" cy="318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50" strike="noStrike" u="none">
                <a:solidFill>
                  <a:srgbClr val="64748b"/>
                </a:solidFill>
                <a:effectLst/>
                <a:uFillTx/>
                <a:latin typeface="Calibri"/>
                <a:ea typeface="Calibri"/>
              </a:rPr>
              <a:t>fast attack response</a:t>
            </a:r>
            <a:endParaRPr b="0" lang="en-TR" sz="950" strike="noStrike" u="none">
              <a:solidFill>
                <a:srgbClr val="000000"/>
              </a:solidFill>
              <a:effectLst/>
              <a:uFillTx/>
              <a:latin typeface="Arial"/>
            </a:endParaRPr>
          </a:p>
        </p:txBody>
      </p:sp>
      <p:sp>
        <p:nvSpPr>
          <p:cNvPr id="304" name="Shape 19"/>
          <p:cNvSpPr/>
          <p:nvPr/>
        </p:nvSpPr>
        <p:spPr>
          <a:xfrm>
            <a:off x="4215240" y="4800600"/>
            <a:ext cx="1626480" cy="1141920"/>
          </a:xfrm>
          <a:prstGeom prst="roundRect">
            <a:avLst>
              <a:gd name="adj" fmla="val 4000"/>
            </a:avLst>
          </a:prstGeom>
          <a:solidFill>
            <a:srgbClr val="f7f9fc"/>
          </a:solidFill>
          <a:ln w="12700">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05" name="Text 20"/>
          <p:cNvSpPr/>
          <p:nvPr/>
        </p:nvSpPr>
        <p:spPr>
          <a:xfrm>
            <a:off x="4215240" y="4846320"/>
            <a:ext cx="1626480" cy="410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065a82"/>
                </a:solidFill>
                <a:effectLst/>
                <a:uFillTx/>
                <a:latin typeface="Consolas"/>
                <a:ea typeface="Consolas"/>
              </a:rPr>
              <a:t>δ⁻</a:t>
            </a:r>
            <a:endParaRPr b="0" lang="en-TR" sz="1800" strike="noStrike" u="none">
              <a:solidFill>
                <a:srgbClr val="000000"/>
              </a:solidFill>
              <a:effectLst/>
              <a:uFillTx/>
              <a:latin typeface="Arial"/>
            </a:endParaRPr>
          </a:p>
        </p:txBody>
      </p:sp>
      <p:sp>
        <p:nvSpPr>
          <p:cNvPr id="306" name="Text 21"/>
          <p:cNvSpPr/>
          <p:nvPr/>
        </p:nvSpPr>
        <p:spPr>
          <a:xfrm>
            <a:off x="4215240" y="5212080"/>
            <a:ext cx="1626480" cy="364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1a2233"/>
                </a:solidFill>
                <a:effectLst/>
                <a:uFillTx/>
                <a:latin typeface="Consolas"/>
                <a:ea typeface="Consolas"/>
              </a:rPr>
              <a:t>0.01</a:t>
            </a:r>
            <a:endParaRPr b="0" lang="en-TR" sz="1600" strike="noStrike" u="none">
              <a:solidFill>
                <a:srgbClr val="000000"/>
              </a:solidFill>
              <a:effectLst/>
              <a:uFillTx/>
              <a:latin typeface="Arial"/>
            </a:endParaRPr>
          </a:p>
        </p:txBody>
      </p:sp>
      <p:sp>
        <p:nvSpPr>
          <p:cNvPr id="307" name="Text 22"/>
          <p:cNvSpPr/>
          <p:nvPr/>
        </p:nvSpPr>
        <p:spPr>
          <a:xfrm>
            <a:off x="4260960" y="5577840"/>
            <a:ext cx="1535040" cy="318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50" strike="noStrike" u="none">
                <a:solidFill>
                  <a:srgbClr val="64748b"/>
                </a:solidFill>
                <a:effectLst/>
                <a:uFillTx/>
                <a:latin typeface="Calibri"/>
                <a:ea typeface="Calibri"/>
              </a:rPr>
              <a:t>slow decay (stability)</a:t>
            </a:r>
            <a:endParaRPr b="0" lang="en-TR" sz="950" strike="noStrike" u="none">
              <a:solidFill>
                <a:srgbClr val="000000"/>
              </a:solidFill>
              <a:effectLst/>
              <a:uFillTx/>
              <a:latin typeface="Arial"/>
            </a:endParaRPr>
          </a:p>
        </p:txBody>
      </p:sp>
      <p:sp>
        <p:nvSpPr>
          <p:cNvPr id="308" name="Shape 23"/>
          <p:cNvSpPr/>
          <p:nvPr/>
        </p:nvSpPr>
        <p:spPr>
          <a:xfrm>
            <a:off x="6263640" y="2743200"/>
            <a:ext cx="5531040" cy="159912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09" name="Shape 24"/>
          <p:cNvSpPr/>
          <p:nvPr/>
        </p:nvSpPr>
        <p:spPr>
          <a:xfrm>
            <a:off x="6263640" y="2743200"/>
            <a:ext cx="63000" cy="1599120"/>
          </a:xfrm>
          <a:prstGeom prst="rect">
            <a:avLst/>
          </a:prstGeom>
          <a:solidFill>
            <a:srgbClr val="c0392b"/>
          </a:solidFill>
          <a:ln w="12700">
            <a:solidFill>
              <a:srgbClr val="c0392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10" name="Text 25"/>
          <p:cNvSpPr/>
          <p:nvPr/>
        </p:nvSpPr>
        <p:spPr>
          <a:xfrm>
            <a:off x="6492240" y="2834640"/>
            <a:ext cx="516528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c0392b"/>
                </a:solidFill>
                <a:effectLst/>
                <a:uFillTx/>
                <a:latin typeface="Cambria"/>
                <a:ea typeface="Cambria"/>
              </a:rPr>
              <a:t>Attack onset:  δ⁺ = 0.05  (fast)</a:t>
            </a:r>
            <a:endParaRPr b="0" lang="en-TR" sz="1350" strike="noStrike" u="none">
              <a:solidFill>
                <a:srgbClr val="000000"/>
              </a:solidFill>
              <a:effectLst/>
              <a:uFillTx/>
              <a:latin typeface="Arial"/>
            </a:endParaRPr>
          </a:p>
        </p:txBody>
      </p:sp>
      <p:sp>
        <p:nvSpPr>
          <p:cNvPr id="311" name="Text 26"/>
          <p:cNvSpPr/>
          <p:nvPr/>
        </p:nvSpPr>
        <p:spPr>
          <a:xfrm>
            <a:off x="6537960" y="3246120"/>
            <a:ext cx="5073840" cy="100476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300"/>
              </a:spcAft>
              <a:buClr>
                <a:srgbClr val="334155"/>
              </a:buClr>
              <a:buFont typeface="Symbol" charset="2"/>
              <a:buChar char=""/>
            </a:pPr>
            <a:r>
              <a:rPr b="0" lang="en-US" sz="1200" strike="noStrike" u="none">
                <a:solidFill>
                  <a:srgbClr val="334155"/>
                </a:solidFill>
                <a:effectLst/>
                <a:uFillTx/>
                <a:latin typeface="Calibri"/>
                <a:ea typeface="Calibri"/>
              </a:rPr>
              <a:t>EMA becomes high-frequency</a:t>
            </a:r>
            <a:endParaRPr b="0" lang="en-TR" sz="1200" strike="noStrike" u="none">
              <a:solidFill>
                <a:srgbClr val="000000"/>
              </a:solidFill>
              <a:effectLst/>
              <a:uFillTx/>
              <a:latin typeface="Arial"/>
            </a:endParaRPr>
          </a:p>
          <a:p>
            <a:pPr marL="343080" indent="-343080" defTabSz="914400">
              <a:lnSpc>
                <a:spcPct val="100000"/>
              </a:lnSpc>
              <a:spcAft>
                <a:spcPts val="300"/>
              </a:spcAft>
              <a:buClr>
                <a:srgbClr val="334155"/>
              </a:buClr>
              <a:buFont typeface="Symbol" charset="2"/>
              <a:buChar char=""/>
            </a:pPr>
            <a:r>
              <a:rPr b="0" lang="en-US" sz="1200" strike="noStrike" u="none">
                <a:solidFill>
                  <a:srgbClr val="334155"/>
                </a:solidFill>
                <a:effectLst/>
                <a:uFillTx/>
                <a:latin typeface="Calibri"/>
                <a:ea typeface="Calibri"/>
              </a:rPr>
              <a:t>Outdated observations discarded quickly</a:t>
            </a:r>
            <a:endParaRPr b="0" lang="en-TR" sz="1200" strike="noStrike" u="none">
              <a:solidFill>
                <a:srgbClr val="000000"/>
              </a:solidFill>
              <a:effectLst/>
              <a:uFillTx/>
              <a:latin typeface="Arial"/>
            </a:endParaRPr>
          </a:p>
        </p:txBody>
      </p:sp>
      <p:sp>
        <p:nvSpPr>
          <p:cNvPr id="312" name="Shape 27"/>
          <p:cNvSpPr/>
          <p:nvPr/>
        </p:nvSpPr>
        <p:spPr>
          <a:xfrm>
            <a:off x="6263640" y="4526280"/>
            <a:ext cx="5531040" cy="159912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13" name="Shape 28"/>
          <p:cNvSpPr/>
          <p:nvPr/>
        </p:nvSpPr>
        <p:spPr>
          <a:xfrm>
            <a:off x="6263640" y="4526280"/>
            <a:ext cx="63000" cy="1599120"/>
          </a:xfrm>
          <a:prstGeom prst="rect">
            <a:avLst/>
          </a:prstGeom>
          <a:solidFill>
            <a:srgbClr val="0e8a6b"/>
          </a:solidFill>
          <a:ln w="12700">
            <a:solidFill>
              <a:srgbClr val="0e8a6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14" name="Text 29"/>
          <p:cNvSpPr/>
          <p:nvPr/>
        </p:nvSpPr>
        <p:spPr>
          <a:xfrm>
            <a:off x="6492240" y="4617720"/>
            <a:ext cx="516528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0e8a6b"/>
                </a:solidFill>
                <a:effectLst/>
                <a:uFillTx/>
                <a:latin typeface="Cambria"/>
                <a:ea typeface="Cambria"/>
              </a:rPr>
              <a:t>Normal traffic:  δ⁻ = 0.01  (slow)</a:t>
            </a:r>
            <a:endParaRPr b="0" lang="en-TR" sz="1350" strike="noStrike" u="none">
              <a:solidFill>
                <a:srgbClr val="000000"/>
              </a:solidFill>
              <a:effectLst/>
              <a:uFillTx/>
              <a:latin typeface="Arial"/>
            </a:endParaRPr>
          </a:p>
        </p:txBody>
      </p:sp>
      <p:sp>
        <p:nvSpPr>
          <p:cNvPr id="315" name="Text 30"/>
          <p:cNvSpPr/>
          <p:nvPr/>
        </p:nvSpPr>
        <p:spPr>
          <a:xfrm>
            <a:off x="6537960" y="5029200"/>
            <a:ext cx="5073840" cy="100476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300"/>
              </a:spcAft>
              <a:buClr>
                <a:srgbClr val="334155"/>
              </a:buClr>
              <a:buFont typeface="Symbol" charset="2"/>
              <a:buChar char=""/>
            </a:pPr>
            <a:r>
              <a:rPr b="0" lang="en-US" sz="1200" strike="noStrike" u="none">
                <a:solidFill>
                  <a:srgbClr val="334155"/>
                </a:solidFill>
                <a:effectLst/>
                <a:uFillTx/>
                <a:latin typeface="Calibri"/>
                <a:ea typeface="Calibri"/>
              </a:rPr>
              <a:t>Statistical stability preserved</a:t>
            </a:r>
            <a:endParaRPr b="0" lang="en-TR" sz="1200" strike="noStrike" u="none">
              <a:solidFill>
                <a:srgbClr val="000000"/>
              </a:solidFill>
              <a:effectLst/>
              <a:uFillTx/>
              <a:latin typeface="Arial"/>
            </a:endParaRPr>
          </a:p>
          <a:p>
            <a:pPr marL="343080" indent="-343080" defTabSz="914400">
              <a:lnSpc>
                <a:spcPct val="100000"/>
              </a:lnSpc>
              <a:spcAft>
                <a:spcPts val="300"/>
              </a:spcAft>
              <a:buClr>
                <a:srgbClr val="334155"/>
              </a:buClr>
              <a:buFont typeface="Symbol" charset="2"/>
              <a:buChar char=""/>
            </a:pPr>
            <a:r>
              <a:rPr b="0" lang="en-US" sz="1200" strike="noStrike" u="none">
                <a:solidFill>
                  <a:srgbClr val="334155"/>
                </a:solidFill>
                <a:effectLst/>
                <a:uFillTx/>
                <a:latin typeface="Calibri"/>
                <a:ea typeface="Calibri"/>
              </a:rPr>
              <a:t>Avoids oscillation around ε</a:t>
            </a:r>
            <a:endParaRPr b="0" lang="en-TR" sz="1200" strike="noStrike" u="none">
              <a:solidFill>
                <a:srgbClr val="000000"/>
              </a:solidFill>
              <a:effectLst/>
              <a:uFillTx/>
              <a:latin typeface="Arial"/>
            </a:endParaRPr>
          </a:p>
        </p:txBody>
      </p:sp>
      <p:sp>
        <p:nvSpPr>
          <p:cNvPr id="316" name="Shape 31"/>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317" name="Text 32"/>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318" name="Text 33"/>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11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9"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ALGORITHM 1</a:t>
            </a:r>
            <a:endParaRPr b="0" lang="en-TR" sz="1100" strike="noStrike" u="none">
              <a:solidFill>
                <a:srgbClr val="000000"/>
              </a:solidFill>
              <a:effectLst/>
              <a:uFillTx/>
              <a:latin typeface="Arial"/>
            </a:endParaRPr>
          </a:p>
        </p:txBody>
      </p:sp>
      <p:sp>
        <p:nvSpPr>
          <p:cNvPr id="320"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Calibrated DT control loop</a:t>
            </a:r>
            <a:endParaRPr b="0" lang="en-TR" sz="3000" strike="noStrike" u="none">
              <a:solidFill>
                <a:srgbClr val="000000"/>
              </a:solidFill>
              <a:effectLst/>
              <a:uFillTx/>
              <a:latin typeface="Arial"/>
            </a:endParaRPr>
          </a:p>
        </p:txBody>
      </p:sp>
      <p:sp>
        <p:nvSpPr>
          <p:cNvPr id="321" name="Shape 2"/>
          <p:cNvSpPr/>
          <p:nvPr/>
        </p:nvSpPr>
        <p:spPr>
          <a:xfrm>
            <a:off x="548640" y="1600200"/>
            <a:ext cx="6948360" cy="4525200"/>
          </a:xfrm>
          <a:prstGeom prst="rect">
            <a:avLst/>
          </a:prstGeom>
          <a:solidFill>
            <a:srgbClr val="0f172a"/>
          </a:solidFill>
          <a:ln w="12700">
            <a:solidFill>
              <a:srgbClr val="0f172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pic>
        <p:nvPicPr>
          <p:cNvPr id="322" name="Image 0" descr="preencoded.png"/>
          <p:cNvPicPr/>
          <p:nvPr/>
        </p:nvPicPr>
        <p:blipFill>
          <a:blip r:embed="rId1"/>
          <a:stretch/>
        </p:blipFill>
        <p:spPr>
          <a:xfrm>
            <a:off x="777240" y="1783080"/>
            <a:ext cx="364680" cy="364680"/>
          </a:xfrm>
          <a:prstGeom prst="rect">
            <a:avLst/>
          </a:prstGeom>
          <a:noFill/>
          <a:ln w="0">
            <a:noFill/>
          </a:ln>
        </p:spPr>
      </p:pic>
      <p:sp>
        <p:nvSpPr>
          <p:cNvPr id="323" name="Text 3"/>
          <p:cNvSpPr/>
          <p:nvPr/>
        </p:nvSpPr>
        <p:spPr>
          <a:xfrm>
            <a:off x="1280160" y="1783080"/>
            <a:ext cx="603396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f4a11a"/>
                </a:solidFill>
                <a:effectLst/>
                <a:uFillTx/>
                <a:latin typeface="Calibri"/>
                <a:ea typeface="Calibri"/>
              </a:rPr>
              <a:t>Every Δ control step</a:t>
            </a:r>
            <a:endParaRPr b="0" lang="en-TR" sz="1300" strike="noStrike" u="none">
              <a:solidFill>
                <a:srgbClr val="000000"/>
              </a:solidFill>
              <a:effectLst/>
              <a:uFillTx/>
              <a:latin typeface="Arial"/>
            </a:endParaRPr>
          </a:p>
        </p:txBody>
      </p:sp>
      <p:sp>
        <p:nvSpPr>
          <p:cNvPr id="324" name="Text 4"/>
          <p:cNvSpPr/>
          <p:nvPr/>
        </p:nvSpPr>
        <p:spPr>
          <a:xfrm>
            <a:off x="822960" y="2286000"/>
            <a:ext cx="6491160" cy="3702240"/>
          </a:xfrm>
          <a:prstGeom prst="rect">
            <a:avLst/>
          </a:prstGeom>
          <a:noFill/>
          <a:ln w="0">
            <a:noFill/>
          </a:ln>
        </p:spPr>
        <p:style>
          <a:lnRef idx="0"/>
          <a:fillRef idx="0"/>
          <a:effectRef idx="0"/>
          <a:fontRef idx="minor"/>
        </p:style>
        <p:txBody>
          <a:bodyPr lIns="0" rIns="0" tIns="0" bIns="0" anchor="ctr">
            <a:noAutofit/>
          </a:bodyPr>
          <a:p>
            <a:pPr defTabSz="914400">
              <a:lnSpc>
                <a:spcPct val="100000"/>
              </a:lnSpc>
              <a:spcAft>
                <a:spcPts val="400"/>
              </a:spcAft>
              <a:tabLst>
                <a:tab algn="l" pos="0"/>
              </a:tabLst>
            </a:pPr>
            <a:r>
              <a:rPr b="0" lang="en-US" sz="1300" strike="noStrike" u="none">
                <a:solidFill>
                  <a:srgbClr val="e2e8f0"/>
                </a:solidFill>
                <a:effectLst/>
                <a:uFillTx/>
                <a:latin typeface="Consolas"/>
                <a:ea typeface="Consolas"/>
              </a:rPr>
              <a:t>1.  λ_cur ← n_win / Δ</a:t>
            </a:r>
            <a:endParaRPr b="0" lang="en-TR" sz="1300" strike="noStrike" u="none">
              <a:solidFill>
                <a:srgbClr val="000000"/>
              </a:solidFill>
              <a:effectLst/>
              <a:uFillTx/>
              <a:latin typeface="Arial"/>
            </a:endParaRPr>
          </a:p>
          <a:p>
            <a:pPr defTabSz="914400">
              <a:lnSpc>
                <a:spcPct val="100000"/>
              </a:lnSpc>
              <a:spcAft>
                <a:spcPts val="400"/>
              </a:spcAft>
              <a:tabLst>
                <a:tab algn="l" pos="0"/>
              </a:tabLst>
            </a:pPr>
            <a:r>
              <a:rPr b="0" lang="en-US" sz="1300" strike="noStrike" u="none">
                <a:solidFill>
                  <a:srgbClr val="e2e8f0"/>
                </a:solidFill>
                <a:effectLst/>
                <a:uFillTx/>
                <a:latin typeface="Consolas"/>
                <a:ea typeface="Consolas"/>
              </a:rPr>
              <a:t>2.  EMA_t ← α · λ_cur + (1 − α) · EMA_{t−1}</a:t>
            </a:r>
            <a:endParaRPr b="0" lang="en-TR" sz="1300" strike="noStrike" u="none">
              <a:solidFill>
                <a:srgbClr val="000000"/>
              </a:solidFill>
              <a:effectLst/>
              <a:uFillTx/>
              <a:latin typeface="Arial"/>
            </a:endParaRPr>
          </a:p>
          <a:p>
            <a:pPr defTabSz="914400">
              <a:lnSpc>
                <a:spcPct val="100000"/>
              </a:lnSpc>
              <a:spcAft>
                <a:spcPts val="400"/>
              </a:spcAft>
              <a:tabLst>
                <a:tab algn="l" pos="0"/>
              </a:tabLst>
            </a:pPr>
            <a:r>
              <a:rPr b="0" lang="en-US" sz="1300" strike="noStrike" u="none">
                <a:solidFill>
                  <a:srgbClr val="e2e8f0"/>
                </a:solidFill>
                <a:effectLst/>
                <a:uFillTx/>
                <a:latin typeface="Consolas"/>
                <a:ea typeface="Consolas"/>
              </a:rPr>
              <a:t>3.  d ← max(EMA_t · Δ, 1e−9)</a:t>
            </a:r>
            <a:endParaRPr b="0" lang="en-TR" sz="1300" strike="noStrike" u="none">
              <a:solidFill>
                <a:srgbClr val="000000"/>
              </a:solidFill>
              <a:effectLst/>
              <a:uFillTx/>
              <a:latin typeface="Arial"/>
            </a:endParaRPr>
          </a:p>
          <a:p>
            <a:pPr defTabSz="914400">
              <a:lnSpc>
                <a:spcPct val="100000"/>
              </a:lnSpc>
              <a:spcAft>
                <a:spcPts val="400"/>
              </a:spcAft>
              <a:tabLst>
                <a:tab algn="l" pos="0"/>
              </a:tabLst>
            </a:pPr>
            <a:r>
              <a:rPr b="0" lang="en-US" sz="1300" strike="noStrike" u="none">
                <a:solidFill>
                  <a:srgbClr val="e2e8f0"/>
                </a:solidFill>
                <a:effectLst/>
                <a:uFillTx/>
                <a:latin typeface="Consolas"/>
                <a:ea typeface="Consolas"/>
              </a:rPr>
              <a:t>4.  p_acb ← max(0, min(1, 1 − (K − Q_real) / d))</a:t>
            </a:r>
            <a:endParaRPr b="0" lang="en-TR" sz="1300" strike="noStrike" u="none">
              <a:solidFill>
                <a:srgbClr val="000000"/>
              </a:solidFill>
              <a:effectLst/>
              <a:uFillTx/>
              <a:latin typeface="Arial"/>
            </a:endParaRPr>
          </a:p>
          <a:p>
            <a:pPr defTabSz="914400">
              <a:lnSpc>
                <a:spcPct val="100000"/>
              </a:lnSpc>
              <a:spcAft>
                <a:spcPts val="400"/>
              </a:spcAft>
              <a:tabLst>
                <a:tab algn="l" pos="0"/>
              </a:tabLst>
            </a:pPr>
            <a:r>
              <a:rPr b="0" lang="en-US" sz="1300" strike="noStrike" u="none">
                <a:solidFill>
                  <a:srgbClr val="e2e8f0"/>
                </a:solidFill>
                <a:effectLst/>
                <a:uFillTx/>
                <a:latin typeface="Consolas"/>
                <a:ea typeface="Consolas"/>
              </a:rPr>
              <a:t>5.  Q_virtual ← clip(Q_virtual + EMA_t · (1 − p_acb) · Δ − c · Δ, 0, K)</a:t>
            </a:r>
            <a:endParaRPr b="0" lang="en-TR" sz="1300" strike="noStrike" u="none">
              <a:solidFill>
                <a:srgbClr val="000000"/>
              </a:solidFill>
              <a:effectLst/>
              <a:uFillTx/>
              <a:latin typeface="Arial"/>
            </a:endParaRPr>
          </a:p>
          <a:p>
            <a:pPr defTabSz="914400">
              <a:lnSpc>
                <a:spcPct val="100000"/>
              </a:lnSpc>
              <a:spcAft>
                <a:spcPts val="400"/>
              </a:spcAft>
              <a:tabLst>
                <a:tab algn="l" pos="0"/>
              </a:tabLst>
            </a:pPr>
            <a:r>
              <a:rPr b="0" lang="en-US" sz="1300" strike="noStrike" u="none">
                <a:solidFill>
                  <a:srgbClr val="e2e8f0"/>
                </a:solidFill>
                <a:effectLst/>
                <a:uFillTx/>
                <a:latin typeface="Consolas"/>
                <a:ea typeface="Consolas"/>
              </a:rPr>
              <a:t>6.  E ← | Q_real − Q_virtual |</a:t>
            </a:r>
            <a:endParaRPr b="0" lang="en-TR" sz="1300" strike="noStrike" u="none">
              <a:solidFill>
                <a:srgbClr val="000000"/>
              </a:solidFill>
              <a:effectLst/>
              <a:uFillTx/>
              <a:latin typeface="Arial"/>
            </a:endParaRPr>
          </a:p>
          <a:p>
            <a:pPr defTabSz="914400">
              <a:lnSpc>
                <a:spcPct val="100000"/>
              </a:lnSpc>
              <a:spcAft>
                <a:spcPts val="400"/>
              </a:spcAft>
              <a:tabLst>
                <a:tab algn="l" pos="0"/>
              </a:tabLst>
            </a:pPr>
            <a:r>
              <a:rPr b="0" lang="en-US" sz="1300" strike="noStrike" u="none">
                <a:solidFill>
                  <a:srgbClr val="e2e8f0"/>
                </a:solidFill>
                <a:effectLst/>
                <a:uFillTx/>
                <a:latin typeface="Consolas"/>
                <a:ea typeface="Consolas"/>
              </a:rPr>
              <a:t>7.  if  E &gt; ε :  α ← min(α_max, α + δ⁺)</a:t>
            </a:r>
            <a:endParaRPr b="0" lang="en-TR" sz="1300" strike="noStrike" u="none">
              <a:solidFill>
                <a:srgbClr val="000000"/>
              </a:solidFill>
              <a:effectLst/>
              <a:uFillTx/>
              <a:latin typeface="Arial"/>
            </a:endParaRPr>
          </a:p>
          <a:p>
            <a:pPr defTabSz="914400">
              <a:lnSpc>
                <a:spcPct val="100000"/>
              </a:lnSpc>
              <a:spcAft>
                <a:spcPts val="400"/>
              </a:spcAft>
              <a:tabLst>
                <a:tab algn="l" pos="0"/>
              </a:tabLst>
            </a:pPr>
            <a:r>
              <a:rPr b="0" lang="en-US" sz="1300" strike="noStrike" u="none">
                <a:solidFill>
                  <a:srgbClr val="e2e8f0"/>
                </a:solidFill>
                <a:effectLst/>
                <a:uFillTx/>
                <a:latin typeface="Consolas"/>
                <a:ea typeface="Consolas"/>
              </a:rPr>
              <a:t>8.  else      :  α ← max(α_min, α − δ⁻)</a:t>
            </a:r>
            <a:endParaRPr b="0" lang="en-TR" sz="1300" strike="noStrike" u="none">
              <a:solidFill>
                <a:srgbClr val="000000"/>
              </a:solidFill>
              <a:effectLst/>
              <a:uFillTx/>
              <a:latin typeface="Arial"/>
            </a:endParaRPr>
          </a:p>
          <a:p>
            <a:pPr defTabSz="914400">
              <a:lnSpc>
                <a:spcPct val="100000"/>
              </a:lnSpc>
              <a:spcAft>
                <a:spcPts val="400"/>
              </a:spcAft>
              <a:tabLst>
                <a:tab algn="l" pos="0"/>
              </a:tabLst>
            </a:pPr>
            <a:r>
              <a:rPr b="0" lang="en-US" sz="1300" strike="noStrike" u="none">
                <a:solidFill>
                  <a:srgbClr val="e2e8f0"/>
                </a:solidFill>
                <a:effectLst/>
                <a:uFillTx/>
                <a:latin typeface="Consolas"/>
                <a:ea typeface="Consolas"/>
              </a:rPr>
              <a:t>9.  drop_rate ← p_acb</a:t>
            </a:r>
            <a:endParaRPr b="0" lang="en-TR" sz="1300" strike="noStrike" u="none">
              <a:solidFill>
                <a:srgbClr val="000000"/>
              </a:solidFill>
              <a:effectLst/>
              <a:uFillTx/>
              <a:latin typeface="Arial"/>
            </a:endParaRPr>
          </a:p>
        </p:txBody>
      </p:sp>
      <p:sp>
        <p:nvSpPr>
          <p:cNvPr id="325" name="Shape 5"/>
          <p:cNvSpPr/>
          <p:nvPr/>
        </p:nvSpPr>
        <p:spPr>
          <a:xfrm>
            <a:off x="7680960" y="1600200"/>
            <a:ext cx="411372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26" name="Text 6"/>
          <p:cNvSpPr/>
          <p:nvPr/>
        </p:nvSpPr>
        <p:spPr>
          <a:xfrm>
            <a:off x="7909560" y="1737360"/>
            <a:ext cx="374796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Complexity</a:t>
            </a:r>
            <a:endParaRPr b="0" lang="en-TR" sz="1400" strike="noStrike" u="none">
              <a:solidFill>
                <a:srgbClr val="000000"/>
              </a:solidFill>
              <a:effectLst/>
              <a:uFillTx/>
              <a:latin typeface="Arial"/>
            </a:endParaRPr>
          </a:p>
        </p:txBody>
      </p:sp>
      <p:sp>
        <p:nvSpPr>
          <p:cNvPr id="327" name="Shape 7"/>
          <p:cNvSpPr/>
          <p:nvPr/>
        </p:nvSpPr>
        <p:spPr>
          <a:xfrm>
            <a:off x="7909560" y="2240280"/>
            <a:ext cx="3656520" cy="1507680"/>
          </a:xfrm>
          <a:prstGeom prst="roundRect">
            <a:avLst>
              <a:gd name="adj" fmla="val 4848"/>
            </a:avLst>
          </a:prstGeom>
          <a:solidFill>
            <a:srgbClr val="e8f5ef"/>
          </a:solidFill>
          <a:ln w="19050">
            <a:solidFill>
              <a:srgbClr val="0e8a6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28" name="Text 8"/>
          <p:cNvSpPr/>
          <p:nvPr/>
        </p:nvSpPr>
        <p:spPr>
          <a:xfrm>
            <a:off x="8046720" y="2313360"/>
            <a:ext cx="347364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rgbClr val="0e8a6b"/>
                </a:solidFill>
                <a:effectLst/>
                <a:uFillTx/>
                <a:latin typeface="Calibri"/>
                <a:ea typeface="Calibri"/>
              </a:rPr>
              <a:t>Calibrated DT</a:t>
            </a:r>
            <a:endParaRPr b="0" lang="en-TR" sz="1200" strike="noStrike" u="none">
              <a:solidFill>
                <a:srgbClr val="000000"/>
              </a:solidFill>
              <a:effectLst/>
              <a:uFillTx/>
              <a:latin typeface="Arial"/>
            </a:endParaRPr>
          </a:p>
        </p:txBody>
      </p:sp>
      <p:sp>
        <p:nvSpPr>
          <p:cNvPr id="329" name="Text 9"/>
          <p:cNvSpPr/>
          <p:nvPr/>
        </p:nvSpPr>
        <p:spPr>
          <a:xfrm>
            <a:off x="8046720" y="2587680"/>
            <a:ext cx="3473640" cy="501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trike="noStrike" u="none">
                <a:solidFill>
                  <a:srgbClr val="0e8a6b"/>
                </a:solidFill>
                <a:effectLst/>
                <a:uFillTx/>
                <a:latin typeface="Consolas"/>
                <a:ea typeface="Consolas"/>
              </a:rPr>
              <a:t>O(1)</a:t>
            </a:r>
            <a:endParaRPr b="0" lang="en-TR" sz="2800" strike="noStrike" u="none">
              <a:solidFill>
                <a:srgbClr val="000000"/>
              </a:solidFill>
              <a:effectLst/>
              <a:uFillTx/>
              <a:latin typeface="Arial"/>
            </a:endParaRPr>
          </a:p>
        </p:txBody>
      </p:sp>
      <p:sp>
        <p:nvSpPr>
          <p:cNvPr id="330" name="Text 10"/>
          <p:cNvSpPr/>
          <p:nvPr/>
        </p:nvSpPr>
        <p:spPr>
          <a:xfrm>
            <a:off x="8046720" y="3154680"/>
            <a:ext cx="3473640" cy="593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trike="noStrike" u="none">
                <a:solidFill>
                  <a:srgbClr val="334155"/>
                </a:solidFill>
                <a:effectLst/>
                <a:uFillTx/>
                <a:latin typeface="Calibri"/>
                <a:ea typeface="Calibri"/>
              </a:rPr>
              <a:t>Fixed arithmetic · 4 state variables · μs control budget</a:t>
            </a:r>
            <a:endParaRPr b="0" lang="en-TR" sz="1050" strike="noStrike" u="none">
              <a:solidFill>
                <a:srgbClr val="000000"/>
              </a:solidFill>
              <a:effectLst/>
              <a:uFillTx/>
              <a:latin typeface="Arial"/>
            </a:endParaRPr>
          </a:p>
        </p:txBody>
      </p:sp>
      <p:sp>
        <p:nvSpPr>
          <p:cNvPr id="331" name="Shape 11"/>
          <p:cNvSpPr/>
          <p:nvPr/>
        </p:nvSpPr>
        <p:spPr>
          <a:xfrm>
            <a:off x="7909560" y="3931920"/>
            <a:ext cx="3656520" cy="1507680"/>
          </a:xfrm>
          <a:prstGeom prst="roundRect">
            <a:avLst>
              <a:gd name="adj" fmla="val 4848"/>
            </a:avLst>
          </a:prstGeom>
          <a:solidFill>
            <a:srgbClr val="fbe9e7"/>
          </a:solidFill>
          <a:ln w="19050">
            <a:solidFill>
              <a:srgbClr val="c0392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32" name="Text 12"/>
          <p:cNvSpPr/>
          <p:nvPr/>
        </p:nvSpPr>
        <p:spPr>
          <a:xfrm>
            <a:off x="8046720" y="4005000"/>
            <a:ext cx="347364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rgbClr val="c0392b"/>
                </a:solidFill>
                <a:effectLst/>
                <a:uFillTx/>
                <a:latin typeface="Calibri"/>
                <a:ea typeface="Calibri"/>
              </a:rPr>
              <a:t>DNN predictors</a:t>
            </a:r>
            <a:endParaRPr b="0" lang="en-TR" sz="1200" strike="noStrike" u="none">
              <a:solidFill>
                <a:srgbClr val="000000"/>
              </a:solidFill>
              <a:effectLst/>
              <a:uFillTx/>
              <a:latin typeface="Arial"/>
            </a:endParaRPr>
          </a:p>
        </p:txBody>
      </p:sp>
      <p:sp>
        <p:nvSpPr>
          <p:cNvPr id="333" name="Text 13"/>
          <p:cNvSpPr/>
          <p:nvPr/>
        </p:nvSpPr>
        <p:spPr>
          <a:xfrm>
            <a:off x="8046720" y="4279320"/>
            <a:ext cx="3473640" cy="501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trike="noStrike" u="none">
                <a:solidFill>
                  <a:srgbClr val="c0392b"/>
                </a:solidFill>
                <a:effectLst/>
                <a:uFillTx/>
                <a:latin typeface="Consolas"/>
                <a:ea typeface="Consolas"/>
              </a:rPr>
              <a:t>O(W)</a:t>
            </a:r>
            <a:endParaRPr b="0" lang="en-TR" sz="2800" strike="noStrike" u="none">
              <a:solidFill>
                <a:srgbClr val="000000"/>
              </a:solidFill>
              <a:effectLst/>
              <a:uFillTx/>
              <a:latin typeface="Arial"/>
            </a:endParaRPr>
          </a:p>
        </p:txBody>
      </p:sp>
      <p:sp>
        <p:nvSpPr>
          <p:cNvPr id="334" name="Text 14"/>
          <p:cNvSpPr/>
          <p:nvPr/>
        </p:nvSpPr>
        <p:spPr>
          <a:xfrm>
            <a:off x="8046720" y="4846320"/>
            <a:ext cx="3473640" cy="593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trike="noStrike" u="none">
                <a:solidFill>
                  <a:srgbClr val="334155"/>
                </a:solidFill>
                <a:effectLst/>
                <a:uFillTx/>
                <a:latin typeface="Calibri"/>
                <a:ea typeface="Calibri"/>
              </a:rPr>
              <a:t>W ~ 10⁵–10⁷ · ms latency · impractical on gNB</a:t>
            </a:r>
            <a:endParaRPr b="0" lang="en-TR" sz="1050" strike="noStrike" u="none">
              <a:solidFill>
                <a:srgbClr val="000000"/>
              </a:solidFill>
              <a:effectLst/>
              <a:uFillTx/>
              <a:latin typeface="Arial"/>
            </a:endParaRPr>
          </a:p>
        </p:txBody>
      </p:sp>
      <p:sp>
        <p:nvSpPr>
          <p:cNvPr id="335" name="Text 15"/>
          <p:cNvSpPr/>
          <p:nvPr/>
        </p:nvSpPr>
        <p:spPr>
          <a:xfrm>
            <a:off x="7909560" y="5623560"/>
            <a:ext cx="3656520" cy="364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100" strike="noStrike" u="none">
                <a:solidFill>
                  <a:srgbClr val="64748b"/>
                </a:solidFill>
                <a:effectLst/>
                <a:uFillTx/>
                <a:latin typeface="Consolas"/>
                <a:ea typeface="Consolas"/>
              </a:rPr>
              <a:t>State: { EMA_t, Q_virtual, α, n_win }</a:t>
            </a:r>
            <a:endParaRPr b="0" lang="en-TR" sz="1100" strike="noStrike" u="none">
              <a:solidFill>
                <a:srgbClr val="000000"/>
              </a:solidFill>
              <a:effectLst/>
              <a:uFillTx/>
              <a:latin typeface="Arial"/>
            </a:endParaRPr>
          </a:p>
        </p:txBody>
      </p:sp>
      <p:sp>
        <p:nvSpPr>
          <p:cNvPr id="336" name="Shape 16"/>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337" name="Text 17"/>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338" name="Text 18"/>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12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9"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EVALUATION</a:t>
            </a:r>
            <a:endParaRPr b="0" lang="en-TR" sz="1100" strike="noStrike" u="none">
              <a:solidFill>
                <a:srgbClr val="000000"/>
              </a:solidFill>
              <a:effectLst/>
              <a:uFillTx/>
              <a:latin typeface="Arial"/>
            </a:endParaRPr>
          </a:p>
        </p:txBody>
      </p:sp>
      <p:sp>
        <p:nvSpPr>
          <p:cNvPr id="340"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Simulation setup</a:t>
            </a:r>
            <a:endParaRPr b="0" lang="en-TR" sz="3000" strike="noStrike" u="none">
              <a:solidFill>
                <a:srgbClr val="000000"/>
              </a:solidFill>
              <a:effectLst/>
              <a:uFillTx/>
              <a:latin typeface="Arial"/>
            </a:endParaRPr>
          </a:p>
        </p:txBody>
      </p:sp>
      <p:sp>
        <p:nvSpPr>
          <p:cNvPr id="341" name="Shape 2"/>
          <p:cNvSpPr/>
          <p:nvPr/>
        </p:nvSpPr>
        <p:spPr>
          <a:xfrm>
            <a:off x="548640" y="1600200"/>
            <a:ext cx="553104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42" name="Shape 3"/>
          <p:cNvSpPr/>
          <p:nvPr/>
        </p:nvSpPr>
        <p:spPr>
          <a:xfrm>
            <a:off x="548640" y="1600200"/>
            <a:ext cx="63000" cy="452520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pic>
        <p:nvPicPr>
          <p:cNvPr id="343" name="Image 0" descr="preencoded.png"/>
          <p:cNvPicPr/>
          <p:nvPr/>
        </p:nvPicPr>
        <p:blipFill>
          <a:blip r:embed="rId1"/>
          <a:stretch/>
        </p:blipFill>
        <p:spPr>
          <a:xfrm>
            <a:off x="822960" y="1783080"/>
            <a:ext cx="364680" cy="364680"/>
          </a:xfrm>
          <a:prstGeom prst="rect">
            <a:avLst/>
          </a:prstGeom>
          <a:noFill/>
          <a:ln w="0">
            <a:noFill/>
          </a:ln>
        </p:spPr>
      </p:pic>
      <p:sp>
        <p:nvSpPr>
          <p:cNvPr id="344" name="Text 4"/>
          <p:cNvSpPr/>
          <p:nvPr/>
        </p:nvSpPr>
        <p:spPr>
          <a:xfrm>
            <a:off x="1325880" y="1783080"/>
            <a:ext cx="461664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Experimental configuration</a:t>
            </a:r>
            <a:endParaRPr b="0" lang="en-TR" sz="1400" strike="noStrike" u="none">
              <a:solidFill>
                <a:srgbClr val="000000"/>
              </a:solidFill>
              <a:effectLst/>
              <a:uFillTx/>
              <a:latin typeface="Arial"/>
            </a:endParaRPr>
          </a:p>
        </p:txBody>
      </p:sp>
      <p:sp>
        <p:nvSpPr>
          <p:cNvPr id="345" name="Text 5"/>
          <p:cNvSpPr/>
          <p:nvPr/>
        </p:nvSpPr>
        <p:spPr>
          <a:xfrm>
            <a:off x="822960" y="2377440"/>
            <a:ext cx="4982400" cy="182772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499"/>
              </a:spcAft>
              <a:buClr>
                <a:srgbClr val="334155"/>
              </a:buClr>
              <a:buFont typeface="Symbol" charset="2"/>
              <a:buChar char=""/>
            </a:pPr>
            <a:r>
              <a:rPr b="0" lang="en-US" sz="1250" strike="noStrike" u="none">
                <a:solidFill>
                  <a:srgbClr val="334155"/>
                </a:solidFill>
                <a:effectLst/>
                <a:uFillTx/>
                <a:latin typeface="Calibri"/>
                <a:ea typeface="Calibri"/>
              </a:rPr>
              <a:t>Discrete-event simulation:  SimPy, Python 3.10</a:t>
            </a:r>
            <a:endParaRPr b="0" lang="en-TR" sz="1250" strike="noStrike" u="none">
              <a:solidFill>
                <a:srgbClr val="000000"/>
              </a:solidFill>
              <a:effectLst/>
              <a:uFillTx/>
              <a:latin typeface="Arial"/>
            </a:endParaRPr>
          </a:p>
          <a:p>
            <a:pPr marL="343080" indent="-343080" defTabSz="914400">
              <a:lnSpc>
                <a:spcPct val="100000"/>
              </a:lnSpc>
              <a:spcAft>
                <a:spcPts val="499"/>
              </a:spcAft>
              <a:buClr>
                <a:srgbClr val="334155"/>
              </a:buClr>
              <a:buFont typeface="Symbol" charset="2"/>
              <a:buChar char=""/>
            </a:pPr>
            <a:r>
              <a:rPr b="0" lang="en-US" sz="1250" strike="noStrike" u="none">
                <a:solidFill>
                  <a:srgbClr val="334155"/>
                </a:solidFill>
                <a:effectLst/>
                <a:uFillTx/>
                <a:latin typeface="Calibri"/>
                <a:ea typeface="Calibri"/>
              </a:rPr>
              <a:t>T_sim = 1000 s per run</a:t>
            </a:r>
            <a:endParaRPr b="0" lang="en-TR" sz="1250" strike="noStrike" u="none">
              <a:solidFill>
                <a:srgbClr val="000000"/>
              </a:solidFill>
              <a:effectLst/>
              <a:uFillTx/>
              <a:latin typeface="Arial"/>
            </a:endParaRPr>
          </a:p>
          <a:p>
            <a:pPr marL="343080" indent="-343080" defTabSz="914400">
              <a:lnSpc>
                <a:spcPct val="100000"/>
              </a:lnSpc>
              <a:spcAft>
                <a:spcPts val="499"/>
              </a:spcAft>
              <a:buClr>
                <a:srgbClr val="334155"/>
              </a:buClr>
              <a:buFont typeface="Symbol" charset="2"/>
              <a:buChar char=""/>
            </a:pPr>
            <a:r>
              <a:rPr b="0" lang="en-US" sz="1250" strike="noStrike" u="none">
                <a:solidFill>
                  <a:srgbClr val="334155"/>
                </a:solidFill>
                <a:effectLst/>
                <a:uFillTx/>
                <a:latin typeface="Calibri"/>
                <a:ea typeface="Calibri"/>
              </a:rPr>
              <a:t>N = 10 independent seeds (Monte Carlo)</a:t>
            </a:r>
            <a:endParaRPr b="0" lang="en-TR" sz="1250" strike="noStrike" u="none">
              <a:solidFill>
                <a:srgbClr val="000000"/>
              </a:solidFill>
              <a:effectLst/>
              <a:uFillTx/>
              <a:latin typeface="Arial"/>
            </a:endParaRPr>
          </a:p>
          <a:p>
            <a:pPr marL="343080" indent="-343080" defTabSz="914400">
              <a:lnSpc>
                <a:spcPct val="100000"/>
              </a:lnSpc>
              <a:spcAft>
                <a:spcPts val="499"/>
              </a:spcAft>
              <a:buClr>
                <a:srgbClr val="334155"/>
              </a:buClr>
              <a:buFont typeface="Symbol" charset="2"/>
              <a:buChar char=""/>
            </a:pPr>
            <a:r>
              <a:rPr b="0" lang="en-US" sz="1250" strike="noStrike" u="none">
                <a:solidFill>
                  <a:srgbClr val="334155"/>
                </a:solidFill>
                <a:effectLst/>
                <a:uFillTx/>
                <a:latin typeface="Calibri"/>
                <a:ea typeface="Calibri"/>
              </a:rPr>
              <a:t>95 % CI:  x̄ ± 1.96 · σ̂ / √N</a:t>
            </a:r>
            <a:endParaRPr b="0" lang="en-TR" sz="1250" strike="noStrike" u="none">
              <a:solidFill>
                <a:srgbClr val="000000"/>
              </a:solidFill>
              <a:effectLst/>
              <a:uFillTx/>
              <a:latin typeface="Arial"/>
            </a:endParaRPr>
          </a:p>
        </p:txBody>
      </p:sp>
      <p:sp>
        <p:nvSpPr>
          <p:cNvPr id="346" name="Text 6"/>
          <p:cNvSpPr/>
          <p:nvPr/>
        </p:nvSpPr>
        <p:spPr>
          <a:xfrm>
            <a:off x="822960" y="4389120"/>
            <a:ext cx="4982400" cy="318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065a82"/>
                </a:solidFill>
                <a:effectLst/>
                <a:uFillTx/>
                <a:latin typeface="Cambria"/>
                <a:ea typeface="Cambria"/>
              </a:rPr>
              <a:t>Three methods compared</a:t>
            </a:r>
            <a:endParaRPr b="0" lang="en-TR" sz="1300" strike="noStrike" u="none">
              <a:solidFill>
                <a:srgbClr val="000000"/>
              </a:solidFill>
              <a:effectLst/>
              <a:uFillTx/>
              <a:latin typeface="Arial"/>
            </a:endParaRPr>
          </a:p>
        </p:txBody>
      </p:sp>
      <p:sp>
        <p:nvSpPr>
          <p:cNvPr id="347" name="Shape 7"/>
          <p:cNvSpPr/>
          <p:nvPr/>
        </p:nvSpPr>
        <p:spPr>
          <a:xfrm>
            <a:off x="822960" y="4846320"/>
            <a:ext cx="163440" cy="163440"/>
          </a:xfrm>
          <a:prstGeom prst="ellipse">
            <a:avLst/>
          </a:prstGeom>
          <a:solidFill>
            <a:srgbClr val="64748b"/>
          </a:solidFill>
          <a:ln w="12700">
            <a:solidFill>
              <a:srgbClr val="64748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48" name="Text 8"/>
          <p:cNvSpPr/>
          <p:nvPr/>
        </p:nvSpPr>
        <p:spPr>
          <a:xfrm>
            <a:off x="1097280" y="4754880"/>
            <a:ext cx="246780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rgbClr val="1a2233"/>
                </a:solidFill>
                <a:effectLst/>
                <a:uFillTx/>
                <a:latin typeface="Calibri"/>
                <a:ea typeface="Calibri"/>
              </a:rPr>
              <a:t>Reactive Baseline</a:t>
            </a:r>
            <a:endParaRPr b="0" lang="en-TR" sz="1200" strike="noStrike" u="none">
              <a:solidFill>
                <a:srgbClr val="000000"/>
              </a:solidFill>
              <a:effectLst/>
              <a:uFillTx/>
              <a:latin typeface="Arial"/>
            </a:endParaRPr>
          </a:p>
        </p:txBody>
      </p:sp>
      <p:sp>
        <p:nvSpPr>
          <p:cNvPr id="349" name="Text 9"/>
          <p:cNvSpPr/>
          <p:nvPr/>
        </p:nvSpPr>
        <p:spPr>
          <a:xfrm>
            <a:off x="3566160" y="4754880"/>
            <a:ext cx="223920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200" strike="noStrike" u="none">
                <a:solidFill>
                  <a:srgbClr val="64748b"/>
                </a:solidFill>
                <a:effectLst/>
                <a:uFillTx/>
                <a:latin typeface="Calibri"/>
                <a:ea typeface="Calibri"/>
              </a:rPr>
              <a:t>threshold 0.8 K, drop 0.5</a:t>
            </a:r>
            <a:endParaRPr b="0" lang="en-TR" sz="1200" strike="noStrike" u="none">
              <a:solidFill>
                <a:srgbClr val="000000"/>
              </a:solidFill>
              <a:effectLst/>
              <a:uFillTx/>
              <a:latin typeface="Arial"/>
            </a:endParaRPr>
          </a:p>
        </p:txBody>
      </p:sp>
      <p:sp>
        <p:nvSpPr>
          <p:cNvPr id="350" name="Shape 10"/>
          <p:cNvSpPr/>
          <p:nvPr/>
        </p:nvSpPr>
        <p:spPr>
          <a:xfrm>
            <a:off x="822960" y="5303520"/>
            <a:ext cx="163440" cy="163440"/>
          </a:xfrm>
          <a:prstGeom prst="ellipse">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51" name="Text 11"/>
          <p:cNvSpPr/>
          <p:nvPr/>
        </p:nvSpPr>
        <p:spPr>
          <a:xfrm>
            <a:off x="1097280" y="5212080"/>
            <a:ext cx="246780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rgbClr val="1a2233"/>
                </a:solidFill>
                <a:effectLst/>
                <a:uFillTx/>
                <a:latin typeface="Calibri"/>
                <a:ea typeface="Calibri"/>
              </a:rPr>
              <a:t>DT no-calibration</a:t>
            </a:r>
            <a:endParaRPr b="0" lang="en-TR" sz="1200" strike="noStrike" u="none">
              <a:solidFill>
                <a:srgbClr val="000000"/>
              </a:solidFill>
              <a:effectLst/>
              <a:uFillTx/>
              <a:latin typeface="Arial"/>
            </a:endParaRPr>
          </a:p>
        </p:txBody>
      </p:sp>
      <p:sp>
        <p:nvSpPr>
          <p:cNvPr id="352" name="Text 12"/>
          <p:cNvSpPr/>
          <p:nvPr/>
        </p:nvSpPr>
        <p:spPr>
          <a:xfrm>
            <a:off x="3566160" y="5212080"/>
            <a:ext cx="223920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200" strike="noStrike" u="none">
                <a:solidFill>
                  <a:srgbClr val="64748b"/>
                </a:solidFill>
                <a:effectLst/>
                <a:uFillTx/>
                <a:latin typeface="Calibri"/>
                <a:ea typeface="Calibri"/>
              </a:rPr>
              <a:t>α fixed</a:t>
            </a:r>
            <a:endParaRPr b="0" lang="en-TR" sz="1200" strike="noStrike" u="none">
              <a:solidFill>
                <a:srgbClr val="000000"/>
              </a:solidFill>
              <a:effectLst/>
              <a:uFillTx/>
              <a:latin typeface="Arial"/>
            </a:endParaRPr>
          </a:p>
        </p:txBody>
      </p:sp>
      <p:sp>
        <p:nvSpPr>
          <p:cNvPr id="353" name="Shape 13"/>
          <p:cNvSpPr/>
          <p:nvPr/>
        </p:nvSpPr>
        <p:spPr>
          <a:xfrm>
            <a:off x="822960" y="5760720"/>
            <a:ext cx="163440" cy="163440"/>
          </a:xfrm>
          <a:prstGeom prst="ellipse">
            <a:avLst/>
          </a:prstGeom>
          <a:solidFill>
            <a:srgbClr val="0e8a6b"/>
          </a:solidFill>
          <a:ln w="12700">
            <a:solidFill>
              <a:srgbClr val="0e8a6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54" name="Text 14"/>
          <p:cNvSpPr/>
          <p:nvPr/>
        </p:nvSpPr>
        <p:spPr>
          <a:xfrm>
            <a:off x="1097280" y="5669280"/>
            <a:ext cx="246780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rgbClr val="1a2233"/>
                </a:solidFill>
                <a:effectLst/>
                <a:uFillTx/>
                <a:latin typeface="Calibri"/>
                <a:ea typeface="Calibri"/>
              </a:rPr>
              <a:t>Calibrated DT</a:t>
            </a:r>
            <a:endParaRPr b="0" lang="en-TR" sz="1200" strike="noStrike" u="none">
              <a:solidFill>
                <a:srgbClr val="000000"/>
              </a:solidFill>
              <a:effectLst/>
              <a:uFillTx/>
              <a:latin typeface="Arial"/>
            </a:endParaRPr>
          </a:p>
        </p:txBody>
      </p:sp>
      <p:sp>
        <p:nvSpPr>
          <p:cNvPr id="355" name="Text 15"/>
          <p:cNvSpPr/>
          <p:nvPr/>
        </p:nvSpPr>
        <p:spPr>
          <a:xfrm>
            <a:off x="3566160" y="5669280"/>
            <a:ext cx="223920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200" strike="noStrike" u="none">
                <a:solidFill>
                  <a:srgbClr val="64748b"/>
                </a:solidFill>
                <a:effectLst/>
                <a:uFillTx/>
                <a:latin typeface="Calibri"/>
                <a:ea typeface="Calibri"/>
              </a:rPr>
              <a:t>asymmetric step rule</a:t>
            </a:r>
            <a:endParaRPr b="0" lang="en-TR" sz="1200" strike="noStrike" u="none">
              <a:solidFill>
                <a:srgbClr val="000000"/>
              </a:solidFill>
              <a:effectLst/>
              <a:uFillTx/>
              <a:latin typeface="Arial"/>
            </a:endParaRPr>
          </a:p>
        </p:txBody>
      </p:sp>
      <p:sp>
        <p:nvSpPr>
          <p:cNvPr id="356" name="Shape 16"/>
          <p:cNvSpPr/>
          <p:nvPr/>
        </p:nvSpPr>
        <p:spPr>
          <a:xfrm>
            <a:off x="6263640" y="1600200"/>
            <a:ext cx="553104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57" name="Shape 17"/>
          <p:cNvSpPr/>
          <p:nvPr/>
        </p:nvSpPr>
        <p:spPr>
          <a:xfrm>
            <a:off x="6263640" y="1600200"/>
            <a:ext cx="63000" cy="452520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58" name="Text 18"/>
          <p:cNvSpPr/>
          <p:nvPr/>
        </p:nvSpPr>
        <p:spPr>
          <a:xfrm>
            <a:off x="6537960" y="1783080"/>
            <a:ext cx="507384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Key parameters</a:t>
            </a:r>
            <a:endParaRPr b="0" lang="en-TR" sz="1400" strike="noStrike" u="none">
              <a:solidFill>
                <a:srgbClr val="000000"/>
              </a:solidFill>
              <a:effectLst/>
              <a:uFillTx/>
              <a:latin typeface="Arial"/>
            </a:endParaRPr>
          </a:p>
        </p:txBody>
      </p:sp>
      <p:graphicFrame>
        <p:nvGraphicFramePr>
          <p:cNvPr id="359" name="Table 0"/>
          <p:cNvGraphicFramePr/>
          <p:nvPr/>
        </p:nvGraphicFramePr>
        <p:xfrm>
          <a:off x="6537960" y="2286000"/>
          <a:ext cx="4983120" cy="3070080"/>
        </p:xfrm>
        <a:graphic>
          <a:graphicData uri="http://schemas.openxmlformats.org/drawingml/2006/table">
            <a:tbl>
              <a:tblPr/>
              <a:tblGrid>
                <a:gridCol w="2286000"/>
                <a:gridCol w="1188720"/>
                <a:gridCol w="1508760"/>
              </a:tblGrid>
              <a:tr h="383760">
                <a:tc>
                  <a:txBody>
                    <a:bodyPr anchor="ctr">
                      <a:noAutofit/>
                    </a:bodyPr>
                    <a:p>
                      <a:pPr defTabSz="914400">
                        <a:lnSpc>
                          <a:spcPct val="100000"/>
                        </a:lnSpc>
                        <a:tabLst>
                          <a:tab algn="l" pos="0"/>
                        </a:tabLst>
                      </a:pPr>
                      <a:r>
                        <a:rPr b="1" lang="en-US" sz="1150" strike="noStrike" u="none">
                          <a:solidFill>
                            <a:srgbClr val="ffffff"/>
                          </a:solidFill>
                          <a:effectLst/>
                          <a:uFillTx/>
                          <a:latin typeface="Calibri"/>
                          <a:ea typeface="Calibri"/>
                        </a:rPr>
                        <a:t>Parameter</a:t>
                      </a:r>
                      <a:endParaRPr b="0" lang="en-TR" sz="1150" strike="noStrike" u="none">
                        <a:solidFill>
                          <a:srgbClr val="ffffff"/>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solidFill>
                      <a:srgbClr val="065a82"/>
                    </a:solidFill>
                  </a:tcPr>
                </a:tc>
                <a:tc>
                  <a:txBody>
                    <a:bodyPr anchor="ctr">
                      <a:noAutofit/>
                    </a:bodyPr>
                    <a:p>
                      <a:pPr defTabSz="914400">
                        <a:lnSpc>
                          <a:spcPct val="100000"/>
                        </a:lnSpc>
                        <a:tabLst>
                          <a:tab algn="l" pos="0"/>
                        </a:tabLst>
                      </a:pPr>
                      <a:r>
                        <a:rPr b="1" lang="en-US" sz="1150" strike="noStrike" u="none">
                          <a:solidFill>
                            <a:srgbClr val="ffffff"/>
                          </a:solidFill>
                          <a:effectLst/>
                          <a:uFillTx/>
                          <a:latin typeface="Calibri"/>
                          <a:ea typeface="Calibri"/>
                        </a:rPr>
                        <a:t>Symbol</a:t>
                      </a:r>
                      <a:endParaRPr b="0" lang="en-TR" sz="1150" strike="noStrike" u="none">
                        <a:solidFill>
                          <a:srgbClr val="ffffff"/>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solidFill>
                      <a:srgbClr val="065a82"/>
                    </a:solidFill>
                  </a:tcPr>
                </a:tc>
                <a:tc>
                  <a:txBody>
                    <a:bodyPr anchor="ctr">
                      <a:noAutofit/>
                    </a:bodyPr>
                    <a:p>
                      <a:pPr defTabSz="914400">
                        <a:lnSpc>
                          <a:spcPct val="100000"/>
                        </a:lnSpc>
                        <a:tabLst>
                          <a:tab algn="l" pos="0"/>
                        </a:tabLst>
                      </a:pPr>
                      <a:r>
                        <a:rPr b="1" lang="en-US" sz="1150" strike="noStrike" u="none">
                          <a:solidFill>
                            <a:srgbClr val="ffffff"/>
                          </a:solidFill>
                          <a:effectLst/>
                          <a:uFillTx/>
                          <a:latin typeface="Calibri"/>
                          <a:ea typeface="Calibri"/>
                        </a:rPr>
                        <a:t>Value</a:t>
                      </a:r>
                      <a:endParaRPr b="0" lang="en-TR" sz="1150" strike="noStrike" u="none">
                        <a:solidFill>
                          <a:srgbClr val="ffffff"/>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solidFill>
                      <a:srgbClr val="065a82"/>
                    </a:solidFill>
                  </a:tcPr>
                </a:tc>
              </a:tr>
              <a:tr h="383760">
                <a:tc>
                  <a:txBody>
                    <a:bodyPr anchor="ctr">
                      <a:noAutofit/>
                    </a:bodyPr>
                    <a:p>
                      <a:pPr defTabSz="914400">
                        <a:lnSpc>
                          <a:spcPct val="100000"/>
                        </a:lnSpc>
                        <a:tabLst>
                          <a:tab algn="l" pos="0"/>
                        </a:tabLst>
                      </a:pPr>
                      <a:r>
                        <a:rPr b="0" lang="en-US" sz="1150" strike="noStrike" u="none">
                          <a:solidFill>
                            <a:srgbClr val="1a2233"/>
                          </a:solidFill>
                          <a:effectLst/>
                          <a:uFillTx/>
                          <a:latin typeface="Calibri"/>
                          <a:ea typeface="Calibri"/>
                        </a:rPr>
                        <a:t>Preamble channels</a:t>
                      </a:r>
                      <a:endParaRPr b="0" lang="en-TR" sz="115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c</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54</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r>
              <a:tr h="383760">
                <a:tc>
                  <a:txBody>
                    <a:bodyPr anchor="ctr">
                      <a:noAutofit/>
                    </a:bodyPr>
                    <a:p>
                      <a:pPr defTabSz="914400">
                        <a:lnSpc>
                          <a:spcPct val="100000"/>
                        </a:lnSpc>
                        <a:tabLst>
                          <a:tab algn="l" pos="0"/>
                        </a:tabLst>
                      </a:pPr>
                      <a:r>
                        <a:rPr b="0" lang="en-US" sz="1150" strike="noStrike" u="none">
                          <a:solidFill>
                            <a:srgbClr val="1a2233"/>
                          </a:solidFill>
                          <a:effectLst/>
                          <a:uFillTx/>
                          <a:latin typeface="Calibri"/>
                          <a:ea typeface="Calibri"/>
                        </a:rPr>
                        <a:t>Buffer capacity</a:t>
                      </a:r>
                      <a:endParaRPr b="0" lang="en-TR" sz="115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K</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200</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r>
              <a:tr h="383760">
                <a:tc>
                  <a:txBody>
                    <a:bodyPr anchor="ctr">
                      <a:noAutofit/>
                    </a:bodyPr>
                    <a:p>
                      <a:pPr defTabSz="914400">
                        <a:lnSpc>
                          <a:spcPct val="100000"/>
                        </a:lnSpc>
                        <a:tabLst>
                          <a:tab algn="l" pos="0"/>
                        </a:tabLst>
                      </a:pPr>
                      <a:r>
                        <a:rPr b="0" lang="en-US" sz="1150" strike="noStrike" u="none">
                          <a:solidFill>
                            <a:srgbClr val="1a2233"/>
                          </a:solidFill>
                          <a:effectLst/>
                          <a:uFillTx/>
                          <a:latin typeface="Calibri"/>
                          <a:ea typeface="Calibri"/>
                        </a:rPr>
                        <a:t>Normal arrival rate</a:t>
                      </a:r>
                      <a:endParaRPr b="0" lang="en-TR" sz="115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λ_low</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10 req/s</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r>
              <a:tr h="383760">
                <a:tc>
                  <a:txBody>
                    <a:bodyPr anchor="ctr">
                      <a:noAutofit/>
                    </a:bodyPr>
                    <a:p>
                      <a:pPr defTabSz="914400">
                        <a:lnSpc>
                          <a:spcPct val="100000"/>
                        </a:lnSpc>
                        <a:tabLst>
                          <a:tab algn="l" pos="0"/>
                        </a:tabLst>
                      </a:pPr>
                      <a:r>
                        <a:rPr b="0" lang="en-US" sz="1150" strike="noStrike" u="none">
                          <a:solidFill>
                            <a:srgbClr val="1a2233"/>
                          </a:solidFill>
                          <a:effectLst/>
                          <a:uFillTx/>
                          <a:latin typeface="Calibri"/>
                          <a:ea typeface="Calibri"/>
                        </a:rPr>
                        <a:t>Burst arrival rate</a:t>
                      </a:r>
                      <a:endParaRPr b="0" lang="en-TR" sz="115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λ_high</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500 req/s</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r>
              <a:tr h="383760">
                <a:tc>
                  <a:txBody>
                    <a:bodyPr anchor="ctr">
                      <a:noAutofit/>
                    </a:bodyPr>
                    <a:p>
                      <a:pPr defTabSz="914400">
                        <a:lnSpc>
                          <a:spcPct val="100000"/>
                        </a:lnSpc>
                        <a:tabLst>
                          <a:tab algn="l" pos="0"/>
                        </a:tabLst>
                      </a:pPr>
                      <a:r>
                        <a:rPr b="0" lang="en-US" sz="1150" strike="noStrike" u="none">
                          <a:solidFill>
                            <a:srgbClr val="1a2233"/>
                          </a:solidFill>
                          <a:effectLst/>
                          <a:uFillTx/>
                          <a:latin typeface="Calibri"/>
                          <a:ea typeface="Calibri"/>
                        </a:rPr>
                        <a:t>Control interval</a:t>
                      </a:r>
                      <a:endParaRPr b="0" lang="en-TR" sz="115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Δ</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1 s</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r>
              <a:tr h="383760">
                <a:tc>
                  <a:txBody>
                    <a:bodyPr anchor="ctr">
                      <a:noAutofit/>
                    </a:bodyPr>
                    <a:p>
                      <a:pPr defTabSz="914400">
                        <a:lnSpc>
                          <a:spcPct val="100000"/>
                        </a:lnSpc>
                        <a:tabLst>
                          <a:tab algn="l" pos="0"/>
                        </a:tabLst>
                      </a:pPr>
                      <a:r>
                        <a:rPr b="0" lang="en-US" sz="1150" strike="noStrike" u="none">
                          <a:solidFill>
                            <a:srgbClr val="1a2233"/>
                          </a:solidFill>
                          <a:effectLst/>
                          <a:uFillTx/>
                          <a:latin typeface="Calibri"/>
                          <a:ea typeface="Calibri"/>
                        </a:rPr>
                        <a:t>Calibration threshold</a:t>
                      </a:r>
                      <a:endParaRPr b="0" lang="en-TR" sz="115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ε</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10</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r>
              <a:tr h="383760">
                <a:tc>
                  <a:txBody>
                    <a:bodyPr anchor="ctr">
                      <a:noAutofit/>
                    </a:bodyPr>
                    <a:p>
                      <a:pPr defTabSz="914400">
                        <a:lnSpc>
                          <a:spcPct val="100000"/>
                        </a:lnSpc>
                        <a:tabLst>
                          <a:tab algn="l" pos="0"/>
                        </a:tabLst>
                      </a:pPr>
                      <a:r>
                        <a:rPr b="0" lang="en-US" sz="1150" strike="noStrike" u="none">
                          <a:solidFill>
                            <a:srgbClr val="1a2233"/>
                          </a:solidFill>
                          <a:effectLst/>
                          <a:uFillTx/>
                          <a:latin typeface="Calibri"/>
                          <a:ea typeface="Calibri"/>
                        </a:rPr>
                        <a:t>Initial EMA weight</a:t>
                      </a:r>
                      <a:endParaRPr b="0" lang="en-TR" sz="115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α₀</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c>
                  <a:txBody>
                    <a:bodyPr anchor="ctr">
                      <a:noAutofit/>
                    </a:bodyPr>
                    <a:p>
                      <a:pPr defTabSz="914400">
                        <a:lnSpc>
                          <a:spcPct val="100000"/>
                        </a:lnSpc>
                        <a:tabLst>
                          <a:tab algn="l" pos="0"/>
                        </a:tabLst>
                      </a:pPr>
                      <a:r>
                        <a:rPr b="1" lang="en-US" sz="1200" strike="noStrike" u="none">
                          <a:solidFill>
                            <a:srgbClr val="1c7293"/>
                          </a:solidFill>
                          <a:effectLst/>
                          <a:uFillTx/>
                          <a:latin typeface="Consolas"/>
                          <a:ea typeface="Consolas"/>
                        </a:rPr>
                        <a:t>0.20</a:t>
                      </a:r>
                      <a:endParaRPr b="0" lang="en-TR" sz="1200" strike="noStrike" u="none">
                        <a:solidFill>
                          <a:srgbClr val="000000"/>
                        </a:solidFill>
                        <a:effectLst/>
                        <a:uFillTx/>
                        <a:latin typeface="Arial"/>
                      </a:endParaRPr>
                    </a:p>
                  </a:txBody>
                  <a:tcPr anchor="ctr" marL="91440" marR="91440">
                    <a:lnL w="9360">
                      <a:solidFill>
                        <a:srgbClr val="dce3ec"/>
                      </a:solidFill>
                      <a:prstDash val="solid"/>
                    </a:lnL>
                    <a:lnR w="9360">
                      <a:solidFill>
                        <a:srgbClr val="dce3ec"/>
                      </a:solidFill>
                      <a:prstDash val="solid"/>
                    </a:lnR>
                    <a:lnT w="9360">
                      <a:solidFill>
                        <a:srgbClr val="dce3ec"/>
                      </a:solidFill>
                      <a:prstDash val="solid"/>
                    </a:lnT>
                    <a:lnB w="9360">
                      <a:solidFill>
                        <a:srgbClr val="dce3ec"/>
                      </a:solidFill>
                      <a:prstDash val="solid"/>
                    </a:lnB>
                    <a:noFill/>
                  </a:tcPr>
                </a:tc>
              </a:tr>
            </a:tbl>
          </a:graphicData>
        </a:graphic>
      </p:graphicFrame>
      <p:sp>
        <p:nvSpPr>
          <p:cNvPr id="360" name="Shape 19"/>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361" name="Text 20"/>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362" name="Text 21"/>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13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363" name="" descr=""/>
          <p:cNvPicPr/>
          <p:nvPr/>
        </p:nvPicPr>
        <p:blipFill>
          <a:blip r:embed="rId1"/>
          <a:stretch/>
        </p:blipFill>
        <p:spPr>
          <a:xfrm>
            <a:off x="1112400" y="1371600"/>
            <a:ext cx="9966240" cy="3832560"/>
          </a:xfrm>
          <a:prstGeom prst="rect">
            <a:avLst/>
          </a:prstGeom>
          <a:noFill/>
          <a:ln w="0">
            <a:noFill/>
          </a:ln>
        </p:spPr>
      </p:pic>
      <p:sp>
        <p:nvSpPr>
          <p:cNvPr id="364"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RESULT 1</a:t>
            </a:r>
            <a:endParaRPr b="0" lang="en-TR" sz="1100" strike="noStrike" u="none">
              <a:solidFill>
                <a:srgbClr val="000000"/>
              </a:solidFill>
              <a:effectLst/>
              <a:uFillTx/>
              <a:latin typeface="Arial"/>
            </a:endParaRPr>
          </a:p>
        </p:txBody>
      </p:sp>
      <p:sp>
        <p:nvSpPr>
          <p:cNvPr id="365"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State-mirroring error — 42% reduction</a:t>
            </a:r>
            <a:endParaRPr b="0" lang="en-TR" sz="3000" strike="noStrike" u="none">
              <a:solidFill>
                <a:srgbClr val="000000"/>
              </a:solidFill>
              <a:effectLst/>
              <a:uFillTx/>
              <a:latin typeface="Arial"/>
            </a:endParaRPr>
          </a:p>
        </p:txBody>
      </p:sp>
      <p:sp>
        <p:nvSpPr>
          <p:cNvPr id="366" name="Shape 5"/>
          <p:cNvSpPr/>
          <p:nvPr/>
        </p:nvSpPr>
        <p:spPr>
          <a:xfrm>
            <a:off x="54864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67" name="Shape 6"/>
          <p:cNvSpPr/>
          <p:nvPr/>
        </p:nvSpPr>
        <p:spPr>
          <a:xfrm>
            <a:off x="548640" y="5257800"/>
            <a:ext cx="63000" cy="1050480"/>
          </a:xfrm>
          <a:prstGeom prst="rect">
            <a:avLst/>
          </a:prstGeom>
          <a:solidFill>
            <a:srgbClr val="0e8a6b"/>
          </a:solidFill>
          <a:ln w="12700">
            <a:solidFill>
              <a:srgbClr val="0e8a6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68" name="Text 7"/>
          <p:cNvSpPr/>
          <p:nvPr/>
        </p:nvSpPr>
        <p:spPr>
          <a:xfrm>
            <a:off x="731520" y="5303520"/>
            <a:ext cx="329076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600" strike="noStrike" u="none">
                <a:solidFill>
                  <a:srgbClr val="0e8a6b"/>
                </a:solidFill>
                <a:effectLst/>
                <a:uFillTx/>
                <a:latin typeface="Cambria"/>
                <a:ea typeface="Cambria"/>
              </a:rPr>
              <a:t>42 %</a:t>
            </a:r>
            <a:endParaRPr b="0" lang="en-TR" sz="3600" strike="noStrike" u="none">
              <a:solidFill>
                <a:srgbClr val="000000"/>
              </a:solidFill>
              <a:effectLst/>
              <a:uFillTx/>
              <a:latin typeface="Arial"/>
            </a:endParaRPr>
          </a:p>
        </p:txBody>
      </p:sp>
      <p:sp>
        <p:nvSpPr>
          <p:cNvPr id="369" name="Text 8"/>
          <p:cNvSpPr/>
          <p:nvPr/>
        </p:nvSpPr>
        <p:spPr>
          <a:xfrm>
            <a:off x="731520" y="5897880"/>
            <a:ext cx="329076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100" strike="noStrike" u="none">
                <a:solidFill>
                  <a:srgbClr val="334155"/>
                </a:solidFill>
                <a:effectLst/>
                <a:uFillTx/>
                <a:latin typeface="Calibri"/>
                <a:ea typeface="Calibri"/>
              </a:rPr>
              <a:t>reduction in E_mean</a:t>
            </a:r>
            <a:endParaRPr b="0" lang="en-TR" sz="1100" strike="noStrike" u="none">
              <a:solidFill>
                <a:srgbClr val="000000"/>
              </a:solidFill>
              <a:effectLst/>
              <a:uFillTx/>
              <a:latin typeface="Arial"/>
            </a:endParaRPr>
          </a:p>
        </p:txBody>
      </p:sp>
      <p:sp>
        <p:nvSpPr>
          <p:cNvPr id="370" name="Shape 9"/>
          <p:cNvSpPr/>
          <p:nvPr/>
        </p:nvSpPr>
        <p:spPr>
          <a:xfrm>
            <a:off x="429768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71" name="Shape 10"/>
          <p:cNvSpPr/>
          <p:nvPr/>
        </p:nvSpPr>
        <p:spPr>
          <a:xfrm>
            <a:off x="4297680" y="5257800"/>
            <a:ext cx="63000" cy="10504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72" name="Text 11"/>
          <p:cNvSpPr/>
          <p:nvPr/>
        </p:nvSpPr>
        <p:spPr>
          <a:xfrm>
            <a:off x="4480560" y="5312520"/>
            <a:ext cx="329076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trike="noStrike" u="none">
                <a:solidFill>
                  <a:srgbClr val="065a82"/>
                </a:solidFill>
                <a:effectLst/>
                <a:uFillTx/>
                <a:latin typeface="Cambria"/>
                <a:ea typeface="Cambria"/>
              </a:rPr>
              <a:t>E_mean  (N = 10, 95 % CI)</a:t>
            </a:r>
            <a:endParaRPr b="0" lang="en-TR" sz="1100" strike="noStrike" u="none">
              <a:solidFill>
                <a:srgbClr val="000000"/>
              </a:solidFill>
              <a:effectLst/>
              <a:uFillTx/>
              <a:latin typeface="Arial"/>
            </a:endParaRPr>
          </a:p>
        </p:txBody>
      </p:sp>
      <p:sp>
        <p:nvSpPr>
          <p:cNvPr id="373" name="Text 12"/>
          <p:cNvSpPr/>
          <p:nvPr/>
        </p:nvSpPr>
        <p:spPr>
          <a:xfrm>
            <a:off x="4480560" y="5623560"/>
            <a:ext cx="180936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spcAft>
                <a:spcPts val="201"/>
              </a:spcAft>
              <a:tabLst>
                <a:tab algn="l" pos="0"/>
              </a:tabLst>
            </a:pPr>
            <a:r>
              <a:rPr b="0" lang="en-US" sz="1100" strike="noStrike" u="none">
                <a:solidFill>
                  <a:srgbClr val="1a2233"/>
                </a:solidFill>
                <a:effectLst/>
                <a:uFillTx/>
                <a:latin typeface="Calibri"/>
                <a:ea typeface="Calibri"/>
              </a:rPr>
              <a:t>DT (no calib.)</a:t>
            </a:r>
            <a:endParaRPr b="0" lang="en-TR" sz="1100" strike="noStrike" u="none">
              <a:solidFill>
                <a:srgbClr val="000000"/>
              </a:solidFill>
              <a:effectLst/>
              <a:uFillTx/>
              <a:latin typeface="Arial"/>
            </a:endParaRPr>
          </a:p>
          <a:p>
            <a:pPr defTabSz="914400">
              <a:lnSpc>
                <a:spcPct val="100000"/>
              </a:lnSpc>
              <a:spcAft>
                <a:spcPts val="201"/>
              </a:spcAft>
              <a:tabLst>
                <a:tab algn="l" pos="0"/>
              </a:tabLst>
            </a:pPr>
            <a:r>
              <a:rPr b="1" lang="en-US" sz="1100" strike="noStrike" u="none">
                <a:solidFill>
                  <a:srgbClr val="0e8a6b"/>
                </a:solidFill>
                <a:effectLst/>
                <a:uFillTx/>
                <a:latin typeface="Calibri"/>
                <a:ea typeface="Calibri"/>
              </a:rPr>
              <a:t>Calibrated DT</a:t>
            </a:r>
            <a:endParaRPr b="0" lang="en-TR" sz="1100" strike="noStrike" u="none">
              <a:solidFill>
                <a:srgbClr val="000000"/>
              </a:solidFill>
              <a:effectLst/>
              <a:uFillTx/>
              <a:latin typeface="Arial"/>
            </a:endParaRPr>
          </a:p>
        </p:txBody>
      </p:sp>
      <p:sp>
        <p:nvSpPr>
          <p:cNvPr id="374" name="Text 13"/>
          <p:cNvSpPr/>
          <p:nvPr/>
        </p:nvSpPr>
        <p:spPr>
          <a:xfrm>
            <a:off x="6291000" y="5623560"/>
            <a:ext cx="1480320" cy="6390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spcAft>
                <a:spcPts val="201"/>
              </a:spcAft>
              <a:tabLst>
                <a:tab algn="l" pos="0"/>
              </a:tabLst>
            </a:pPr>
            <a:r>
              <a:rPr b="0" lang="en-US" sz="1100" strike="noStrike" u="none">
                <a:solidFill>
                  <a:srgbClr val="1a2233"/>
                </a:solidFill>
                <a:effectLst/>
                <a:uFillTx/>
                <a:latin typeface="Consolas"/>
                <a:ea typeface="Consolas"/>
              </a:rPr>
              <a:t>85.03 ± 4.40</a:t>
            </a:r>
            <a:endParaRPr b="0" lang="en-TR" sz="1100" strike="noStrike" u="none">
              <a:solidFill>
                <a:srgbClr val="000000"/>
              </a:solidFill>
              <a:effectLst/>
              <a:uFillTx/>
              <a:latin typeface="Arial"/>
            </a:endParaRPr>
          </a:p>
          <a:p>
            <a:pPr algn="r" defTabSz="914400">
              <a:lnSpc>
                <a:spcPct val="100000"/>
              </a:lnSpc>
              <a:spcAft>
                <a:spcPts val="201"/>
              </a:spcAft>
              <a:tabLst>
                <a:tab algn="l" pos="0"/>
              </a:tabLst>
            </a:pPr>
            <a:r>
              <a:rPr b="1" lang="en-US" sz="1100" strike="noStrike" u="none">
                <a:solidFill>
                  <a:srgbClr val="0e8a6b"/>
                </a:solidFill>
                <a:effectLst/>
                <a:uFillTx/>
                <a:latin typeface="Consolas"/>
                <a:ea typeface="Consolas"/>
              </a:rPr>
              <a:t>49.14 ± 3.09</a:t>
            </a:r>
            <a:endParaRPr b="0" lang="en-TR" sz="1100" strike="noStrike" u="none">
              <a:solidFill>
                <a:srgbClr val="000000"/>
              </a:solidFill>
              <a:effectLst/>
              <a:uFillTx/>
              <a:latin typeface="Arial"/>
            </a:endParaRPr>
          </a:p>
        </p:txBody>
      </p:sp>
      <p:sp>
        <p:nvSpPr>
          <p:cNvPr id="375" name="Shape 14"/>
          <p:cNvSpPr/>
          <p:nvPr/>
        </p:nvSpPr>
        <p:spPr>
          <a:xfrm>
            <a:off x="804672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76" name="Shape 15"/>
          <p:cNvSpPr/>
          <p:nvPr/>
        </p:nvSpPr>
        <p:spPr>
          <a:xfrm>
            <a:off x="8046720" y="5257800"/>
            <a:ext cx="63000" cy="105048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77" name="Text 16"/>
          <p:cNvSpPr/>
          <p:nvPr/>
        </p:nvSpPr>
        <p:spPr>
          <a:xfrm>
            <a:off x="8229600" y="5312520"/>
            <a:ext cx="329076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00" spc="300" strike="noStrike" u="none">
                <a:solidFill>
                  <a:srgbClr val="64748b"/>
                </a:solidFill>
                <a:effectLst/>
                <a:uFillTx/>
                <a:latin typeface="Calibri"/>
                <a:ea typeface="Calibri"/>
              </a:rPr>
              <a:t>Takeaway</a:t>
            </a:r>
            <a:endParaRPr b="0" lang="en-TR" sz="1000" strike="noStrike" u="none">
              <a:solidFill>
                <a:srgbClr val="000000"/>
              </a:solidFill>
              <a:effectLst/>
              <a:uFillTx/>
              <a:latin typeface="Arial"/>
            </a:endParaRPr>
          </a:p>
        </p:txBody>
      </p:sp>
      <p:sp>
        <p:nvSpPr>
          <p:cNvPr id="378" name="Text 17"/>
          <p:cNvSpPr/>
          <p:nvPr/>
        </p:nvSpPr>
        <p:spPr>
          <a:xfrm>
            <a:off x="8229600" y="5586840"/>
            <a:ext cx="3290760" cy="684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trike="noStrike" u="none">
                <a:solidFill>
                  <a:srgbClr val="334155"/>
                </a:solidFill>
                <a:effectLst/>
                <a:uFillTx/>
                <a:latin typeface="Calibri"/>
                <a:ea typeface="Calibri"/>
              </a:rPr>
              <a:t>Calibration suppresses model drift continuously during the burst — CIs do not overlap.</a:t>
            </a:r>
            <a:endParaRPr b="0" lang="en-TR" sz="1050" strike="noStrike" u="none">
              <a:solidFill>
                <a:srgbClr val="000000"/>
              </a:solidFill>
              <a:effectLst/>
              <a:uFillTx/>
              <a:latin typeface="Arial"/>
            </a:endParaRPr>
          </a:p>
        </p:txBody>
      </p:sp>
      <p:sp>
        <p:nvSpPr>
          <p:cNvPr id="379" name="Shape 18"/>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380" name="Text 19"/>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381" name="Text 20"/>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14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2"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RESULT 2</a:t>
            </a:r>
            <a:endParaRPr b="0" lang="en-TR" sz="1100" strike="noStrike" u="none">
              <a:solidFill>
                <a:srgbClr val="000000"/>
              </a:solidFill>
              <a:effectLst/>
              <a:uFillTx/>
              <a:latin typeface="Arial"/>
            </a:endParaRPr>
          </a:p>
        </p:txBody>
      </p:sp>
      <p:sp>
        <p:nvSpPr>
          <p:cNvPr id="383"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Queue stability</a:t>
            </a:r>
            <a:endParaRPr b="0" lang="en-TR" sz="3000" strike="noStrike" u="none">
              <a:solidFill>
                <a:srgbClr val="000000"/>
              </a:solidFill>
              <a:effectLst/>
              <a:uFillTx/>
              <a:latin typeface="Arial"/>
            </a:endParaRPr>
          </a:p>
        </p:txBody>
      </p:sp>
      <p:sp>
        <p:nvSpPr>
          <p:cNvPr id="384" name="Shape 5"/>
          <p:cNvSpPr/>
          <p:nvPr/>
        </p:nvSpPr>
        <p:spPr>
          <a:xfrm>
            <a:off x="54864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85" name="Shape 6"/>
          <p:cNvSpPr/>
          <p:nvPr/>
        </p:nvSpPr>
        <p:spPr>
          <a:xfrm>
            <a:off x="548640" y="5257800"/>
            <a:ext cx="63000" cy="10504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86" name="Text 7"/>
          <p:cNvSpPr/>
          <p:nvPr/>
        </p:nvSpPr>
        <p:spPr>
          <a:xfrm>
            <a:off x="713160" y="5294520"/>
            <a:ext cx="3309120" cy="254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50" strike="noStrike" u="none">
                <a:solidFill>
                  <a:srgbClr val="065a82"/>
                </a:solidFill>
                <a:effectLst/>
                <a:uFillTx/>
                <a:latin typeface="Cambria"/>
                <a:ea typeface="Cambria"/>
              </a:rPr>
              <a:t>P_success  (N = 10, 95 % CI)</a:t>
            </a:r>
            <a:endParaRPr b="0" lang="en-TR" sz="1050" strike="noStrike" u="none">
              <a:solidFill>
                <a:srgbClr val="000000"/>
              </a:solidFill>
              <a:effectLst/>
              <a:uFillTx/>
              <a:latin typeface="Arial"/>
            </a:endParaRPr>
          </a:p>
        </p:txBody>
      </p:sp>
      <p:sp>
        <p:nvSpPr>
          <p:cNvPr id="387" name="Text 8"/>
          <p:cNvSpPr/>
          <p:nvPr/>
        </p:nvSpPr>
        <p:spPr>
          <a:xfrm>
            <a:off x="713160" y="5550480"/>
            <a:ext cx="181944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spcAft>
                <a:spcPts val="99"/>
              </a:spcAft>
              <a:tabLst>
                <a:tab algn="l" pos="0"/>
              </a:tabLst>
            </a:pPr>
            <a:r>
              <a:rPr b="0" lang="en-US" sz="1000" strike="noStrike" u="none">
                <a:solidFill>
                  <a:srgbClr val="1a2233"/>
                </a:solidFill>
                <a:effectLst/>
                <a:uFillTx/>
                <a:latin typeface="Calibri"/>
                <a:ea typeface="Calibri"/>
              </a:rPr>
              <a:t>Reactive</a:t>
            </a:r>
            <a:endParaRPr b="0" lang="en-TR" sz="1000" strike="noStrike" u="none">
              <a:solidFill>
                <a:srgbClr val="000000"/>
              </a:solidFill>
              <a:effectLst/>
              <a:uFillTx/>
              <a:latin typeface="Arial"/>
            </a:endParaRPr>
          </a:p>
          <a:p>
            <a:pPr defTabSz="914400">
              <a:lnSpc>
                <a:spcPct val="100000"/>
              </a:lnSpc>
              <a:spcAft>
                <a:spcPts val="99"/>
              </a:spcAft>
              <a:tabLst>
                <a:tab algn="l" pos="0"/>
              </a:tabLst>
            </a:pPr>
            <a:r>
              <a:rPr b="0" lang="en-US" sz="1000" strike="noStrike" u="none">
                <a:solidFill>
                  <a:srgbClr val="1a2233"/>
                </a:solidFill>
                <a:effectLst/>
                <a:uFillTx/>
                <a:latin typeface="Calibri"/>
                <a:ea typeface="Calibri"/>
              </a:rPr>
              <a:t>DT (no calib.)</a:t>
            </a:r>
            <a:endParaRPr b="0" lang="en-TR" sz="1000" strike="noStrike" u="none">
              <a:solidFill>
                <a:srgbClr val="000000"/>
              </a:solidFill>
              <a:effectLst/>
              <a:uFillTx/>
              <a:latin typeface="Arial"/>
            </a:endParaRPr>
          </a:p>
          <a:p>
            <a:pPr defTabSz="914400">
              <a:lnSpc>
                <a:spcPct val="100000"/>
              </a:lnSpc>
              <a:spcAft>
                <a:spcPts val="99"/>
              </a:spcAft>
              <a:tabLst>
                <a:tab algn="l" pos="0"/>
              </a:tabLst>
            </a:pPr>
            <a:r>
              <a:rPr b="1" lang="en-US" sz="1000" strike="noStrike" u="none">
                <a:solidFill>
                  <a:srgbClr val="0e8a6b"/>
                </a:solidFill>
                <a:effectLst/>
                <a:uFillTx/>
                <a:latin typeface="Calibri"/>
                <a:ea typeface="Calibri"/>
              </a:rPr>
              <a:t>Calibrated DT</a:t>
            </a:r>
            <a:endParaRPr b="0" lang="en-TR" sz="1000" strike="noStrike" u="none">
              <a:solidFill>
                <a:srgbClr val="000000"/>
              </a:solidFill>
              <a:effectLst/>
              <a:uFillTx/>
              <a:latin typeface="Arial"/>
            </a:endParaRPr>
          </a:p>
        </p:txBody>
      </p:sp>
      <p:sp>
        <p:nvSpPr>
          <p:cNvPr id="388" name="Text 9"/>
          <p:cNvSpPr/>
          <p:nvPr/>
        </p:nvSpPr>
        <p:spPr>
          <a:xfrm>
            <a:off x="2533680" y="5550480"/>
            <a:ext cx="1488600" cy="776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spcAft>
                <a:spcPts val="99"/>
              </a:spcAft>
              <a:tabLst>
                <a:tab algn="l" pos="0"/>
              </a:tabLst>
            </a:pPr>
            <a:r>
              <a:rPr b="0" lang="en-US" sz="1000" strike="noStrike" u="none">
                <a:solidFill>
                  <a:srgbClr val="1a2233"/>
                </a:solidFill>
                <a:effectLst/>
                <a:uFillTx/>
                <a:latin typeface="Consolas"/>
                <a:ea typeface="Consolas"/>
              </a:rPr>
              <a:t>0.310 ± 0.015</a:t>
            </a:r>
            <a:endParaRPr b="0" lang="en-TR" sz="1000" strike="noStrike" u="none">
              <a:solidFill>
                <a:srgbClr val="000000"/>
              </a:solidFill>
              <a:effectLst/>
              <a:uFillTx/>
              <a:latin typeface="Arial"/>
            </a:endParaRPr>
          </a:p>
          <a:p>
            <a:pPr algn="r" defTabSz="914400">
              <a:lnSpc>
                <a:spcPct val="100000"/>
              </a:lnSpc>
              <a:spcAft>
                <a:spcPts val="99"/>
              </a:spcAft>
              <a:tabLst>
                <a:tab algn="l" pos="0"/>
              </a:tabLst>
            </a:pPr>
            <a:r>
              <a:rPr b="0" lang="en-US" sz="1000" strike="noStrike" u="none">
                <a:solidFill>
                  <a:srgbClr val="1a2233"/>
                </a:solidFill>
                <a:effectLst/>
                <a:uFillTx/>
                <a:latin typeface="Consolas"/>
                <a:ea typeface="Consolas"/>
              </a:rPr>
              <a:t>0.301 ± 0.011</a:t>
            </a:r>
            <a:endParaRPr b="0" lang="en-TR" sz="1000" strike="noStrike" u="none">
              <a:solidFill>
                <a:srgbClr val="000000"/>
              </a:solidFill>
              <a:effectLst/>
              <a:uFillTx/>
              <a:latin typeface="Arial"/>
            </a:endParaRPr>
          </a:p>
          <a:p>
            <a:pPr algn="r" defTabSz="914400">
              <a:lnSpc>
                <a:spcPct val="100000"/>
              </a:lnSpc>
              <a:spcAft>
                <a:spcPts val="99"/>
              </a:spcAft>
              <a:tabLst>
                <a:tab algn="l" pos="0"/>
              </a:tabLst>
            </a:pPr>
            <a:r>
              <a:rPr b="1" lang="en-US" sz="1000" strike="noStrike" u="none">
                <a:solidFill>
                  <a:srgbClr val="0e8a6b"/>
                </a:solidFill>
                <a:effectLst/>
                <a:uFillTx/>
                <a:latin typeface="Consolas"/>
                <a:ea typeface="Consolas"/>
              </a:rPr>
              <a:t>0.309 ± 0.019</a:t>
            </a:r>
            <a:endParaRPr b="0" lang="en-TR" sz="1000" strike="noStrike" u="none">
              <a:solidFill>
                <a:srgbClr val="000000"/>
              </a:solidFill>
              <a:effectLst/>
              <a:uFillTx/>
              <a:latin typeface="Arial"/>
            </a:endParaRPr>
          </a:p>
        </p:txBody>
      </p:sp>
      <p:sp>
        <p:nvSpPr>
          <p:cNvPr id="389" name="Shape 10"/>
          <p:cNvSpPr/>
          <p:nvPr/>
        </p:nvSpPr>
        <p:spPr>
          <a:xfrm>
            <a:off x="429768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90" name="Shape 11"/>
          <p:cNvSpPr/>
          <p:nvPr/>
        </p:nvSpPr>
        <p:spPr>
          <a:xfrm>
            <a:off x="4297680" y="5257800"/>
            <a:ext cx="63000" cy="1050480"/>
          </a:xfrm>
          <a:prstGeom prst="rect">
            <a:avLst/>
          </a:prstGeom>
          <a:solidFill>
            <a:srgbClr val="0e8a6b"/>
          </a:solidFill>
          <a:ln w="12700">
            <a:solidFill>
              <a:srgbClr val="0e8a6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391" name="Text 12"/>
          <p:cNvSpPr/>
          <p:nvPr/>
        </p:nvSpPr>
        <p:spPr>
          <a:xfrm>
            <a:off x="4462200" y="5257800"/>
            <a:ext cx="330912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000" strike="noStrike" u="none">
                <a:solidFill>
                  <a:srgbClr val="0e8a6b"/>
                </a:solidFill>
                <a:effectLst/>
                <a:uFillTx/>
                <a:latin typeface="Cambria"/>
                <a:ea typeface="Cambria"/>
              </a:rPr>
              <a:t>≈</a:t>
            </a:r>
            <a:endParaRPr b="0" lang="en-TR" sz="4000" strike="noStrike" u="none">
              <a:solidFill>
                <a:srgbClr val="000000"/>
              </a:solidFill>
              <a:effectLst/>
              <a:uFillTx/>
              <a:latin typeface="Arial"/>
            </a:endParaRPr>
          </a:p>
        </p:txBody>
      </p:sp>
      <p:sp>
        <p:nvSpPr>
          <p:cNvPr id="392" name="Text 13"/>
          <p:cNvSpPr/>
          <p:nvPr/>
        </p:nvSpPr>
        <p:spPr>
          <a:xfrm>
            <a:off x="4462200" y="5806440"/>
            <a:ext cx="3309120" cy="456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050" strike="noStrike" u="none">
                <a:solidFill>
                  <a:srgbClr val="334155"/>
                </a:solidFill>
                <a:effectLst/>
                <a:uFillTx/>
                <a:latin typeface="Calibri"/>
                <a:ea typeface="Calibri"/>
              </a:rPr>
              <a:t>statistically equivalent to baseline; no throughput penalty</a:t>
            </a:r>
            <a:endParaRPr b="0" lang="en-TR" sz="1050" strike="noStrike" u="none">
              <a:solidFill>
                <a:srgbClr val="000000"/>
              </a:solidFill>
              <a:effectLst/>
              <a:uFillTx/>
              <a:latin typeface="Arial"/>
            </a:endParaRPr>
          </a:p>
        </p:txBody>
      </p:sp>
      <p:sp>
        <p:nvSpPr>
          <p:cNvPr id="393" name="Shape 14"/>
          <p:cNvSpPr/>
          <p:nvPr/>
        </p:nvSpPr>
        <p:spPr>
          <a:xfrm>
            <a:off x="804672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94" name="Shape 15"/>
          <p:cNvSpPr/>
          <p:nvPr/>
        </p:nvSpPr>
        <p:spPr>
          <a:xfrm>
            <a:off x="8046720" y="5257800"/>
            <a:ext cx="63000" cy="105048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395" name="Text 16"/>
          <p:cNvSpPr/>
          <p:nvPr/>
        </p:nvSpPr>
        <p:spPr>
          <a:xfrm>
            <a:off x="8211240" y="5294520"/>
            <a:ext cx="3309120" cy="254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00" spc="300" strike="noStrike" u="none">
                <a:solidFill>
                  <a:srgbClr val="64748b"/>
                </a:solidFill>
                <a:effectLst/>
                <a:uFillTx/>
                <a:latin typeface="Calibri"/>
                <a:ea typeface="Calibri"/>
              </a:rPr>
              <a:t>Interpretation</a:t>
            </a:r>
            <a:endParaRPr b="0" lang="en-TR" sz="1000" strike="noStrike" u="none">
              <a:solidFill>
                <a:srgbClr val="000000"/>
              </a:solidFill>
              <a:effectLst/>
              <a:uFillTx/>
              <a:latin typeface="Arial"/>
            </a:endParaRPr>
          </a:p>
        </p:txBody>
      </p:sp>
      <p:sp>
        <p:nvSpPr>
          <p:cNvPr id="396" name="Text 17"/>
          <p:cNvSpPr/>
          <p:nvPr/>
        </p:nvSpPr>
        <p:spPr>
          <a:xfrm>
            <a:off x="8211240" y="5550480"/>
            <a:ext cx="3309120" cy="77616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201"/>
              </a:spcAft>
              <a:buClr>
                <a:srgbClr val="334155"/>
              </a:buClr>
              <a:buFont typeface="Symbol" charset="2"/>
              <a:buChar char=""/>
            </a:pPr>
            <a:r>
              <a:rPr b="0" lang="en-US" sz="1000" strike="noStrike" u="none">
                <a:solidFill>
                  <a:srgbClr val="334155"/>
                </a:solidFill>
                <a:effectLst/>
                <a:uFillTx/>
                <a:latin typeface="Calibri"/>
                <a:ea typeface="Calibri"/>
              </a:rPr>
              <a:t>Reactive only acts after Q &gt; 0.8 K</a:t>
            </a:r>
            <a:endParaRPr b="0" lang="en-TR" sz="1000" strike="noStrike" u="none">
              <a:solidFill>
                <a:srgbClr val="000000"/>
              </a:solidFill>
              <a:effectLst/>
              <a:uFillTx/>
              <a:latin typeface="Arial"/>
            </a:endParaRPr>
          </a:p>
          <a:p>
            <a:pPr marL="343080" indent="-343080" defTabSz="914400">
              <a:lnSpc>
                <a:spcPct val="100000"/>
              </a:lnSpc>
              <a:spcAft>
                <a:spcPts val="201"/>
              </a:spcAft>
              <a:buClr>
                <a:srgbClr val="334155"/>
              </a:buClr>
              <a:buFont typeface="Symbol" charset="2"/>
              <a:buChar char=""/>
            </a:pPr>
            <a:r>
              <a:rPr b="0" lang="en-US" sz="1000" strike="noStrike" u="none">
                <a:solidFill>
                  <a:srgbClr val="334155"/>
                </a:solidFill>
                <a:effectLst/>
                <a:uFillTx/>
                <a:latin typeface="Calibri"/>
                <a:ea typeface="Calibri"/>
              </a:rPr>
              <a:t>Calibrated DT raises p_acb before saturation</a:t>
            </a:r>
            <a:endParaRPr b="0" lang="en-TR" sz="1000" strike="noStrike" u="none">
              <a:solidFill>
                <a:srgbClr val="000000"/>
              </a:solidFill>
              <a:effectLst/>
              <a:uFillTx/>
              <a:latin typeface="Arial"/>
            </a:endParaRPr>
          </a:p>
        </p:txBody>
      </p:sp>
      <p:sp>
        <p:nvSpPr>
          <p:cNvPr id="397" name="Shape 18"/>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398" name="Text 19"/>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399" name="Text 20"/>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15 / 21</a:t>
            </a:r>
            <a:endParaRPr b="0" lang="en-TR" sz="900" strike="noStrike" u="none">
              <a:solidFill>
                <a:srgbClr val="000000"/>
              </a:solidFill>
              <a:effectLst/>
              <a:uFillTx/>
              <a:latin typeface="Arial"/>
            </a:endParaRPr>
          </a:p>
        </p:txBody>
      </p:sp>
      <p:pic>
        <p:nvPicPr>
          <p:cNvPr id="400" name="" descr=""/>
          <p:cNvPicPr/>
          <p:nvPr/>
        </p:nvPicPr>
        <p:blipFill>
          <a:blip r:embed="rId1"/>
          <a:stretch/>
        </p:blipFill>
        <p:spPr>
          <a:xfrm>
            <a:off x="1149120" y="1363320"/>
            <a:ext cx="9892800" cy="380412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1"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RESULT 3</a:t>
            </a:r>
            <a:endParaRPr b="0" lang="en-TR" sz="1100" strike="noStrike" u="none">
              <a:solidFill>
                <a:srgbClr val="000000"/>
              </a:solidFill>
              <a:effectLst/>
              <a:uFillTx/>
              <a:latin typeface="Arial"/>
            </a:endParaRPr>
          </a:p>
        </p:txBody>
      </p:sp>
      <p:sp>
        <p:nvSpPr>
          <p:cNvPr id="402"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Queueing delay — CDF</a:t>
            </a:r>
            <a:endParaRPr b="0" lang="en-TR" sz="3000" strike="noStrike" u="none">
              <a:solidFill>
                <a:srgbClr val="000000"/>
              </a:solidFill>
              <a:effectLst/>
              <a:uFillTx/>
              <a:latin typeface="Arial"/>
            </a:endParaRPr>
          </a:p>
        </p:txBody>
      </p:sp>
      <p:sp>
        <p:nvSpPr>
          <p:cNvPr id="403" name="Shape 5"/>
          <p:cNvSpPr/>
          <p:nvPr/>
        </p:nvSpPr>
        <p:spPr>
          <a:xfrm>
            <a:off x="54864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04" name="Shape 6"/>
          <p:cNvSpPr/>
          <p:nvPr/>
        </p:nvSpPr>
        <p:spPr>
          <a:xfrm>
            <a:off x="548640" y="5257800"/>
            <a:ext cx="63000" cy="105048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405" name="Text 7"/>
          <p:cNvSpPr/>
          <p:nvPr/>
        </p:nvSpPr>
        <p:spPr>
          <a:xfrm>
            <a:off x="713160" y="5294520"/>
            <a:ext cx="3309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rgbClr val="1a2233"/>
                </a:solidFill>
                <a:effectLst/>
                <a:uFillTx/>
                <a:latin typeface="Cambria"/>
                <a:ea typeface="Cambria"/>
              </a:rPr>
              <a:t>CDF left-shift</a:t>
            </a:r>
            <a:endParaRPr b="0" lang="en-TR" sz="1200" strike="noStrike" u="none">
              <a:solidFill>
                <a:srgbClr val="000000"/>
              </a:solidFill>
              <a:effectLst/>
              <a:uFillTx/>
              <a:latin typeface="Arial"/>
            </a:endParaRPr>
          </a:p>
        </p:txBody>
      </p:sp>
      <p:sp>
        <p:nvSpPr>
          <p:cNvPr id="406" name="Text 8"/>
          <p:cNvSpPr/>
          <p:nvPr/>
        </p:nvSpPr>
        <p:spPr>
          <a:xfrm>
            <a:off x="713160" y="5568840"/>
            <a:ext cx="3309120" cy="7304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trike="noStrike" u="none">
                <a:solidFill>
                  <a:srgbClr val="334155"/>
                </a:solidFill>
                <a:effectLst/>
                <a:uFillTx/>
                <a:latin typeface="Calibri"/>
                <a:ea typeface="Calibri"/>
              </a:rPr>
              <a:t>Calibrated DT curve sits left of the others — lower delay across all reported percentiles.</a:t>
            </a:r>
            <a:endParaRPr b="0" lang="en-TR" sz="1050" strike="noStrike" u="none">
              <a:solidFill>
                <a:srgbClr val="000000"/>
              </a:solidFill>
              <a:effectLst/>
              <a:uFillTx/>
              <a:latin typeface="Arial"/>
            </a:endParaRPr>
          </a:p>
        </p:txBody>
      </p:sp>
      <p:sp>
        <p:nvSpPr>
          <p:cNvPr id="407" name="Shape 9"/>
          <p:cNvSpPr/>
          <p:nvPr/>
        </p:nvSpPr>
        <p:spPr>
          <a:xfrm>
            <a:off x="429768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08" name="Shape 10"/>
          <p:cNvSpPr/>
          <p:nvPr/>
        </p:nvSpPr>
        <p:spPr>
          <a:xfrm>
            <a:off x="4297680" y="5257800"/>
            <a:ext cx="63000" cy="1050480"/>
          </a:xfrm>
          <a:prstGeom prst="rect">
            <a:avLst/>
          </a:prstGeom>
          <a:solidFill>
            <a:srgbClr val="0e8a6b"/>
          </a:solidFill>
          <a:ln w="12700">
            <a:solidFill>
              <a:srgbClr val="0e8a6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409" name="Text 11"/>
          <p:cNvSpPr/>
          <p:nvPr/>
        </p:nvSpPr>
        <p:spPr>
          <a:xfrm>
            <a:off x="4462200" y="5294520"/>
            <a:ext cx="3309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rgbClr val="1a2233"/>
                </a:solidFill>
                <a:effectLst/>
                <a:uFillTx/>
                <a:latin typeface="Cambria"/>
                <a:ea typeface="Cambria"/>
              </a:rPr>
              <a:t>Tail suppressed</a:t>
            </a:r>
            <a:endParaRPr b="0" lang="en-TR" sz="1200" strike="noStrike" u="none">
              <a:solidFill>
                <a:srgbClr val="000000"/>
              </a:solidFill>
              <a:effectLst/>
              <a:uFillTx/>
              <a:latin typeface="Arial"/>
            </a:endParaRPr>
          </a:p>
        </p:txBody>
      </p:sp>
      <p:sp>
        <p:nvSpPr>
          <p:cNvPr id="410" name="Text 12"/>
          <p:cNvSpPr/>
          <p:nvPr/>
        </p:nvSpPr>
        <p:spPr>
          <a:xfrm>
            <a:off x="4462200" y="5568840"/>
            <a:ext cx="3309120" cy="7304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trike="noStrike" u="none">
                <a:solidFill>
                  <a:srgbClr val="334155"/>
                </a:solidFill>
                <a:effectLst/>
                <a:uFillTx/>
                <a:latin typeface="Calibri"/>
                <a:ea typeface="Calibri"/>
              </a:rPr>
              <a:t>P90 / P99 queueing delay roughly halved — critical for URLLC latency budgets.</a:t>
            </a:r>
            <a:endParaRPr b="0" lang="en-TR" sz="1050" strike="noStrike" u="none">
              <a:solidFill>
                <a:srgbClr val="000000"/>
              </a:solidFill>
              <a:effectLst/>
              <a:uFillTx/>
              <a:latin typeface="Arial"/>
            </a:endParaRPr>
          </a:p>
        </p:txBody>
      </p:sp>
      <p:sp>
        <p:nvSpPr>
          <p:cNvPr id="411" name="Shape 13"/>
          <p:cNvSpPr/>
          <p:nvPr/>
        </p:nvSpPr>
        <p:spPr>
          <a:xfrm>
            <a:off x="804672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12" name="Shape 14"/>
          <p:cNvSpPr/>
          <p:nvPr/>
        </p:nvSpPr>
        <p:spPr>
          <a:xfrm>
            <a:off x="8046720" y="5257800"/>
            <a:ext cx="63000" cy="105048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13" name="Text 15"/>
          <p:cNvSpPr/>
          <p:nvPr/>
        </p:nvSpPr>
        <p:spPr>
          <a:xfrm>
            <a:off x="8211240" y="5294520"/>
            <a:ext cx="3309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00" spc="300" strike="noStrike" u="none">
                <a:solidFill>
                  <a:srgbClr val="64748b"/>
                </a:solidFill>
                <a:effectLst/>
                <a:uFillTx/>
                <a:latin typeface="Calibri"/>
                <a:ea typeface="Calibri"/>
              </a:rPr>
              <a:t>Mechanism</a:t>
            </a:r>
            <a:endParaRPr b="0" lang="en-TR" sz="1000" strike="noStrike" u="none">
              <a:solidFill>
                <a:srgbClr val="000000"/>
              </a:solidFill>
              <a:effectLst/>
              <a:uFillTx/>
              <a:latin typeface="Arial"/>
            </a:endParaRPr>
          </a:p>
        </p:txBody>
      </p:sp>
      <p:sp>
        <p:nvSpPr>
          <p:cNvPr id="414" name="Text 16"/>
          <p:cNvSpPr/>
          <p:nvPr/>
        </p:nvSpPr>
        <p:spPr>
          <a:xfrm>
            <a:off x="8211240" y="5550480"/>
            <a:ext cx="3309120" cy="77616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201"/>
              </a:spcAft>
              <a:buClr>
                <a:srgbClr val="334155"/>
              </a:buClr>
              <a:buFont typeface="Symbol" charset="2"/>
              <a:buChar char=""/>
            </a:pPr>
            <a:r>
              <a:rPr b="0" lang="en-US" sz="950" strike="noStrike" u="none">
                <a:solidFill>
                  <a:srgbClr val="334155"/>
                </a:solidFill>
                <a:effectLst/>
                <a:uFillTx/>
                <a:latin typeface="Calibri"/>
                <a:ea typeface="Calibri"/>
              </a:rPr>
              <a:t>Reactive admits requests into a deeply loaded queue</a:t>
            </a:r>
            <a:endParaRPr b="0" lang="en-TR" sz="950" strike="noStrike" u="none">
              <a:solidFill>
                <a:srgbClr val="000000"/>
              </a:solidFill>
              <a:effectLst/>
              <a:uFillTx/>
              <a:latin typeface="Arial"/>
            </a:endParaRPr>
          </a:p>
          <a:p>
            <a:pPr marL="343080" indent="-343080" defTabSz="914400">
              <a:lnSpc>
                <a:spcPct val="100000"/>
              </a:lnSpc>
              <a:spcAft>
                <a:spcPts val="201"/>
              </a:spcAft>
              <a:buClr>
                <a:srgbClr val="334155"/>
              </a:buClr>
              <a:buFont typeface="Symbol" charset="2"/>
              <a:buChar char=""/>
            </a:pPr>
            <a:r>
              <a:rPr b="0" lang="en-US" sz="950" strike="noStrike" u="none">
                <a:solidFill>
                  <a:srgbClr val="334155"/>
                </a:solidFill>
                <a:effectLst/>
                <a:uFillTx/>
                <a:latin typeface="Calibri"/>
                <a:ea typeface="Calibri"/>
              </a:rPr>
              <a:t>Calibrated DT keeps Q_real low → short waits</a:t>
            </a:r>
            <a:endParaRPr b="0" lang="en-TR" sz="950" strike="noStrike" u="none">
              <a:solidFill>
                <a:srgbClr val="000000"/>
              </a:solidFill>
              <a:effectLst/>
              <a:uFillTx/>
              <a:latin typeface="Arial"/>
            </a:endParaRPr>
          </a:p>
        </p:txBody>
      </p:sp>
      <p:sp>
        <p:nvSpPr>
          <p:cNvPr id="415" name="Shape 17"/>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416" name="Text 18"/>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417" name="Text 19"/>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16 / 21</a:t>
            </a:r>
            <a:endParaRPr b="0" lang="en-TR" sz="900" strike="noStrike" u="none">
              <a:solidFill>
                <a:srgbClr val="000000"/>
              </a:solidFill>
              <a:effectLst/>
              <a:uFillTx/>
              <a:latin typeface="Arial"/>
            </a:endParaRPr>
          </a:p>
        </p:txBody>
      </p:sp>
      <p:pic>
        <p:nvPicPr>
          <p:cNvPr id="418" name="" descr=""/>
          <p:cNvPicPr/>
          <p:nvPr/>
        </p:nvPicPr>
        <p:blipFill>
          <a:blip r:embed="rId1"/>
          <a:stretch/>
        </p:blipFill>
        <p:spPr>
          <a:xfrm>
            <a:off x="1866960" y="1371600"/>
            <a:ext cx="8457480" cy="3843360"/>
          </a:xfrm>
          <a:prstGeom prst="rect">
            <a:avLst/>
          </a:prstGeom>
          <a:noFill/>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9"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RESULT 4</a:t>
            </a:r>
            <a:endParaRPr b="0" lang="en-TR" sz="1100" strike="noStrike" u="none">
              <a:solidFill>
                <a:srgbClr val="000000"/>
              </a:solidFill>
              <a:effectLst/>
              <a:uFillTx/>
              <a:latin typeface="Arial"/>
            </a:endParaRPr>
          </a:p>
        </p:txBody>
      </p:sp>
      <p:sp>
        <p:nvSpPr>
          <p:cNvPr id="420"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ε-sensitivity analysis</a:t>
            </a:r>
            <a:endParaRPr b="0" lang="en-TR" sz="3000" strike="noStrike" u="none">
              <a:solidFill>
                <a:srgbClr val="000000"/>
              </a:solidFill>
              <a:effectLst/>
              <a:uFillTx/>
              <a:latin typeface="Arial"/>
            </a:endParaRPr>
          </a:p>
        </p:txBody>
      </p:sp>
      <p:sp>
        <p:nvSpPr>
          <p:cNvPr id="421" name="Shape 5"/>
          <p:cNvSpPr/>
          <p:nvPr/>
        </p:nvSpPr>
        <p:spPr>
          <a:xfrm>
            <a:off x="54864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22" name="Shape 6"/>
          <p:cNvSpPr/>
          <p:nvPr/>
        </p:nvSpPr>
        <p:spPr>
          <a:xfrm>
            <a:off x="548640" y="5257800"/>
            <a:ext cx="63000" cy="105048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23" name="Text 7"/>
          <p:cNvSpPr/>
          <p:nvPr/>
        </p:nvSpPr>
        <p:spPr>
          <a:xfrm>
            <a:off x="713160" y="5294520"/>
            <a:ext cx="3309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trike="noStrike" u="none">
                <a:solidFill>
                  <a:srgbClr val="065a82"/>
                </a:solidFill>
                <a:effectLst/>
                <a:uFillTx/>
                <a:latin typeface="Cambria"/>
                <a:ea typeface="Cambria"/>
              </a:rPr>
              <a:t>Tested values</a:t>
            </a:r>
            <a:endParaRPr b="0" lang="en-TR" sz="1100" strike="noStrike" u="none">
              <a:solidFill>
                <a:srgbClr val="000000"/>
              </a:solidFill>
              <a:effectLst/>
              <a:uFillTx/>
              <a:latin typeface="Arial"/>
            </a:endParaRPr>
          </a:p>
        </p:txBody>
      </p:sp>
      <p:sp>
        <p:nvSpPr>
          <p:cNvPr id="424" name="Text 8"/>
          <p:cNvSpPr/>
          <p:nvPr/>
        </p:nvSpPr>
        <p:spPr>
          <a:xfrm>
            <a:off x="713160" y="5586840"/>
            <a:ext cx="3309120" cy="410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1a2233"/>
                </a:solidFill>
                <a:effectLst/>
                <a:uFillTx/>
                <a:latin typeface="Consolas"/>
                <a:ea typeface="Consolas"/>
              </a:rPr>
              <a:t>ε ∈ { 5, 10, 20, 40, 80 }</a:t>
            </a:r>
            <a:endParaRPr b="0" lang="en-TR" sz="1400" strike="noStrike" u="none">
              <a:solidFill>
                <a:srgbClr val="000000"/>
              </a:solidFill>
              <a:effectLst/>
              <a:uFillTx/>
              <a:latin typeface="Arial"/>
            </a:endParaRPr>
          </a:p>
        </p:txBody>
      </p:sp>
      <p:sp>
        <p:nvSpPr>
          <p:cNvPr id="425" name="Text 9"/>
          <p:cNvSpPr/>
          <p:nvPr/>
        </p:nvSpPr>
        <p:spPr>
          <a:xfrm>
            <a:off x="713160" y="6007680"/>
            <a:ext cx="3309120" cy="273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950" strike="noStrike" u="none">
                <a:solidFill>
                  <a:srgbClr val="64748b"/>
                </a:solidFill>
                <a:effectLst/>
                <a:uFillTx/>
                <a:latin typeface="Calibri"/>
                <a:ea typeface="Calibri"/>
              </a:rPr>
              <a:t>Single-seed sweep (seed = 42)</a:t>
            </a:r>
            <a:endParaRPr b="0" lang="en-TR" sz="950" strike="noStrike" u="none">
              <a:solidFill>
                <a:srgbClr val="000000"/>
              </a:solidFill>
              <a:effectLst/>
              <a:uFillTx/>
              <a:latin typeface="Arial"/>
            </a:endParaRPr>
          </a:p>
        </p:txBody>
      </p:sp>
      <p:sp>
        <p:nvSpPr>
          <p:cNvPr id="426" name="Shape 10"/>
          <p:cNvSpPr/>
          <p:nvPr/>
        </p:nvSpPr>
        <p:spPr>
          <a:xfrm>
            <a:off x="429768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27" name="Shape 11"/>
          <p:cNvSpPr/>
          <p:nvPr/>
        </p:nvSpPr>
        <p:spPr>
          <a:xfrm>
            <a:off x="4297680" y="5257800"/>
            <a:ext cx="63000" cy="10504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428" name="Text 12"/>
          <p:cNvSpPr/>
          <p:nvPr/>
        </p:nvSpPr>
        <p:spPr>
          <a:xfrm>
            <a:off x="4462200" y="5294520"/>
            <a:ext cx="3309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trike="noStrike" u="none">
                <a:solidFill>
                  <a:srgbClr val="065a82"/>
                </a:solidFill>
                <a:effectLst/>
                <a:uFillTx/>
                <a:latin typeface="Cambria"/>
                <a:ea typeface="Cambria"/>
              </a:rPr>
              <a:t>Interpretation</a:t>
            </a:r>
            <a:endParaRPr b="0" lang="en-TR" sz="1100" strike="noStrike" u="none">
              <a:solidFill>
                <a:srgbClr val="000000"/>
              </a:solidFill>
              <a:effectLst/>
              <a:uFillTx/>
              <a:latin typeface="Arial"/>
            </a:endParaRPr>
          </a:p>
        </p:txBody>
      </p:sp>
      <p:sp>
        <p:nvSpPr>
          <p:cNvPr id="429" name="Text 13"/>
          <p:cNvSpPr/>
          <p:nvPr/>
        </p:nvSpPr>
        <p:spPr>
          <a:xfrm>
            <a:off x="4462200" y="5550480"/>
            <a:ext cx="3309120" cy="77616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99"/>
              </a:spcAft>
              <a:buClr>
                <a:srgbClr val="334155"/>
              </a:buClr>
              <a:buFont typeface="Symbol" charset="2"/>
              <a:buChar char=""/>
            </a:pPr>
            <a:r>
              <a:rPr b="0" lang="en-US" sz="950" strike="noStrike" u="none">
                <a:solidFill>
                  <a:srgbClr val="334155"/>
                </a:solidFill>
                <a:effectLst/>
                <a:uFillTx/>
                <a:latin typeface="Calibri"/>
                <a:ea typeface="Calibri"/>
              </a:rPr>
              <a:t>ε = 5 → over-calibrates on normal traffic</a:t>
            </a:r>
            <a:endParaRPr b="0" lang="en-TR" sz="950" strike="noStrike" u="none">
              <a:solidFill>
                <a:srgbClr val="000000"/>
              </a:solidFill>
              <a:effectLst/>
              <a:uFillTx/>
              <a:latin typeface="Arial"/>
            </a:endParaRPr>
          </a:p>
          <a:p>
            <a:pPr marL="343080" indent="-343080" defTabSz="914400">
              <a:lnSpc>
                <a:spcPct val="100000"/>
              </a:lnSpc>
              <a:spcAft>
                <a:spcPts val="99"/>
              </a:spcAft>
              <a:buClr>
                <a:srgbClr val="334155"/>
              </a:buClr>
              <a:buFont typeface="Symbol" charset="2"/>
              <a:buChar char=""/>
            </a:pPr>
            <a:r>
              <a:rPr b="0" lang="en-US" sz="950" strike="noStrike" u="none">
                <a:solidFill>
                  <a:srgbClr val="334155"/>
                </a:solidFill>
                <a:effectLst/>
                <a:uFillTx/>
                <a:latin typeface="Calibri"/>
                <a:ea typeface="Calibri"/>
              </a:rPr>
              <a:t>ε = 80 → calibration rarely triggers</a:t>
            </a:r>
            <a:endParaRPr b="0" lang="en-TR" sz="950" strike="noStrike" u="none">
              <a:solidFill>
                <a:srgbClr val="000000"/>
              </a:solidFill>
              <a:effectLst/>
              <a:uFillTx/>
              <a:latin typeface="Arial"/>
            </a:endParaRPr>
          </a:p>
          <a:p>
            <a:pPr marL="343080" indent="-343080" defTabSz="914400">
              <a:lnSpc>
                <a:spcPct val="100000"/>
              </a:lnSpc>
              <a:spcAft>
                <a:spcPts val="99"/>
              </a:spcAft>
              <a:buClr>
                <a:srgbClr val="334155"/>
              </a:buClr>
              <a:buFont typeface="Symbol" charset="2"/>
              <a:buChar char=""/>
            </a:pPr>
            <a:r>
              <a:rPr b="0" lang="en-US" sz="950" strike="noStrike" u="none">
                <a:solidFill>
                  <a:srgbClr val="334155"/>
                </a:solidFill>
                <a:effectLst/>
                <a:uFillTx/>
                <a:latin typeface="Calibri"/>
                <a:ea typeface="Calibri"/>
              </a:rPr>
              <a:t>ε = 40 → best composite in this sweep</a:t>
            </a:r>
            <a:endParaRPr b="0" lang="en-TR" sz="950" strike="noStrike" u="none">
              <a:solidFill>
                <a:srgbClr val="000000"/>
              </a:solidFill>
              <a:effectLst/>
              <a:uFillTx/>
              <a:latin typeface="Arial"/>
            </a:endParaRPr>
          </a:p>
        </p:txBody>
      </p:sp>
      <p:sp>
        <p:nvSpPr>
          <p:cNvPr id="430" name="Shape 14"/>
          <p:cNvSpPr/>
          <p:nvPr/>
        </p:nvSpPr>
        <p:spPr>
          <a:xfrm>
            <a:off x="8046720" y="5257800"/>
            <a:ext cx="3565080" cy="10504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31" name="Shape 15"/>
          <p:cNvSpPr/>
          <p:nvPr/>
        </p:nvSpPr>
        <p:spPr>
          <a:xfrm>
            <a:off x="8046720" y="5257800"/>
            <a:ext cx="63000" cy="1050480"/>
          </a:xfrm>
          <a:prstGeom prst="rect">
            <a:avLst/>
          </a:prstGeom>
          <a:solidFill>
            <a:srgbClr val="0e8a6b"/>
          </a:solidFill>
          <a:ln w="12700">
            <a:solidFill>
              <a:srgbClr val="0e8a6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432" name="Text 16"/>
          <p:cNvSpPr/>
          <p:nvPr/>
        </p:nvSpPr>
        <p:spPr>
          <a:xfrm>
            <a:off x="8211240" y="5294520"/>
            <a:ext cx="3309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00" spc="300" strike="noStrike" u="none">
                <a:solidFill>
                  <a:srgbClr val="64748b"/>
                </a:solidFill>
                <a:effectLst/>
                <a:uFillTx/>
                <a:latin typeface="Calibri"/>
                <a:ea typeface="Calibri"/>
              </a:rPr>
              <a:t>Adopted default</a:t>
            </a:r>
            <a:endParaRPr b="0" lang="en-TR" sz="1000" strike="noStrike" u="none">
              <a:solidFill>
                <a:srgbClr val="000000"/>
              </a:solidFill>
              <a:effectLst/>
              <a:uFillTx/>
              <a:latin typeface="Arial"/>
            </a:endParaRPr>
          </a:p>
        </p:txBody>
      </p:sp>
      <p:sp>
        <p:nvSpPr>
          <p:cNvPr id="433" name="Text 17"/>
          <p:cNvSpPr/>
          <p:nvPr/>
        </p:nvSpPr>
        <p:spPr>
          <a:xfrm>
            <a:off x="8211240" y="5532120"/>
            <a:ext cx="3309120" cy="410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trike="noStrike" u="none">
                <a:solidFill>
                  <a:srgbClr val="0e8a6b"/>
                </a:solidFill>
                <a:effectLst/>
                <a:uFillTx/>
                <a:latin typeface="Cambria"/>
                <a:ea typeface="Cambria"/>
              </a:rPr>
              <a:t>ε = 10</a:t>
            </a:r>
            <a:endParaRPr b="0" lang="en-TR" sz="2200" strike="noStrike" u="none">
              <a:solidFill>
                <a:srgbClr val="000000"/>
              </a:solidFill>
              <a:effectLst/>
              <a:uFillTx/>
              <a:latin typeface="Arial"/>
            </a:endParaRPr>
          </a:p>
        </p:txBody>
      </p:sp>
      <p:sp>
        <p:nvSpPr>
          <p:cNvPr id="434" name="Text 18"/>
          <p:cNvSpPr/>
          <p:nvPr/>
        </p:nvSpPr>
        <p:spPr>
          <a:xfrm>
            <a:off x="8211240" y="5970960"/>
            <a:ext cx="33091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000" strike="noStrike" u="none">
                <a:solidFill>
                  <a:srgbClr val="334155"/>
                </a:solidFill>
                <a:effectLst/>
                <a:uFillTx/>
                <a:latin typeface="Calibri"/>
                <a:ea typeface="Calibri"/>
              </a:rPr>
              <a:t>conservative — just above the normal-traffic noise floor</a:t>
            </a:r>
            <a:endParaRPr b="0" lang="en-TR" sz="1000" strike="noStrike" u="none">
              <a:solidFill>
                <a:srgbClr val="000000"/>
              </a:solidFill>
              <a:effectLst/>
              <a:uFillTx/>
              <a:latin typeface="Arial"/>
            </a:endParaRPr>
          </a:p>
        </p:txBody>
      </p:sp>
      <p:sp>
        <p:nvSpPr>
          <p:cNvPr id="435" name="Shape 19"/>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436" name="Text 20"/>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437" name="Text 21"/>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17 / 21</a:t>
            </a:r>
            <a:endParaRPr b="0" lang="en-TR" sz="900" strike="noStrike" u="none">
              <a:solidFill>
                <a:srgbClr val="000000"/>
              </a:solidFill>
              <a:effectLst/>
              <a:uFillTx/>
              <a:latin typeface="Arial"/>
            </a:endParaRPr>
          </a:p>
        </p:txBody>
      </p:sp>
      <p:pic>
        <p:nvPicPr>
          <p:cNvPr id="438" name="" descr=""/>
          <p:cNvPicPr/>
          <p:nvPr/>
        </p:nvPicPr>
        <p:blipFill>
          <a:blip r:embed="rId1"/>
          <a:stretch/>
        </p:blipFill>
        <p:spPr>
          <a:xfrm>
            <a:off x="0" y="1371600"/>
            <a:ext cx="12191040" cy="3482280"/>
          </a:xfrm>
          <a:prstGeom prst="rect">
            <a:avLst/>
          </a:prstGeom>
          <a:noFill/>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9"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DEPLOYMENT</a:t>
            </a:r>
            <a:endParaRPr b="0" lang="en-TR" sz="1100" strike="noStrike" u="none">
              <a:solidFill>
                <a:srgbClr val="000000"/>
              </a:solidFill>
              <a:effectLst/>
              <a:uFillTx/>
              <a:latin typeface="Arial"/>
            </a:endParaRPr>
          </a:p>
        </p:txBody>
      </p:sp>
      <p:sp>
        <p:nvSpPr>
          <p:cNvPr id="440"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O(1) complexity and O-RAN integration</a:t>
            </a:r>
            <a:endParaRPr b="0" lang="en-TR" sz="3000" strike="noStrike" u="none">
              <a:solidFill>
                <a:srgbClr val="000000"/>
              </a:solidFill>
              <a:effectLst/>
              <a:uFillTx/>
              <a:latin typeface="Arial"/>
            </a:endParaRPr>
          </a:p>
        </p:txBody>
      </p:sp>
      <p:sp>
        <p:nvSpPr>
          <p:cNvPr id="441" name="Shape 2"/>
          <p:cNvSpPr/>
          <p:nvPr/>
        </p:nvSpPr>
        <p:spPr>
          <a:xfrm>
            <a:off x="548640" y="1600200"/>
            <a:ext cx="594252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42" name="Text 3"/>
          <p:cNvSpPr/>
          <p:nvPr/>
        </p:nvSpPr>
        <p:spPr>
          <a:xfrm>
            <a:off x="822960" y="1737360"/>
            <a:ext cx="548532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O-RAN integration</a:t>
            </a:r>
            <a:endParaRPr b="0" lang="en-TR" sz="1400" strike="noStrike" u="none">
              <a:solidFill>
                <a:srgbClr val="000000"/>
              </a:solidFill>
              <a:effectLst/>
              <a:uFillTx/>
              <a:latin typeface="Arial"/>
            </a:endParaRPr>
          </a:p>
        </p:txBody>
      </p:sp>
      <p:sp>
        <p:nvSpPr>
          <p:cNvPr id="443" name="Shape 4"/>
          <p:cNvSpPr/>
          <p:nvPr/>
        </p:nvSpPr>
        <p:spPr>
          <a:xfrm>
            <a:off x="1005840" y="2240280"/>
            <a:ext cx="5028120" cy="867600"/>
          </a:xfrm>
          <a:prstGeom prst="roundRect">
            <a:avLst>
              <a:gd name="adj" fmla="val 8421"/>
            </a:avLst>
          </a:prstGeom>
          <a:solidFill>
            <a:srgbClr val="0b1e3f"/>
          </a:solidFill>
          <a:ln w="12700">
            <a:solidFill>
              <a:srgbClr val="0b1e3f"/>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444" name="Text 5"/>
          <p:cNvSpPr/>
          <p:nvPr/>
        </p:nvSpPr>
        <p:spPr>
          <a:xfrm>
            <a:off x="1005840" y="2240280"/>
            <a:ext cx="5028120" cy="867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ffffff"/>
                </a:solidFill>
                <a:effectLst/>
                <a:uFillTx/>
                <a:latin typeface="Calibri"/>
                <a:ea typeface="Calibri"/>
              </a:rPr>
              <a:t>Non-RT RIC</a:t>
            </a:r>
            <a:endParaRPr b="0" lang="en-TR" sz="1400" strike="noStrike" u="none">
              <a:solidFill>
                <a:srgbClr val="000000"/>
              </a:solidFill>
              <a:effectLst/>
              <a:uFillTx/>
              <a:latin typeface="Arial"/>
            </a:endParaRPr>
          </a:p>
          <a:p>
            <a:pPr algn="ctr" defTabSz="914400">
              <a:lnSpc>
                <a:spcPct val="100000"/>
              </a:lnSpc>
              <a:tabLst>
                <a:tab algn="l" pos="0"/>
              </a:tabLst>
            </a:pPr>
            <a:r>
              <a:rPr b="0" lang="en-US" sz="1100" strike="noStrike" u="none">
                <a:solidFill>
                  <a:srgbClr val="cfe2f3"/>
                </a:solidFill>
                <a:effectLst/>
                <a:uFillTx/>
                <a:latin typeface="Calibri"/>
                <a:ea typeface="Calibri"/>
              </a:rPr>
              <a:t>policy: ε, δ⁺, δ⁻</a:t>
            </a:r>
            <a:endParaRPr b="0" lang="en-TR" sz="1100" strike="noStrike" u="none">
              <a:solidFill>
                <a:srgbClr val="000000"/>
              </a:solidFill>
              <a:effectLst/>
              <a:uFillTx/>
              <a:latin typeface="Arial"/>
            </a:endParaRPr>
          </a:p>
        </p:txBody>
      </p:sp>
      <p:sp>
        <p:nvSpPr>
          <p:cNvPr id="445" name="Shape 6"/>
          <p:cNvSpPr/>
          <p:nvPr/>
        </p:nvSpPr>
        <p:spPr>
          <a:xfrm>
            <a:off x="3520440" y="3108960"/>
            <a:ext cx="360" cy="411480"/>
          </a:xfrm>
          <a:prstGeom prst="line">
            <a:avLst/>
          </a:prstGeom>
          <a:ln w="31750">
            <a:solidFill>
              <a:srgbClr val="065a82"/>
            </a:solidFill>
            <a:round/>
            <a:tailEnd len="med" type="triangle" w="med"/>
          </a:ln>
        </p:spPr>
        <p:style>
          <a:lnRef idx="0"/>
          <a:fillRef idx="0"/>
          <a:effectRef idx="0"/>
          <a:fontRef idx="minor"/>
        </p:style>
        <p:txBody>
          <a:bodyPr lIns="90000" rIns="90000" tIns="45000" bIns="45000" anchor="t" anchorCtr="1">
            <a:noAutofit/>
          </a:bodyPr>
          <a:p>
            <a:endParaRPr b="0" lang="en-TR" sz="1800" strike="noStrike" u="none">
              <a:solidFill>
                <a:srgbClr val="000000"/>
              </a:solidFill>
              <a:effectLst/>
              <a:uFillTx/>
              <a:latin typeface="Arial"/>
            </a:endParaRPr>
          </a:p>
        </p:txBody>
      </p:sp>
      <p:sp>
        <p:nvSpPr>
          <p:cNvPr id="446" name="Text 7"/>
          <p:cNvSpPr/>
          <p:nvPr/>
        </p:nvSpPr>
        <p:spPr>
          <a:xfrm>
            <a:off x="3611880" y="3154680"/>
            <a:ext cx="9133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trike="noStrike" u="none">
                <a:solidFill>
                  <a:srgbClr val="065a82"/>
                </a:solidFill>
                <a:effectLst/>
                <a:uFillTx/>
                <a:latin typeface="Consolas"/>
                <a:ea typeface="Consolas"/>
              </a:rPr>
              <a:t>A1</a:t>
            </a:r>
            <a:endParaRPr b="0" lang="en-TR" sz="1100" strike="noStrike" u="none">
              <a:solidFill>
                <a:srgbClr val="000000"/>
              </a:solidFill>
              <a:effectLst/>
              <a:uFillTx/>
              <a:latin typeface="Arial"/>
            </a:endParaRPr>
          </a:p>
        </p:txBody>
      </p:sp>
      <p:sp>
        <p:nvSpPr>
          <p:cNvPr id="447" name="Shape 8"/>
          <p:cNvSpPr/>
          <p:nvPr/>
        </p:nvSpPr>
        <p:spPr>
          <a:xfrm>
            <a:off x="1005840" y="3520440"/>
            <a:ext cx="5028120" cy="867600"/>
          </a:xfrm>
          <a:prstGeom prst="roundRect">
            <a:avLst>
              <a:gd name="adj" fmla="val 8421"/>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448" name="Text 9"/>
          <p:cNvSpPr/>
          <p:nvPr/>
        </p:nvSpPr>
        <p:spPr>
          <a:xfrm>
            <a:off x="1005840" y="3520440"/>
            <a:ext cx="5028120" cy="867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ffffff"/>
                </a:solidFill>
                <a:effectLst/>
                <a:uFillTx/>
                <a:latin typeface="Calibri"/>
                <a:ea typeface="Calibri"/>
              </a:rPr>
              <a:t>Near-RT RIC</a:t>
            </a:r>
            <a:endParaRPr b="0" lang="en-TR" sz="1400" strike="noStrike" u="none">
              <a:solidFill>
                <a:srgbClr val="000000"/>
              </a:solidFill>
              <a:effectLst/>
              <a:uFillTx/>
              <a:latin typeface="Arial"/>
            </a:endParaRPr>
          </a:p>
          <a:p>
            <a:pPr algn="ctr" defTabSz="914400">
              <a:lnSpc>
                <a:spcPct val="100000"/>
              </a:lnSpc>
              <a:tabLst>
                <a:tab algn="l" pos="0"/>
              </a:tabLst>
            </a:pPr>
            <a:r>
              <a:rPr b="0" lang="en-US" sz="1100" strike="noStrike" u="none">
                <a:solidFill>
                  <a:srgbClr val="cfe2f3"/>
                </a:solidFill>
                <a:effectLst/>
                <a:uFillTx/>
                <a:latin typeface="Calibri"/>
                <a:ea typeface="Calibri"/>
              </a:rPr>
              <a:t>xApp running Algorithm 1</a:t>
            </a:r>
            <a:endParaRPr b="0" lang="en-TR" sz="1100" strike="noStrike" u="none">
              <a:solidFill>
                <a:srgbClr val="000000"/>
              </a:solidFill>
              <a:effectLst/>
              <a:uFillTx/>
              <a:latin typeface="Arial"/>
            </a:endParaRPr>
          </a:p>
        </p:txBody>
      </p:sp>
      <p:sp>
        <p:nvSpPr>
          <p:cNvPr id="449" name="Shape 10"/>
          <p:cNvSpPr/>
          <p:nvPr/>
        </p:nvSpPr>
        <p:spPr>
          <a:xfrm>
            <a:off x="3154680" y="4389120"/>
            <a:ext cx="360" cy="594360"/>
          </a:xfrm>
          <a:prstGeom prst="line">
            <a:avLst/>
          </a:prstGeom>
          <a:ln w="31750">
            <a:solidFill>
              <a:srgbClr val="1c7293"/>
            </a:solidFill>
            <a:round/>
            <a:tailEnd len="med" type="triangle" w="med"/>
          </a:ln>
        </p:spPr>
        <p:style>
          <a:lnRef idx="0"/>
          <a:fillRef idx="0"/>
          <a:effectRef idx="0"/>
          <a:fontRef idx="minor"/>
        </p:style>
        <p:txBody>
          <a:bodyPr lIns="90000" rIns="90000" tIns="45000" bIns="45000" anchor="t" anchorCtr="1">
            <a:noAutofit/>
          </a:bodyPr>
          <a:p>
            <a:endParaRPr b="0" lang="en-TR" sz="1800" strike="noStrike" u="none">
              <a:solidFill>
                <a:srgbClr val="000000"/>
              </a:solidFill>
              <a:effectLst/>
              <a:uFillTx/>
              <a:latin typeface="Arial"/>
            </a:endParaRPr>
          </a:p>
        </p:txBody>
      </p:sp>
      <p:sp>
        <p:nvSpPr>
          <p:cNvPr id="450" name="Text 11"/>
          <p:cNvSpPr/>
          <p:nvPr/>
        </p:nvSpPr>
        <p:spPr>
          <a:xfrm>
            <a:off x="1280160" y="4480560"/>
            <a:ext cx="155340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050" strike="noStrike" u="none">
                <a:solidFill>
                  <a:srgbClr val="1c7293"/>
                </a:solidFill>
                <a:effectLst/>
                <a:uFillTx/>
                <a:latin typeface="Consolas"/>
                <a:ea typeface="Consolas"/>
              </a:rPr>
              <a:t>E2SM-RC</a:t>
            </a:r>
            <a:endParaRPr b="0" lang="en-TR" sz="1050" strike="noStrike" u="none">
              <a:solidFill>
                <a:srgbClr val="000000"/>
              </a:solidFill>
              <a:effectLst/>
              <a:uFillTx/>
              <a:latin typeface="Arial"/>
            </a:endParaRPr>
          </a:p>
        </p:txBody>
      </p:sp>
      <p:sp>
        <p:nvSpPr>
          <p:cNvPr id="451" name="Shape 12"/>
          <p:cNvSpPr/>
          <p:nvPr/>
        </p:nvSpPr>
        <p:spPr>
          <a:xfrm flipV="1">
            <a:off x="3886200" y="4389120"/>
            <a:ext cx="360" cy="594360"/>
          </a:xfrm>
          <a:prstGeom prst="line">
            <a:avLst/>
          </a:prstGeom>
          <a:ln w="25400">
            <a:solidFill>
              <a:srgbClr val="64748b"/>
            </a:solidFill>
            <a:prstDash val="dash"/>
            <a:round/>
            <a:tailEnd len="med" type="triangle" w="med"/>
          </a:ln>
        </p:spPr>
        <p:style>
          <a:lnRef idx="0"/>
          <a:fillRef idx="0"/>
          <a:effectRef idx="0"/>
          <a:fontRef idx="minor"/>
        </p:style>
        <p:txBody>
          <a:bodyPr lIns="90000" rIns="90000" tIns="45000" bIns="45000" anchor="t" anchorCtr="1">
            <a:noAutofit/>
          </a:bodyPr>
          <a:p>
            <a:endParaRPr b="0" lang="en-TR" sz="1800" strike="noStrike" u="none">
              <a:solidFill>
                <a:srgbClr val="000000"/>
              </a:solidFill>
              <a:effectLst/>
              <a:uFillTx/>
              <a:latin typeface="Arial"/>
            </a:endParaRPr>
          </a:p>
        </p:txBody>
      </p:sp>
      <p:sp>
        <p:nvSpPr>
          <p:cNvPr id="452" name="Text 13"/>
          <p:cNvSpPr/>
          <p:nvPr/>
        </p:nvSpPr>
        <p:spPr>
          <a:xfrm>
            <a:off x="4069080" y="4480560"/>
            <a:ext cx="155340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i="1" lang="en-US" sz="1050" strike="noStrike" u="none">
                <a:solidFill>
                  <a:srgbClr val="64748b"/>
                </a:solidFill>
                <a:effectLst/>
                <a:uFillTx/>
                <a:latin typeface="Consolas"/>
                <a:ea typeface="Consolas"/>
              </a:rPr>
              <a:t>E2SM-KPM</a:t>
            </a:r>
            <a:endParaRPr b="0" lang="en-TR" sz="1050" strike="noStrike" u="none">
              <a:solidFill>
                <a:srgbClr val="000000"/>
              </a:solidFill>
              <a:effectLst/>
              <a:uFillTx/>
              <a:latin typeface="Arial"/>
            </a:endParaRPr>
          </a:p>
        </p:txBody>
      </p:sp>
      <p:sp>
        <p:nvSpPr>
          <p:cNvPr id="453" name="Shape 14"/>
          <p:cNvSpPr/>
          <p:nvPr/>
        </p:nvSpPr>
        <p:spPr>
          <a:xfrm>
            <a:off x="1005840" y="4983480"/>
            <a:ext cx="5028120" cy="867600"/>
          </a:xfrm>
          <a:prstGeom prst="roundRect">
            <a:avLst>
              <a:gd name="adj" fmla="val 8421"/>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454" name="Text 15"/>
          <p:cNvSpPr/>
          <p:nvPr/>
        </p:nvSpPr>
        <p:spPr>
          <a:xfrm>
            <a:off x="1005840" y="4983480"/>
            <a:ext cx="5028120" cy="867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ffffff"/>
                </a:solidFill>
                <a:effectLst/>
                <a:uFillTx/>
                <a:latin typeface="Calibri"/>
                <a:ea typeface="Calibri"/>
              </a:rPr>
              <a:t>gNB CU-CP</a:t>
            </a:r>
            <a:endParaRPr b="0" lang="en-TR" sz="1400" strike="noStrike" u="none">
              <a:solidFill>
                <a:srgbClr val="000000"/>
              </a:solidFill>
              <a:effectLst/>
              <a:uFillTx/>
              <a:latin typeface="Arial"/>
            </a:endParaRPr>
          </a:p>
          <a:p>
            <a:pPr algn="ctr" defTabSz="914400">
              <a:lnSpc>
                <a:spcPct val="100000"/>
              </a:lnSpc>
              <a:tabLst>
                <a:tab algn="l" pos="0"/>
              </a:tabLst>
            </a:pPr>
            <a:r>
              <a:rPr b="0" lang="en-US" sz="1100" strike="noStrike" u="none">
                <a:solidFill>
                  <a:srgbClr val="e0f2f7"/>
                </a:solidFill>
                <a:effectLst/>
                <a:uFillTx/>
                <a:latin typeface="Calibri"/>
                <a:ea typeface="Calibri"/>
              </a:rPr>
              <a:t>SIB1 uac-BarringInfo</a:t>
            </a:r>
            <a:endParaRPr b="0" lang="en-TR" sz="1100" strike="noStrike" u="none">
              <a:solidFill>
                <a:srgbClr val="000000"/>
              </a:solidFill>
              <a:effectLst/>
              <a:uFillTx/>
              <a:latin typeface="Arial"/>
            </a:endParaRPr>
          </a:p>
        </p:txBody>
      </p:sp>
      <p:sp>
        <p:nvSpPr>
          <p:cNvPr id="455" name="Shape 16"/>
          <p:cNvSpPr/>
          <p:nvPr/>
        </p:nvSpPr>
        <p:spPr>
          <a:xfrm>
            <a:off x="6720840" y="1600200"/>
            <a:ext cx="5073840" cy="452520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56" name="Shape 17"/>
          <p:cNvSpPr/>
          <p:nvPr/>
        </p:nvSpPr>
        <p:spPr>
          <a:xfrm>
            <a:off x="6720840" y="1600200"/>
            <a:ext cx="63000" cy="452520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pic>
        <p:nvPicPr>
          <p:cNvPr id="457" name="Image 0" descr="preencoded.png"/>
          <p:cNvPicPr/>
          <p:nvPr/>
        </p:nvPicPr>
        <p:blipFill>
          <a:blip r:embed="rId1"/>
          <a:stretch/>
        </p:blipFill>
        <p:spPr>
          <a:xfrm>
            <a:off x="6995160" y="1783080"/>
            <a:ext cx="364680" cy="364680"/>
          </a:xfrm>
          <a:prstGeom prst="rect">
            <a:avLst/>
          </a:prstGeom>
          <a:noFill/>
          <a:ln w="0">
            <a:noFill/>
          </a:ln>
        </p:spPr>
      </p:pic>
      <p:sp>
        <p:nvSpPr>
          <p:cNvPr id="458" name="Text 18"/>
          <p:cNvSpPr/>
          <p:nvPr/>
        </p:nvSpPr>
        <p:spPr>
          <a:xfrm>
            <a:off x="7498080" y="1783080"/>
            <a:ext cx="415944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Deployment notes</a:t>
            </a:r>
            <a:endParaRPr b="0" lang="en-TR" sz="1400" strike="noStrike" u="none">
              <a:solidFill>
                <a:srgbClr val="000000"/>
              </a:solidFill>
              <a:effectLst/>
              <a:uFillTx/>
              <a:latin typeface="Arial"/>
            </a:endParaRPr>
          </a:p>
        </p:txBody>
      </p:sp>
      <p:sp>
        <p:nvSpPr>
          <p:cNvPr id="459" name="Text 19"/>
          <p:cNvSpPr/>
          <p:nvPr/>
        </p:nvSpPr>
        <p:spPr>
          <a:xfrm>
            <a:off x="6995160" y="2377440"/>
            <a:ext cx="4525200" cy="274212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spcAft>
                <a:spcPts val="601"/>
              </a:spcAft>
              <a:buClr>
                <a:srgbClr val="334155"/>
              </a:buClr>
              <a:buFont typeface="Symbol" charset="2"/>
              <a:buChar char=""/>
            </a:pPr>
            <a:r>
              <a:rPr b="0" lang="en-US" sz="1250" strike="noStrike" u="none">
                <a:solidFill>
                  <a:srgbClr val="334155"/>
                </a:solidFill>
                <a:effectLst/>
                <a:uFillTx/>
                <a:latin typeface="Calibri"/>
                <a:ea typeface="Calibri"/>
              </a:rPr>
              <a:t>Δ = 1 s fits Near-RT RIC range (10 ms – 1 s)</a:t>
            </a:r>
            <a:endParaRPr b="0" lang="en-TR" sz="1250" strike="noStrike" u="none">
              <a:solidFill>
                <a:srgbClr val="000000"/>
              </a:solidFill>
              <a:effectLst/>
              <a:uFillTx/>
              <a:latin typeface="Arial"/>
            </a:endParaRPr>
          </a:p>
          <a:p>
            <a:pPr marL="343080" indent="-343080" defTabSz="914400">
              <a:lnSpc>
                <a:spcPct val="100000"/>
              </a:lnSpc>
              <a:spcAft>
                <a:spcPts val="601"/>
              </a:spcAft>
              <a:buClr>
                <a:srgbClr val="334155"/>
              </a:buClr>
              <a:buFont typeface="Symbol" charset="2"/>
              <a:buChar char=""/>
            </a:pPr>
            <a:r>
              <a:rPr b="0" lang="en-US" sz="1250" strike="noStrike" u="none">
                <a:solidFill>
                  <a:srgbClr val="334155"/>
                </a:solidFill>
                <a:effectLst/>
                <a:uFillTx/>
                <a:latin typeface="Calibri"/>
                <a:ea typeface="Calibri"/>
              </a:rPr>
              <a:t>No protocol modifications required</a:t>
            </a:r>
            <a:endParaRPr b="0" lang="en-TR" sz="1250" strike="noStrike" u="none">
              <a:solidFill>
                <a:srgbClr val="000000"/>
              </a:solidFill>
              <a:effectLst/>
              <a:uFillTx/>
              <a:latin typeface="Arial"/>
            </a:endParaRPr>
          </a:p>
          <a:p>
            <a:pPr marL="343080" indent="-343080" defTabSz="914400">
              <a:lnSpc>
                <a:spcPct val="100000"/>
              </a:lnSpc>
              <a:spcAft>
                <a:spcPts val="601"/>
              </a:spcAft>
              <a:buClr>
                <a:srgbClr val="334155"/>
              </a:buClr>
              <a:buFont typeface="Symbol" charset="2"/>
              <a:buChar char=""/>
            </a:pPr>
            <a:r>
              <a:rPr b="0" lang="en-US" sz="1250" strike="noStrike" u="none">
                <a:solidFill>
                  <a:srgbClr val="334155"/>
                </a:solidFill>
                <a:effectLst/>
                <a:uFillTx/>
                <a:latin typeface="Calibri"/>
                <a:ea typeface="Calibri"/>
              </a:rPr>
              <a:t>Vendor-independent xApp — standard E2 service models</a:t>
            </a:r>
            <a:endParaRPr b="0" lang="en-TR" sz="1250" strike="noStrike" u="none">
              <a:solidFill>
                <a:srgbClr val="000000"/>
              </a:solidFill>
              <a:effectLst/>
              <a:uFillTx/>
              <a:latin typeface="Arial"/>
            </a:endParaRPr>
          </a:p>
          <a:p>
            <a:pPr marL="343080" indent="-343080" defTabSz="914400">
              <a:lnSpc>
                <a:spcPct val="100000"/>
              </a:lnSpc>
              <a:spcAft>
                <a:spcPts val="601"/>
              </a:spcAft>
              <a:buClr>
                <a:srgbClr val="334155"/>
              </a:buClr>
              <a:buFont typeface="Symbol" charset="2"/>
              <a:buChar char=""/>
            </a:pPr>
            <a:r>
              <a:rPr b="0" lang="en-US" sz="1250" strike="noStrike" u="none">
                <a:solidFill>
                  <a:srgbClr val="334155"/>
                </a:solidFill>
                <a:effectLst/>
                <a:uFillTx/>
                <a:latin typeface="Calibri"/>
                <a:ea typeface="Calibri"/>
              </a:rPr>
              <a:t>O(1) per step — fixed-cost arithmetic, suitable for tight gNB control budgets after hardware benchmarking</a:t>
            </a:r>
            <a:endParaRPr b="0" lang="en-TR" sz="1250" strike="noStrike" u="none">
              <a:solidFill>
                <a:srgbClr val="000000"/>
              </a:solidFill>
              <a:effectLst/>
              <a:uFillTx/>
              <a:latin typeface="Arial"/>
            </a:endParaRPr>
          </a:p>
        </p:txBody>
      </p:sp>
      <p:sp>
        <p:nvSpPr>
          <p:cNvPr id="460" name="Shape 20"/>
          <p:cNvSpPr/>
          <p:nvPr/>
        </p:nvSpPr>
        <p:spPr>
          <a:xfrm>
            <a:off x="6995160" y="5303520"/>
            <a:ext cx="4525200" cy="639000"/>
          </a:xfrm>
          <a:prstGeom prst="rect">
            <a:avLst/>
          </a:prstGeom>
          <a:solidFill>
            <a:srgbClr val="e8f5ef"/>
          </a:solidFill>
          <a:ln w="12700">
            <a:solidFill>
              <a:srgbClr val="0e8a6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61" name="Text 21"/>
          <p:cNvSpPr/>
          <p:nvPr/>
        </p:nvSpPr>
        <p:spPr>
          <a:xfrm>
            <a:off x="7132320" y="5303520"/>
            <a:ext cx="425088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150" strike="noStrike" u="none">
                <a:solidFill>
                  <a:srgbClr val="1a2233"/>
                </a:solidFill>
                <a:effectLst/>
                <a:uFillTx/>
                <a:latin typeface="Calibri"/>
                <a:ea typeface="Calibri"/>
              </a:rPr>
              <a:t>Calibrated DT runs in μs vs. ms-class DNN inference — practical for commercial gNB software.</a:t>
            </a:r>
            <a:endParaRPr b="0" lang="en-TR" sz="1150" strike="noStrike" u="none">
              <a:solidFill>
                <a:srgbClr val="000000"/>
              </a:solidFill>
              <a:effectLst/>
              <a:uFillTx/>
              <a:latin typeface="Arial"/>
            </a:endParaRPr>
          </a:p>
        </p:txBody>
      </p:sp>
      <p:sp>
        <p:nvSpPr>
          <p:cNvPr id="462" name="Shape 22"/>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463" name="Text 23"/>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464" name="Text 24"/>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18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5"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CONCLUSION</a:t>
            </a:r>
            <a:endParaRPr b="0" lang="en-TR" sz="1100" strike="noStrike" u="none">
              <a:solidFill>
                <a:srgbClr val="000000"/>
              </a:solidFill>
              <a:effectLst/>
              <a:uFillTx/>
              <a:latin typeface="Arial"/>
            </a:endParaRPr>
          </a:p>
        </p:txBody>
      </p:sp>
      <p:sp>
        <p:nvSpPr>
          <p:cNvPr id="466"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Findings and future work</a:t>
            </a:r>
            <a:endParaRPr b="0" lang="en-TR" sz="3000" strike="noStrike" u="none">
              <a:solidFill>
                <a:srgbClr val="000000"/>
              </a:solidFill>
              <a:effectLst/>
              <a:uFillTx/>
              <a:latin typeface="Arial"/>
            </a:endParaRPr>
          </a:p>
        </p:txBody>
      </p:sp>
      <p:sp>
        <p:nvSpPr>
          <p:cNvPr id="467" name="Shape 2"/>
          <p:cNvSpPr/>
          <p:nvPr/>
        </p:nvSpPr>
        <p:spPr>
          <a:xfrm>
            <a:off x="548640" y="1600200"/>
            <a:ext cx="3610800" cy="141624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68" name="Shape 3"/>
          <p:cNvSpPr/>
          <p:nvPr/>
        </p:nvSpPr>
        <p:spPr>
          <a:xfrm>
            <a:off x="548640" y="1600200"/>
            <a:ext cx="63000" cy="1416240"/>
          </a:xfrm>
          <a:prstGeom prst="rect">
            <a:avLst/>
          </a:prstGeom>
          <a:solidFill>
            <a:srgbClr val="0e8a6b"/>
          </a:solidFill>
          <a:ln w="12700">
            <a:solidFill>
              <a:srgbClr val="0e8a6b"/>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469" name="Text 4"/>
          <p:cNvSpPr/>
          <p:nvPr/>
        </p:nvSpPr>
        <p:spPr>
          <a:xfrm>
            <a:off x="777240" y="1691640"/>
            <a:ext cx="324504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0e8a6b"/>
                </a:solidFill>
                <a:effectLst/>
                <a:uFillTx/>
                <a:latin typeface="Cambria"/>
                <a:ea typeface="Cambria"/>
              </a:rPr>
              <a:t>42 %</a:t>
            </a:r>
            <a:endParaRPr b="0" lang="en-TR" sz="3000" strike="noStrike" u="none">
              <a:solidFill>
                <a:srgbClr val="000000"/>
              </a:solidFill>
              <a:effectLst/>
              <a:uFillTx/>
              <a:latin typeface="Arial"/>
            </a:endParaRPr>
          </a:p>
        </p:txBody>
      </p:sp>
      <p:sp>
        <p:nvSpPr>
          <p:cNvPr id="470" name="Text 5"/>
          <p:cNvSpPr/>
          <p:nvPr/>
        </p:nvSpPr>
        <p:spPr>
          <a:xfrm>
            <a:off x="777240" y="2377440"/>
            <a:ext cx="3245040" cy="593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50" strike="noStrike" u="none">
                <a:solidFill>
                  <a:srgbClr val="334155"/>
                </a:solidFill>
                <a:effectLst/>
                <a:uFillTx/>
                <a:latin typeface="Calibri"/>
                <a:ea typeface="Calibri"/>
              </a:rPr>
              <a:t>reduction in state-mirroring error vs. uncalibrated DT</a:t>
            </a:r>
            <a:endParaRPr b="0" lang="en-TR" sz="1150" strike="noStrike" u="none">
              <a:solidFill>
                <a:srgbClr val="000000"/>
              </a:solidFill>
              <a:effectLst/>
              <a:uFillTx/>
              <a:latin typeface="Arial"/>
            </a:endParaRPr>
          </a:p>
        </p:txBody>
      </p:sp>
      <p:sp>
        <p:nvSpPr>
          <p:cNvPr id="471" name="Shape 6"/>
          <p:cNvSpPr/>
          <p:nvPr/>
        </p:nvSpPr>
        <p:spPr>
          <a:xfrm>
            <a:off x="4434840" y="1600200"/>
            <a:ext cx="3610800" cy="141624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72" name="Shape 7"/>
          <p:cNvSpPr/>
          <p:nvPr/>
        </p:nvSpPr>
        <p:spPr>
          <a:xfrm>
            <a:off x="4434840" y="1600200"/>
            <a:ext cx="63000" cy="141624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473" name="Text 8"/>
          <p:cNvSpPr/>
          <p:nvPr/>
        </p:nvSpPr>
        <p:spPr>
          <a:xfrm>
            <a:off x="4663440" y="1691640"/>
            <a:ext cx="324504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065a82"/>
                </a:solidFill>
                <a:effectLst/>
                <a:uFillTx/>
                <a:latin typeface="Cambria"/>
                <a:ea typeface="Cambria"/>
              </a:rPr>
              <a:t>≈</a:t>
            </a:r>
            <a:endParaRPr b="0" lang="en-TR" sz="3000" strike="noStrike" u="none">
              <a:solidFill>
                <a:srgbClr val="000000"/>
              </a:solidFill>
              <a:effectLst/>
              <a:uFillTx/>
              <a:latin typeface="Arial"/>
            </a:endParaRPr>
          </a:p>
        </p:txBody>
      </p:sp>
      <p:sp>
        <p:nvSpPr>
          <p:cNvPr id="474" name="Text 9"/>
          <p:cNvSpPr/>
          <p:nvPr/>
        </p:nvSpPr>
        <p:spPr>
          <a:xfrm>
            <a:off x="4663440" y="2377440"/>
            <a:ext cx="3245040" cy="593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50" strike="noStrike" u="none">
                <a:solidFill>
                  <a:srgbClr val="334155"/>
                </a:solidFill>
                <a:effectLst/>
                <a:uFillTx/>
                <a:latin typeface="Calibri"/>
                <a:ea typeface="Calibri"/>
              </a:rPr>
              <a:t>P_success statistically equivalent to baseline; P90/P99 delay reduced</a:t>
            </a:r>
            <a:endParaRPr b="0" lang="en-TR" sz="1150" strike="noStrike" u="none">
              <a:solidFill>
                <a:srgbClr val="000000"/>
              </a:solidFill>
              <a:effectLst/>
              <a:uFillTx/>
              <a:latin typeface="Arial"/>
            </a:endParaRPr>
          </a:p>
        </p:txBody>
      </p:sp>
      <p:sp>
        <p:nvSpPr>
          <p:cNvPr id="475" name="Shape 10"/>
          <p:cNvSpPr/>
          <p:nvPr/>
        </p:nvSpPr>
        <p:spPr>
          <a:xfrm>
            <a:off x="8321040" y="1600200"/>
            <a:ext cx="3610800" cy="141624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76" name="Shape 11"/>
          <p:cNvSpPr/>
          <p:nvPr/>
        </p:nvSpPr>
        <p:spPr>
          <a:xfrm>
            <a:off x="8321040" y="1600200"/>
            <a:ext cx="63000" cy="141624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77" name="Text 12"/>
          <p:cNvSpPr/>
          <p:nvPr/>
        </p:nvSpPr>
        <p:spPr>
          <a:xfrm>
            <a:off x="8549640" y="1691640"/>
            <a:ext cx="3245040" cy="639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f4a11a"/>
                </a:solidFill>
                <a:effectLst/>
                <a:uFillTx/>
                <a:latin typeface="Cambria"/>
                <a:ea typeface="Cambria"/>
              </a:rPr>
              <a:t>O(1)</a:t>
            </a:r>
            <a:endParaRPr b="0" lang="en-TR" sz="3000" strike="noStrike" u="none">
              <a:solidFill>
                <a:srgbClr val="000000"/>
              </a:solidFill>
              <a:effectLst/>
              <a:uFillTx/>
              <a:latin typeface="Arial"/>
            </a:endParaRPr>
          </a:p>
        </p:txBody>
      </p:sp>
      <p:sp>
        <p:nvSpPr>
          <p:cNvPr id="478" name="Text 13"/>
          <p:cNvSpPr/>
          <p:nvPr/>
        </p:nvSpPr>
        <p:spPr>
          <a:xfrm>
            <a:off x="8549640" y="2377440"/>
            <a:ext cx="3245040" cy="593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50" strike="noStrike" u="none">
                <a:solidFill>
                  <a:srgbClr val="334155"/>
                </a:solidFill>
                <a:effectLst/>
                <a:uFillTx/>
                <a:latin typeface="Calibri"/>
                <a:ea typeface="Calibri"/>
              </a:rPr>
              <a:t>deployable in commercial gNB software via O-RAN xApp</a:t>
            </a:r>
            <a:endParaRPr b="0" lang="en-TR" sz="1150" strike="noStrike" u="none">
              <a:solidFill>
                <a:srgbClr val="000000"/>
              </a:solidFill>
              <a:effectLst/>
              <a:uFillTx/>
              <a:latin typeface="Arial"/>
            </a:endParaRPr>
          </a:p>
        </p:txBody>
      </p:sp>
      <p:sp>
        <p:nvSpPr>
          <p:cNvPr id="479" name="Shape 14"/>
          <p:cNvSpPr/>
          <p:nvPr/>
        </p:nvSpPr>
        <p:spPr>
          <a:xfrm>
            <a:off x="548640" y="3200400"/>
            <a:ext cx="11063160" cy="730440"/>
          </a:xfrm>
          <a:prstGeom prst="rect">
            <a:avLst/>
          </a:prstGeom>
          <a:solidFill>
            <a:srgbClr val="0b1e3f"/>
          </a:solidFill>
          <a:ln w="12700">
            <a:solidFill>
              <a:srgbClr val="0b1e3f"/>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pic>
        <p:nvPicPr>
          <p:cNvPr id="480" name="Image 0" descr="preencoded.png"/>
          <p:cNvPicPr/>
          <p:nvPr/>
        </p:nvPicPr>
        <p:blipFill>
          <a:blip r:embed="rId1"/>
          <a:stretch/>
        </p:blipFill>
        <p:spPr>
          <a:xfrm>
            <a:off x="713160" y="3337560"/>
            <a:ext cx="456120" cy="456120"/>
          </a:xfrm>
          <a:prstGeom prst="rect">
            <a:avLst/>
          </a:prstGeom>
          <a:noFill/>
          <a:ln w="0">
            <a:noFill/>
          </a:ln>
        </p:spPr>
      </p:pic>
      <p:sp>
        <p:nvSpPr>
          <p:cNvPr id="481" name="Text 15"/>
          <p:cNvSpPr/>
          <p:nvPr/>
        </p:nvSpPr>
        <p:spPr>
          <a:xfrm>
            <a:off x="1280160" y="3200400"/>
            <a:ext cx="10240200" cy="7304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i="1" lang="en-US" sz="1300" strike="noStrike" u="none">
                <a:solidFill>
                  <a:srgbClr val="ffffff"/>
                </a:solidFill>
                <a:effectLst/>
                <a:uFillTx/>
                <a:latin typeface="Calibri"/>
                <a:ea typeface="Calibri"/>
              </a:rPr>
              <a:t>Proactive control in non-stationary 5G environments requires both a sound control policy and tight virtual-physical alignment.</a:t>
            </a:r>
            <a:endParaRPr b="0" lang="en-TR" sz="1300" strike="noStrike" u="none">
              <a:solidFill>
                <a:srgbClr val="000000"/>
              </a:solidFill>
              <a:effectLst/>
              <a:uFillTx/>
              <a:latin typeface="Arial"/>
            </a:endParaRPr>
          </a:p>
        </p:txBody>
      </p:sp>
      <p:sp>
        <p:nvSpPr>
          <p:cNvPr id="482" name="Shape 16"/>
          <p:cNvSpPr/>
          <p:nvPr/>
        </p:nvSpPr>
        <p:spPr>
          <a:xfrm>
            <a:off x="548640" y="4160520"/>
            <a:ext cx="5485320" cy="19648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83" name="Shape 17"/>
          <p:cNvSpPr/>
          <p:nvPr/>
        </p:nvSpPr>
        <p:spPr>
          <a:xfrm>
            <a:off x="548640" y="4160520"/>
            <a:ext cx="63000" cy="196488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ffffff"/>
              </a:solidFill>
              <a:effectLst/>
              <a:uFillTx/>
              <a:latin typeface="Arial"/>
            </a:endParaRPr>
          </a:p>
        </p:txBody>
      </p:sp>
      <p:sp>
        <p:nvSpPr>
          <p:cNvPr id="484" name="Text 18"/>
          <p:cNvSpPr/>
          <p:nvPr/>
        </p:nvSpPr>
        <p:spPr>
          <a:xfrm>
            <a:off x="777240" y="4297680"/>
            <a:ext cx="511956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Multi-cell extension</a:t>
            </a:r>
            <a:endParaRPr b="0" lang="en-TR" sz="1400" strike="noStrike" u="none">
              <a:solidFill>
                <a:srgbClr val="000000"/>
              </a:solidFill>
              <a:effectLst/>
              <a:uFillTx/>
              <a:latin typeface="Arial"/>
            </a:endParaRPr>
          </a:p>
        </p:txBody>
      </p:sp>
      <p:sp>
        <p:nvSpPr>
          <p:cNvPr id="485" name="Text 19"/>
          <p:cNvSpPr/>
          <p:nvPr/>
        </p:nvSpPr>
        <p:spPr>
          <a:xfrm>
            <a:off x="777240" y="4709160"/>
            <a:ext cx="5119560" cy="1370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50" strike="noStrike" u="none">
                <a:solidFill>
                  <a:srgbClr val="334155"/>
                </a:solidFill>
                <a:effectLst/>
                <a:uFillTx/>
                <a:latin typeface="Calibri"/>
                <a:ea typeface="Calibri"/>
              </a:rPr>
              <a:t>Current model treats one gNB cell independently. Real deployments involve handover correlations and inter-cell interference — a distributed DT with inter-cell state sharing is required.</a:t>
            </a:r>
            <a:endParaRPr b="0" lang="en-TR" sz="1150" strike="noStrike" u="none">
              <a:solidFill>
                <a:srgbClr val="000000"/>
              </a:solidFill>
              <a:effectLst/>
              <a:uFillTx/>
              <a:latin typeface="Arial"/>
            </a:endParaRPr>
          </a:p>
        </p:txBody>
      </p:sp>
      <p:sp>
        <p:nvSpPr>
          <p:cNvPr id="486" name="Shape 20"/>
          <p:cNvSpPr/>
          <p:nvPr/>
        </p:nvSpPr>
        <p:spPr>
          <a:xfrm>
            <a:off x="6263640" y="4160520"/>
            <a:ext cx="5485320" cy="1964880"/>
          </a:xfrm>
          <a:prstGeom prst="rect">
            <a:avLst/>
          </a:prstGeom>
          <a:solidFill>
            <a:srgbClr val="ffffff"/>
          </a:solidFill>
          <a:ln w="9525">
            <a:solidFill>
              <a:srgbClr val="dce3ec"/>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87" name="Shape 21"/>
          <p:cNvSpPr/>
          <p:nvPr/>
        </p:nvSpPr>
        <p:spPr>
          <a:xfrm>
            <a:off x="6263640" y="4160520"/>
            <a:ext cx="63000" cy="196488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88" name="Text 22"/>
          <p:cNvSpPr/>
          <p:nvPr/>
        </p:nvSpPr>
        <p:spPr>
          <a:xfrm>
            <a:off x="6492240" y="4297680"/>
            <a:ext cx="5119560" cy="364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2233"/>
                </a:solidFill>
                <a:effectLst/>
                <a:uFillTx/>
                <a:latin typeface="Cambria"/>
                <a:ea typeface="Cambria"/>
              </a:rPr>
              <a:t>RL-based calibration</a:t>
            </a:r>
            <a:endParaRPr b="0" lang="en-TR" sz="1400" strike="noStrike" u="none">
              <a:solidFill>
                <a:srgbClr val="000000"/>
              </a:solidFill>
              <a:effectLst/>
              <a:uFillTx/>
              <a:latin typeface="Arial"/>
            </a:endParaRPr>
          </a:p>
        </p:txBody>
      </p:sp>
      <p:sp>
        <p:nvSpPr>
          <p:cNvPr id="489" name="Text 23"/>
          <p:cNvSpPr/>
          <p:nvPr/>
        </p:nvSpPr>
        <p:spPr>
          <a:xfrm>
            <a:off x="6492240" y="4709160"/>
            <a:ext cx="5119560" cy="1370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50" strike="noStrike" u="none">
                <a:solidFill>
                  <a:srgbClr val="334155"/>
                </a:solidFill>
                <a:effectLst/>
                <a:uFillTx/>
                <a:latin typeface="Calibri"/>
                <a:ea typeface="Calibri"/>
              </a:rPr>
              <a:t>Fixed δ⁺ and δ⁻ are vulnerable to slow ramp-up attacks. An RL agent can learn step sizes dynamically using state-mirroring error E as a reward signal.</a:t>
            </a:r>
            <a:endParaRPr b="0" lang="en-TR" sz="1150" strike="noStrike" u="none">
              <a:solidFill>
                <a:srgbClr val="000000"/>
              </a:solidFill>
              <a:effectLst/>
              <a:uFillTx/>
              <a:latin typeface="Arial"/>
            </a:endParaRPr>
          </a:p>
        </p:txBody>
      </p:sp>
      <p:sp>
        <p:nvSpPr>
          <p:cNvPr id="490" name="Shape 24"/>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491" name="Text 25"/>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492" name="Text 26"/>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19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e3f"/>
        </a:solidFill>
      </p:bgPr>
    </p:bg>
    <p:spTree>
      <p:nvGrpSpPr>
        <p:cNvPr id="1" name=""/>
        <p:cNvGrpSpPr/>
        <p:nvPr/>
      </p:nvGrpSpPr>
      <p:grpSpPr>
        <a:xfrm>
          <a:off x="0" y="0"/>
          <a:ext cx="0" cy="0"/>
          <a:chOff x="0" y="0"/>
          <a:chExt cx="0" cy="0"/>
        </a:xfrm>
      </p:grpSpPr>
      <p:sp>
        <p:nvSpPr>
          <p:cNvPr id="493" name="Shape 0"/>
          <p:cNvSpPr/>
          <p:nvPr/>
        </p:nvSpPr>
        <p:spPr>
          <a:xfrm>
            <a:off x="914400" y="2194560"/>
            <a:ext cx="2376360" cy="2376360"/>
          </a:xfrm>
          <a:prstGeom prst="ellipse">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94" name="Text 1"/>
          <p:cNvSpPr/>
          <p:nvPr/>
        </p:nvSpPr>
        <p:spPr>
          <a:xfrm>
            <a:off x="914400" y="2148840"/>
            <a:ext cx="2376360" cy="2467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0" strike="noStrike" u="none">
                <a:solidFill>
                  <a:srgbClr val="ffffff"/>
                </a:solidFill>
                <a:effectLst/>
                <a:uFillTx/>
                <a:latin typeface="Cambria"/>
                <a:ea typeface="Cambria"/>
              </a:rPr>
              <a:t>?</a:t>
            </a:r>
            <a:endParaRPr b="0" lang="en-TR" sz="13000" strike="noStrike" u="none">
              <a:solidFill>
                <a:srgbClr val="ffffff"/>
              </a:solidFill>
              <a:effectLst/>
              <a:uFillTx/>
              <a:latin typeface="Arial"/>
            </a:endParaRPr>
          </a:p>
        </p:txBody>
      </p:sp>
      <p:sp>
        <p:nvSpPr>
          <p:cNvPr id="495" name="Shape 2"/>
          <p:cNvSpPr/>
          <p:nvPr/>
        </p:nvSpPr>
        <p:spPr>
          <a:xfrm>
            <a:off x="4023360" y="2194560"/>
            <a:ext cx="63000" cy="2742120"/>
          </a:xfrm>
          <a:prstGeom prst="rect">
            <a:avLst/>
          </a:prstGeom>
          <a:solidFill>
            <a:srgbClr val="f4a11a"/>
          </a:solidFill>
          <a:ln w="12700">
            <a:solidFill>
              <a:srgbClr val="f4a11a"/>
            </a:solidFill>
            <a:round/>
          </a:ln>
        </p:spPr>
        <p:style>
          <a:lnRef idx="0"/>
          <a:fillRef idx="0"/>
          <a:effectRef idx="0"/>
          <a:fontRef idx="minor"/>
        </p:style>
        <p:txBody>
          <a:bodyPr lIns="90000" rIns="90000" tIns="45000" bIns="45000" anchor="t">
            <a:noAutofit/>
          </a:bodyPr>
          <a:p>
            <a:pPr>
              <a:lnSpc>
                <a:spcPct val="100000"/>
              </a:lnSpc>
            </a:pPr>
            <a:endParaRPr b="0" lang="en-TR" sz="1800" strike="noStrike" u="none">
              <a:solidFill>
                <a:srgbClr val="000000"/>
              </a:solidFill>
              <a:effectLst/>
              <a:uFillTx/>
              <a:latin typeface="Arial"/>
            </a:endParaRPr>
          </a:p>
        </p:txBody>
      </p:sp>
      <p:sp>
        <p:nvSpPr>
          <p:cNvPr id="496" name="Text 3"/>
          <p:cNvSpPr/>
          <p:nvPr/>
        </p:nvSpPr>
        <p:spPr>
          <a:xfrm>
            <a:off x="4297680" y="2194560"/>
            <a:ext cx="7497000" cy="913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600" strike="noStrike" u="none">
                <a:solidFill>
                  <a:srgbClr val="ffffff"/>
                </a:solidFill>
                <a:effectLst/>
                <a:uFillTx/>
                <a:latin typeface="Cambria"/>
                <a:ea typeface="Cambria"/>
              </a:rPr>
              <a:t>Questions?</a:t>
            </a:r>
            <a:endParaRPr b="0" lang="en-TR" sz="5600" strike="noStrike" u="none">
              <a:solidFill>
                <a:srgbClr val="ffffff"/>
              </a:solidFill>
              <a:effectLst/>
              <a:uFillTx/>
              <a:latin typeface="Arial"/>
            </a:endParaRPr>
          </a:p>
        </p:txBody>
      </p:sp>
      <p:sp>
        <p:nvSpPr>
          <p:cNvPr id="497" name="Text 4"/>
          <p:cNvSpPr/>
          <p:nvPr/>
        </p:nvSpPr>
        <p:spPr>
          <a:xfrm>
            <a:off x="4297680" y="3154680"/>
            <a:ext cx="7497000" cy="1096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600" strike="noStrike" u="none">
                <a:solidFill>
                  <a:srgbClr val="cfe2f3"/>
                </a:solidFill>
                <a:effectLst/>
                <a:uFillTx/>
                <a:latin typeface="Cambria"/>
                <a:ea typeface="Cambria"/>
              </a:rPr>
              <a:t>5G RRC Signaling Storm Mitigation via a Proactive Digital Twin Architecture with Continuous Calibration</a:t>
            </a:r>
            <a:endParaRPr b="0" lang="en-TR" sz="1600" strike="noStrike" u="none">
              <a:solidFill>
                <a:srgbClr val="ffffff"/>
              </a:solidFill>
              <a:effectLst/>
              <a:uFillTx/>
              <a:latin typeface="Arial"/>
            </a:endParaRPr>
          </a:p>
        </p:txBody>
      </p:sp>
      <p:sp>
        <p:nvSpPr>
          <p:cNvPr id="498" name="Text 5"/>
          <p:cNvSpPr/>
          <p:nvPr/>
        </p:nvSpPr>
        <p:spPr>
          <a:xfrm>
            <a:off x="4297680" y="4572000"/>
            <a:ext cx="7497000" cy="1279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trike="noStrike" u="none">
                <a:solidFill>
                  <a:srgbClr val="ffffff"/>
                </a:solidFill>
                <a:effectLst/>
                <a:uFillTx/>
                <a:latin typeface="Calibri"/>
                <a:ea typeface="Calibri"/>
              </a:rPr>
              <a:t>Ömer Dikyol</a:t>
            </a:r>
            <a:endParaRPr b="0" lang="en-TR" sz="1600" strike="noStrike" u="none">
              <a:solidFill>
                <a:srgbClr val="ffffff"/>
              </a:solidFill>
              <a:effectLst/>
              <a:uFillTx/>
              <a:latin typeface="Arial"/>
            </a:endParaRPr>
          </a:p>
          <a:p>
            <a:pPr defTabSz="914400">
              <a:lnSpc>
                <a:spcPct val="100000"/>
              </a:lnSpc>
              <a:tabLst>
                <a:tab algn="l" pos="0"/>
              </a:tabLst>
            </a:pPr>
            <a:r>
              <a:rPr b="0" lang="en-US" sz="1300" strike="noStrike" u="none">
                <a:solidFill>
                  <a:srgbClr val="cfe2f3"/>
                </a:solidFill>
                <a:effectLst/>
                <a:uFillTx/>
                <a:latin typeface="Calibri"/>
                <a:ea typeface="Calibri"/>
              </a:rPr>
              <a:t>dikyol25@itu.edu.tr</a:t>
            </a:r>
            <a:endParaRPr b="0" lang="en-TR" sz="1300" strike="noStrike" u="none">
              <a:solidFill>
                <a:srgbClr val="ffffff"/>
              </a:solidFill>
              <a:effectLst/>
              <a:uFillTx/>
              <a:latin typeface="Arial"/>
            </a:endParaRPr>
          </a:p>
          <a:p>
            <a:pPr defTabSz="914400">
              <a:lnSpc>
                <a:spcPct val="100000"/>
              </a:lnSpc>
              <a:tabLst>
                <a:tab algn="l" pos="0"/>
              </a:tabLst>
            </a:pPr>
            <a:r>
              <a:rPr b="0" lang="en-US" sz="1300" strike="noStrike" u="none">
                <a:solidFill>
                  <a:srgbClr val="cfe2f3"/>
                </a:solidFill>
                <a:effectLst/>
                <a:uFillTx/>
                <a:latin typeface="Calibri"/>
                <a:ea typeface="Calibri"/>
              </a:rPr>
              <a:t>BLG 632E  ·  ITU</a:t>
            </a:r>
            <a:endParaRPr b="0" lang="en-TR" sz="13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9" name="Text 0"/>
          <p:cNvSpPr/>
          <p:nvPr/>
        </p:nvSpPr>
        <p:spPr>
          <a:xfrm>
            <a:off x="548640" y="411480"/>
            <a:ext cx="109717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400" strike="noStrike" u="none">
                <a:solidFill>
                  <a:srgbClr val="f4a11a"/>
                </a:solidFill>
                <a:effectLst/>
                <a:uFillTx/>
                <a:latin typeface="Calibri"/>
                <a:ea typeface="Calibri"/>
              </a:rPr>
              <a:t>REFERENCES</a:t>
            </a:r>
            <a:endParaRPr b="0" lang="en-TR" sz="1100" strike="noStrike" u="none">
              <a:solidFill>
                <a:srgbClr val="000000"/>
              </a:solidFill>
              <a:effectLst/>
              <a:uFillTx/>
              <a:latin typeface="Arial"/>
            </a:endParaRPr>
          </a:p>
        </p:txBody>
      </p:sp>
      <p:sp>
        <p:nvSpPr>
          <p:cNvPr id="500" name="Text 1"/>
          <p:cNvSpPr/>
          <p:nvPr/>
        </p:nvSpPr>
        <p:spPr>
          <a:xfrm>
            <a:off x="548640" y="713160"/>
            <a:ext cx="10971720" cy="776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rgbClr val="1a2233"/>
                </a:solidFill>
                <a:effectLst/>
                <a:uFillTx/>
                <a:latin typeface="Cambria"/>
                <a:ea typeface="Cambria"/>
              </a:rPr>
              <a:t>Selected references</a:t>
            </a:r>
            <a:endParaRPr b="0" lang="en-TR" sz="3000" strike="noStrike" u="none">
              <a:solidFill>
                <a:srgbClr val="000000"/>
              </a:solidFill>
              <a:effectLst/>
              <a:uFillTx/>
              <a:latin typeface="Arial"/>
            </a:endParaRPr>
          </a:p>
        </p:txBody>
      </p:sp>
      <p:sp>
        <p:nvSpPr>
          <p:cNvPr id="501" name="Text 2"/>
          <p:cNvSpPr/>
          <p:nvPr/>
        </p:nvSpPr>
        <p:spPr>
          <a:xfrm>
            <a:off x="548640" y="1691640"/>
            <a:ext cx="593280" cy="383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000" strike="noStrike" u="none">
                <a:solidFill>
                  <a:srgbClr val="f4a11a"/>
                </a:solidFill>
                <a:effectLst/>
                <a:uFillTx/>
                <a:latin typeface="Consolas"/>
                <a:ea typeface="Consolas"/>
              </a:rPr>
              <a:t>[b1]</a:t>
            </a:r>
            <a:endParaRPr b="0" lang="en-TR" sz="1000" strike="noStrike" u="none">
              <a:solidFill>
                <a:srgbClr val="000000"/>
              </a:solidFill>
              <a:effectLst/>
              <a:uFillTx/>
              <a:latin typeface="Arial"/>
            </a:endParaRPr>
          </a:p>
        </p:txBody>
      </p:sp>
      <p:sp>
        <p:nvSpPr>
          <p:cNvPr id="502" name="Text 3"/>
          <p:cNvSpPr/>
          <p:nvPr/>
        </p:nvSpPr>
        <p:spPr>
          <a:xfrm>
            <a:off x="1143000" y="1691640"/>
            <a:ext cx="4845240" cy="474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900" strike="noStrike" u="none">
                <a:solidFill>
                  <a:srgbClr val="334155"/>
                </a:solidFill>
                <a:effectLst/>
                <a:uFillTx/>
                <a:latin typeface="Calibri"/>
                <a:ea typeface="Calibri"/>
              </a:rPr>
              <a:t>A. Tabiban, H. A. Alameddine, M. A. Salahuddin, and R. Boutaba, "Signaling Storm in O-RAN: Challenges and Research Opportunities," IEEE Communications Magazine, vol. 62, no. 6, pp. 58-64, Jun. 2024. doi: 10.1109/MCOM.002.2300317.</a:t>
            </a:r>
            <a:endParaRPr b="0" lang="en-TR" sz="900" strike="noStrike" u="none">
              <a:solidFill>
                <a:srgbClr val="000000"/>
              </a:solidFill>
              <a:effectLst/>
              <a:uFillTx/>
              <a:latin typeface="Arial"/>
            </a:endParaRPr>
          </a:p>
        </p:txBody>
      </p:sp>
      <p:sp>
        <p:nvSpPr>
          <p:cNvPr id="503" name="Text 4"/>
          <p:cNvSpPr/>
          <p:nvPr/>
        </p:nvSpPr>
        <p:spPr>
          <a:xfrm>
            <a:off x="548640" y="2167200"/>
            <a:ext cx="593280" cy="383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000" strike="noStrike" u="none">
                <a:solidFill>
                  <a:srgbClr val="f4a11a"/>
                </a:solidFill>
                <a:effectLst/>
                <a:uFillTx/>
                <a:latin typeface="Consolas"/>
                <a:ea typeface="Consolas"/>
              </a:rPr>
              <a:t>[b2]</a:t>
            </a:r>
            <a:endParaRPr b="0" lang="en-TR" sz="1000" strike="noStrike" u="none">
              <a:solidFill>
                <a:srgbClr val="000000"/>
              </a:solidFill>
              <a:effectLst/>
              <a:uFillTx/>
              <a:latin typeface="Arial"/>
            </a:endParaRPr>
          </a:p>
        </p:txBody>
      </p:sp>
      <p:sp>
        <p:nvSpPr>
          <p:cNvPr id="504" name="Text 5"/>
          <p:cNvSpPr/>
          <p:nvPr/>
        </p:nvSpPr>
        <p:spPr>
          <a:xfrm>
            <a:off x="1143000" y="2167200"/>
            <a:ext cx="4845240" cy="474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900" strike="noStrike" u="none">
                <a:solidFill>
                  <a:srgbClr val="334155"/>
                </a:solidFill>
                <a:effectLst/>
                <a:uFillTx/>
                <a:latin typeface="Calibri"/>
                <a:ea typeface="Calibri"/>
              </a:rPr>
              <a:t>B. H. Lee, H. S. Lee, S. Moon, and J. W. Lee, "Enhanced Random Access for Massive Machine Type Communications," IEEE Internet of Things Journal, vol. 8, no. 8, pp. 7046-7064, Apr. 2021. doi: 10.1109/JIOT.2020.3038148.</a:t>
            </a:r>
            <a:endParaRPr b="0" lang="en-TR" sz="900" strike="noStrike" u="none">
              <a:solidFill>
                <a:srgbClr val="000000"/>
              </a:solidFill>
              <a:effectLst/>
              <a:uFillTx/>
              <a:latin typeface="Arial"/>
            </a:endParaRPr>
          </a:p>
        </p:txBody>
      </p:sp>
      <p:sp>
        <p:nvSpPr>
          <p:cNvPr id="505" name="Text 6"/>
          <p:cNvSpPr/>
          <p:nvPr/>
        </p:nvSpPr>
        <p:spPr>
          <a:xfrm>
            <a:off x="548640" y="2642760"/>
            <a:ext cx="593280" cy="383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000" strike="noStrike" u="none">
                <a:solidFill>
                  <a:srgbClr val="f4a11a"/>
                </a:solidFill>
                <a:effectLst/>
                <a:uFillTx/>
                <a:latin typeface="Consolas"/>
                <a:ea typeface="Consolas"/>
              </a:rPr>
              <a:t>[b3]</a:t>
            </a:r>
            <a:endParaRPr b="0" lang="en-TR" sz="1000" strike="noStrike" u="none">
              <a:solidFill>
                <a:srgbClr val="000000"/>
              </a:solidFill>
              <a:effectLst/>
              <a:uFillTx/>
              <a:latin typeface="Arial"/>
            </a:endParaRPr>
          </a:p>
        </p:txBody>
      </p:sp>
      <p:sp>
        <p:nvSpPr>
          <p:cNvPr id="506" name="Text 7"/>
          <p:cNvSpPr/>
          <p:nvPr/>
        </p:nvSpPr>
        <p:spPr>
          <a:xfrm>
            <a:off x="1143000" y="2642760"/>
            <a:ext cx="4845240" cy="474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900" strike="noStrike" u="none">
                <a:solidFill>
                  <a:srgbClr val="334155"/>
                </a:solidFill>
                <a:effectLst/>
                <a:uFillTx/>
                <a:latin typeface="Calibri"/>
                <a:ea typeface="Calibri"/>
              </a:rPr>
              <a:t>M. Grieves and J. Vickers, "Digital Twin: Mitigating Unpredictable, Undesirable Emergent Behavior in Complex Systems," in Transdisciplinary Perspectives on Complex Systems, Springer, 2017, pp. 85-113. doi: 10.1007/978-3-319-38756-7_4.</a:t>
            </a:r>
            <a:endParaRPr b="0" lang="en-TR" sz="900" strike="noStrike" u="none">
              <a:solidFill>
                <a:srgbClr val="000000"/>
              </a:solidFill>
              <a:effectLst/>
              <a:uFillTx/>
              <a:latin typeface="Arial"/>
            </a:endParaRPr>
          </a:p>
        </p:txBody>
      </p:sp>
      <p:sp>
        <p:nvSpPr>
          <p:cNvPr id="507" name="Text 8"/>
          <p:cNvSpPr/>
          <p:nvPr/>
        </p:nvSpPr>
        <p:spPr>
          <a:xfrm>
            <a:off x="548640" y="3117960"/>
            <a:ext cx="593280" cy="383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000" strike="noStrike" u="none">
                <a:solidFill>
                  <a:srgbClr val="f4a11a"/>
                </a:solidFill>
                <a:effectLst/>
                <a:uFillTx/>
                <a:latin typeface="Consolas"/>
                <a:ea typeface="Consolas"/>
              </a:rPr>
              <a:t>[b4]</a:t>
            </a:r>
            <a:endParaRPr b="0" lang="en-TR" sz="1000" strike="noStrike" u="none">
              <a:solidFill>
                <a:srgbClr val="000000"/>
              </a:solidFill>
              <a:effectLst/>
              <a:uFillTx/>
              <a:latin typeface="Arial"/>
            </a:endParaRPr>
          </a:p>
        </p:txBody>
      </p:sp>
      <p:sp>
        <p:nvSpPr>
          <p:cNvPr id="508" name="Text 9"/>
          <p:cNvSpPr/>
          <p:nvPr/>
        </p:nvSpPr>
        <p:spPr>
          <a:xfrm>
            <a:off x="1143000" y="3117960"/>
            <a:ext cx="4845240" cy="474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900" strike="noStrike" u="none">
                <a:solidFill>
                  <a:srgbClr val="334155"/>
                </a:solidFill>
                <a:effectLst/>
                <a:uFillTx/>
                <a:latin typeface="Calibri"/>
                <a:ea typeface="Calibri"/>
              </a:rPr>
              <a:t>ETSI, "5G; NR; Radio Resource Control (RRC); Protocol specification," ETSI TS 138 331 V17.3.0, 3GPP TS 38.331 version 17.3.0 Release 17, Jan. 2023.</a:t>
            </a:r>
            <a:endParaRPr b="0" lang="en-TR" sz="900" strike="noStrike" u="none">
              <a:solidFill>
                <a:srgbClr val="000000"/>
              </a:solidFill>
              <a:effectLst/>
              <a:uFillTx/>
              <a:latin typeface="Arial"/>
            </a:endParaRPr>
          </a:p>
        </p:txBody>
      </p:sp>
      <p:sp>
        <p:nvSpPr>
          <p:cNvPr id="509" name="Text 10"/>
          <p:cNvSpPr/>
          <p:nvPr/>
        </p:nvSpPr>
        <p:spPr>
          <a:xfrm>
            <a:off x="548640" y="3593520"/>
            <a:ext cx="593280" cy="383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000" strike="noStrike" u="none">
                <a:solidFill>
                  <a:srgbClr val="f4a11a"/>
                </a:solidFill>
                <a:effectLst/>
                <a:uFillTx/>
                <a:latin typeface="Consolas"/>
                <a:ea typeface="Consolas"/>
              </a:rPr>
              <a:t>[b5]</a:t>
            </a:r>
            <a:endParaRPr b="0" lang="en-TR" sz="1000" strike="noStrike" u="none">
              <a:solidFill>
                <a:srgbClr val="000000"/>
              </a:solidFill>
              <a:effectLst/>
              <a:uFillTx/>
              <a:latin typeface="Arial"/>
            </a:endParaRPr>
          </a:p>
        </p:txBody>
      </p:sp>
      <p:sp>
        <p:nvSpPr>
          <p:cNvPr id="510" name="Text 11"/>
          <p:cNvSpPr/>
          <p:nvPr/>
        </p:nvSpPr>
        <p:spPr>
          <a:xfrm>
            <a:off x="1143000" y="3593520"/>
            <a:ext cx="4845240" cy="474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900" strike="noStrike" u="none">
                <a:solidFill>
                  <a:srgbClr val="334155"/>
                </a:solidFill>
                <a:effectLst/>
                <a:uFillTx/>
                <a:latin typeface="Calibri"/>
                <a:ea typeface="Calibri"/>
              </a:rPr>
              <a:t>L. Miuccio, D. Panno, and S. Riolo, "Joint Control of Random Access and Dynamic Uplink Resource Dimensioning for Massive MTC in 5G NR Based on SCMA," IEEE Internet of Things Journal, vol. 7, no. 6, pp. 5042-5063, Jun. 2020. doi: 10.1109/JIOT.2020.2974402.</a:t>
            </a:r>
            <a:endParaRPr b="0" lang="en-TR" sz="900" strike="noStrike" u="none">
              <a:solidFill>
                <a:srgbClr val="000000"/>
              </a:solidFill>
              <a:effectLst/>
              <a:uFillTx/>
              <a:latin typeface="Arial"/>
            </a:endParaRPr>
          </a:p>
        </p:txBody>
      </p:sp>
      <p:sp>
        <p:nvSpPr>
          <p:cNvPr id="511" name="Text 12"/>
          <p:cNvSpPr/>
          <p:nvPr/>
        </p:nvSpPr>
        <p:spPr>
          <a:xfrm>
            <a:off x="548640" y="4069080"/>
            <a:ext cx="593280" cy="383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000" strike="noStrike" u="none">
                <a:solidFill>
                  <a:srgbClr val="f4a11a"/>
                </a:solidFill>
                <a:effectLst/>
                <a:uFillTx/>
                <a:latin typeface="Consolas"/>
                <a:ea typeface="Consolas"/>
              </a:rPr>
              <a:t>[b6]</a:t>
            </a:r>
            <a:endParaRPr b="0" lang="en-TR" sz="1000" strike="noStrike" u="none">
              <a:solidFill>
                <a:srgbClr val="000000"/>
              </a:solidFill>
              <a:effectLst/>
              <a:uFillTx/>
              <a:latin typeface="Arial"/>
            </a:endParaRPr>
          </a:p>
        </p:txBody>
      </p:sp>
      <p:sp>
        <p:nvSpPr>
          <p:cNvPr id="512" name="Text 13"/>
          <p:cNvSpPr/>
          <p:nvPr/>
        </p:nvSpPr>
        <p:spPr>
          <a:xfrm>
            <a:off x="1143000" y="4069080"/>
            <a:ext cx="4845240" cy="474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900" strike="noStrike" u="none">
                <a:solidFill>
                  <a:srgbClr val="334155"/>
                </a:solidFill>
                <a:effectLst/>
                <a:uFillTx/>
                <a:latin typeface="Calibri"/>
                <a:ea typeface="Calibri"/>
              </a:rPr>
              <a:t>J.-B. Seo, W. T. Toor, and H. Jin, "Analysis of Two-Step Random Access Procedure for Cellular Ultra-Reliable Low Latency Communications," IEEE Access, vol. 9, pp. 5972-5985, Jan. 2021. doi: 10.1109/ACCESS.2020.3048824.</a:t>
            </a:r>
            <a:endParaRPr b="0" lang="en-TR" sz="900" strike="noStrike" u="none">
              <a:solidFill>
                <a:srgbClr val="000000"/>
              </a:solidFill>
              <a:effectLst/>
              <a:uFillTx/>
              <a:latin typeface="Arial"/>
            </a:endParaRPr>
          </a:p>
        </p:txBody>
      </p:sp>
      <p:sp>
        <p:nvSpPr>
          <p:cNvPr id="513" name="Text 14"/>
          <p:cNvSpPr/>
          <p:nvPr/>
        </p:nvSpPr>
        <p:spPr>
          <a:xfrm>
            <a:off x="6172200" y="1691640"/>
            <a:ext cx="593280" cy="383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000" strike="noStrike" u="none">
                <a:solidFill>
                  <a:srgbClr val="f4a11a"/>
                </a:solidFill>
                <a:effectLst/>
                <a:uFillTx/>
                <a:latin typeface="Consolas"/>
                <a:ea typeface="Consolas"/>
              </a:rPr>
              <a:t>[b7]</a:t>
            </a:r>
            <a:endParaRPr b="0" lang="en-TR" sz="1000" strike="noStrike" u="none">
              <a:solidFill>
                <a:srgbClr val="000000"/>
              </a:solidFill>
              <a:effectLst/>
              <a:uFillTx/>
              <a:latin typeface="Arial"/>
            </a:endParaRPr>
          </a:p>
        </p:txBody>
      </p:sp>
      <p:sp>
        <p:nvSpPr>
          <p:cNvPr id="514" name="Text 15"/>
          <p:cNvSpPr/>
          <p:nvPr/>
        </p:nvSpPr>
        <p:spPr>
          <a:xfrm>
            <a:off x="6766560" y="1691640"/>
            <a:ext cx="4845240" cy="474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900" strike="noStrike" u="none">
                <a:solidFill>
                  <a:srgbClr val="334155"/>
                </a:solidFill>
                <a:effectLst/>
                <a:uFillTx/>
                <a:latin typeface="Calibri"/>
                <a:ea typeface="Calibri"/>
              </a:rPr>
              <a:t>S. K. Sharma and X. Wang, "Toward Massive Machine Type Communications in Ultra-Dense Cellular IoT Networks: Current Issues and Machine Learning-Assisted Solutions," IEEE Communications Surveys &amp; Tutorials, vol. 22, no. 1, pp. 426-471, 2020. doi: 10.1109/COMST.2019.2916177.</a:t>
            </a:r>
            <a:endParaRPr b="0" lang="en-TR" sz="900" strike="noStrike" u="none">
              <a:solidFill>
                <a:srgbClr val="000000"/>
              </a:solidFill>
              <a:effectLst/>
              <a:uFillTx/>
              <a:latin typeface="Arial"/>
            </a:endParaRPr>
          </a:p>
        </p:txBody>
      </p:sp>
      <p:sp>
        <p:nvSpPr>
          <p:cNvPr id="515" name="Text 16"/>
          <p:cNvSpPr/>
          <p:nvPr/>
        </p:nvSpPr>
        <p:spPr>
          <a:xfrm>
            <a:off x="6172200" y="2167200"/>
            <a:ext cx="593280" cy="383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000" strike="noStrike" u="none">
                <a:solidFill>
                  <a:srgbClr val="f4a11a"/>
                </a:solidFill>
                <a:effectLst/>
                <a:uFillTx/>
                <a:latin typeface="Consolas"/>
                <a:ea typeface="Consolas"/>
              </a:rPr>
              <a:t>[b8]</a:t>
            </a:r>
            <a:endParaRPr b="0" lang="en-TR" sz="1000" strike="noStrike" u="none">
              <a:solidFill>
                <a:srgbClr val="000000"/>
              </a:solidFill>
              <a:effectLst/>
              <a:uFillTx/>
              <a:latin typeface="Arial"/>
            </a:endParaRPr>
          </a:p>
        </p:txBody>
      </p:sp>
      <p:sp>
        <p:nvSpPr>
          <p:cNvPr id="516" name="Text 17"/>
          <p:cNvSpPr/>
          <p:nvPr/>
        </p:nvSpPr>
        <p:spPr>
          <a:xfrm>
            <a:off x="6766560" y="2167200"/>
            <a:ext cx="4845240" cy="474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900" strike="noStrike" u="none">
                <a:solidFill>
                  <a:srgbClr val="334155"/>
                </a:solidFill>
                <a:effectLst/>
                <a:uFillTx/>
                <a:latin typeface="Calibri"/>
                <a:ea typeface="Calibri"/>
              </a:rPr>
              <a:t>R. Dong, C. She, W. Hardjawana, Y. Li, and B. Vucetic, "Deep Learning for Radio Resource Allocation With Diverse Quality-of-Service Requirements in 5G," IEEE Transactions on Wireless Communications, vol. 20, no. 4, pp. 2309-2324, Apr. 2021. doi: 10.1109/TWC.2020.3041319.</a:t>
            </a:r>
            <a:endParaRPr b="0" lang="en-TR" sz="900" strike="noStrike" u="none">
              <a:solidFill>
                <a:srgbClr val="000000"/>
              </a:solidFill>
              <a:effectLst/>
              <a:uFillTx/>
              <a:latin typeface="Arial"/>
            </a:endParaRPr>
          </a:p>
        </p:txBody>
      </p:sp>
      <p:sp>
        <p:nvSpPr>
          <p:cNvPr id="517" name="Text 18"/>
          <p:cNvSpPr/>
          <p:nvPr/>
        </p:nvSpPr>
        <p:spPr>
          <a:xfrm>
            <a:off x="6172200" y="2642760"/>
            <a:ext cx="593280" cy="383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000" strike="noStrike" u="none">
                <a:solidFill>
                  <a:srgbClr val="f4a11a"/>
                </a:solidFill>
                <a:effectLst/>
                <a:uFillTx/>
                <a:latin typeface="Consolas"/>
                <a:ea typeface="Consolas"/>
              </a:rPr>
              <a:t>[b9]</a:t>
            </a:r>
            <a:endParaRPr b="0" lang="en-TR" sz="1000" strike="noStrike" u="none">
              <a:solidFill>
                <a:srgbClr val="000000"/>
              </a:solidFill>
              <a:effectLst/>
              <a:uFillTx/>
              <a:latin typeface="Arial"/>
            </a:endParaRPr>
          </a:p>
        </p:txBody>
      </p:sp>
      <p:sp>
        <p:nvSpPr>
          <p:cNvPr id="518" name="Text 19"/>
          <p:cNvSpPr/>
          <p:nvPr/>
        </p:nvSpPr>
        <p:spPr>
          <a:xfrm>
            <a:off x="6766560" y="2642760"/>
            <a:ext cx="4845240" cy="474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900" strike="noStrike" u="none">
                <a:solidFill>
                  <a:srgbClr val="334155"/>
                </a:solidFill>
                <a:effectLst/>
                <a:uFillTx/>
                <a:latin typeface="Calibri"/>
                <a:ea typeface="Calibri"/>
              </a:rPr>
              <a:t>C. Zhang, P. Patras, and H. Haddadi, "Deep Learning in Mobile and Wireless Networking: A Survey," IEEE Communications Surveys &amp; Tutorials, vol. 21, no. 3, pp. 2224-2287, 2019. doi: 10.1109/COMST.2019.2904897.</a:t>
            </a:r>
            <a:endParaRPr b="0" lang="en-TR" sz="900" strike="noStrike" u="none">
              <a:solidFill>
                <a:srgbClr val="000000"/>
              </a:solidFill>
              <a:effectLst/>
              <a:uFillTx/>
              <a:latin typeface="Arial"/>
            </a:endParaRPr>
          </a:p>
        </p:txBody>
      </p:sp>
      <p:sp>
        <p:nvSpPr>
          <p:cNvPr id="519" name="Text 20"/>
          <p:cNvSpPr/>
          <p:nvPr/>
        </p:nvSpPr>
        <p:spPr>
          <a:xfrm>
            <a:off x="6172200" y="3117960"/>
            <a:ext cx="593280" cy="383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000" strike="noStrike" u="none">
                <a:solidFill>
                  <a:srgbClr val="f4a11a"/>
                </a:solidFill>
                <a:effectLst/>
                <a:uFillTx/>
                <a:latin typeface="Consolas"/>
                <a:ea typeface="Consolas"/>
              </a:rPr>
              <a:t>[b10]</a:t>
            </a:r>
            <a:endParaRPr b="0" lang="en-TR" sz="1000" strike="noStrike" u="none">
              <a:solidFill>
                <a:srgbClr val="000000"/>
              </a:solidFill>
              <a:effectLst/>
              <a:uFillTx/>
              <a:latin typeface="Arial"/>
            </a:endParaRPr>
          </a:p>
        </p:txBody>
      </p:sp>
      <p:sp>
        <p:nvSpPr>
          <p:cNvPr id="520" name="Text 21"/>
          <p:cNvSpPr/>
          <p:nvPr/>
        </p:nvSpPr>
        <p:spPr>
          <a:xfrm>
            <a:off x="6766560" y="3117960"/>
            <a:ext cx="4845240" cy="474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900" strike="noStrike" u="none">
                <a:solidFill>
                  <a:srgbClr val="334155"/>
                </a:solidFill>
                <a:effectLst/>
                <a:uFillTx/>
                <a:latin typeface="Calibri"/>
                <a:ea typeface="Calibri"/>
              </a:rPr>
              <a:t>H. X. Nguyen, R. Trestian, D. To, and M. Tatipamula, "Digital Twin for 5G and Beyond," IEEE Communications Magazine, vol. 59, no. 2, pp. 10-15, Feb. 2021. doi: 10.1109/MCOM.001.2000343.</a:t>
            </a:r>
            <a:endParaRPr b="0" lang="en-TR" sz="900" strike="noStrike" u="none">
              <a:solidFill>
                <a:srgbClr val="000000"/>
              </a:solidFill>
              <a:effectLst/>
              <a:uFillTx/>
              <a:latin typeface="Arial"/>
            </a:endParaRPr>
          </a:p>
        </p:txBody>
      </p:sp>
      <p:sp>
        <p:nvSpPr>
          <p:cNvPr id="521" name="Text 22"/>
          <p:cNvSpPr/>
          <p:nvPr/>
        </p:nvSpPr>
        <p:spPr>
          <a:xfrm>
            <a:off x="6172200" y="3593520"/>
            <a:ext cx="593280" cy="383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000" strike="noStrike" u="none">
                <a:solidFill>
                  <a:srgbClr val="f4a11a"/>
                </a:solidFill>
                <a:effectLst/>
                <a:uFillTx/>
                <a:latin typeface="Consolas"/>
                <a:ea typeface="Consolas"/>
              </a:rPr>
              <a:t>[b14]</a:t>
            </a:r>
            <a:endParaRPr b="0" lang="en-TR" sz="1000" strike="noStrike" u="none">
              <a:solidFill>
                <a:srgbClr val="000000"/>
              </a:solidFill>
              <a:effectLst/>
              <a:uFillTx/>
              <a:latin typeface="Arial"/>
            </a:endParaRPr>
          </a:p>
        </p:txBody>
      </p:sp>
      <p:sp>
        <p:nvSpPr>
          <p:cNvPr id="522" name="Text 23"/>
          <p:cNvSpPr/>
          <p:nvPr/>
        </p:nvSpPr>
        <p:spPr>
          <a:xfrm>
            <a:off x="6766560" y="3593520"/>
            <a:ext cx="4845240" cy="474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900" strike="noStrike" u="none">
                <a:solidFill>
                  <a:srgbClr val="334155"/>
                </a:solidFill>
                <a:effectLst/>
                <a:uFillTx/>
                <a:latin typeface="Calibri"/>
                <a:ea typeface="Calibri"/>
              </a:rPr>
              <a:t>M. Polese, L. Bonati, S. D'Oro, S. Basagni, and T. Melodia, "Understanding O-RAN: Architecture, Interfaces, Algorithms, Security, and Research Challenges," IEEE Communications Surveys &amp; Tutorials, vol. 25, no. 2, pp. 1376-1411, 2023. doi: 10.1109/COMST.2023.3239220.</a:t>
            </a:r>
            <a:endParaRPr b="0" lang="en-TR" sz="900" strike="noStrike" u="none">
              <a:solidFill>
                <a:srgbClr val="000000"/>
              </a:solidFill>
              <a:effectLst/>
              <a:uFillTx/>
              <a:latin typeface="Arial"/>
            </a:endParaRPr>
          </a:p>
        </p:txBody>
      </p:sp>
      <p:sp>
        <p:nvSpPr>
          <p:cNvPr id="523" name="Shape 24"/>
          <p:cNvSpPr/>
          <p:nvPr/>
        </p:nvSpPr>
        <p:spPr>
          <a:xfrm>
            <a:off x="548640" y="6355080"/>
            <a:ext cx="11063160" cy="9720"/>
          </a:xfrm>
          <a:prstGeom prst="rect">
            <a:avLst/>
          </a:prstGeom>
          <a:solidFill>
            <a:srgbClr val="e2e8f0"/>
          </a:solidFill>
          <a:ln w="12700">
            <a:solidFill>
              <a:srgbClr val="e2e8f0"/>
            </a:solidFill>
            <a:round/>
          </a:ln>
        </p:spPr>
        <p:style>
          <a:lnRef idx="0"/>
          <a:fillRef idx="0"/>
          <a:effectRef idx="0"/>
          <a:fontRef idx="minor"/>
        </p:style>
        <p:txBody>
          <a:bodyPr lIns="90000" rIns="90000" tIns="-34200" bIns="-34200" anchor="t">
            <a:noAutofit/>
          </a:bodyPr>
          <a:p>
            <a:pPr>
              <a:lnSpc>
                <a:spcPct val="100000"/>
              </a:lnSpc>
            </a:pPr>
            <a:endParaRPr b="0" lang="en-TR" sz="1800" strike="noStrike" u="none">
              <a:solidFill>
                <a:srgbClr val="000000"/>
              </a:solidFill>
              <a:effectLst/>
              <a:uFillTx/>
              <a:latin typeface="Arial"/>
            </a:endParaRPr>
          </a:p>
        </p:txBody>
      </p:sp>
      <p:sp>
        <p:nvSpPr>
          <p:cNvPr id="524" name="Text 25"/>
          <p:cNvSpPr/>
          <p:nvPr/>
        </p:nvSpPr>
        <p:spPr>
          <a:xfrm>
            <a:off x="548640" y="6446520"/>
            <a:ext cx="7314120" cy="273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00" strike="noStrike" u="none">
                <a:solidFill>
                  <a:srgbClr val="64748b"/>
                </a:solidFill>
                <a:effectLst/>
                <a:uFillTx/>
                <a:latin typeface="Calibri"/>
                <a:ea typeface="Calibri"/>
              </a:rPr>
              <a:t>5G RRC Storm Mitigation  ·  Calibrated Digital Twin</a:t>
            </a:r>
            <a:endParaRPr b="0" lang="en-TR" sz="900" strike="noStrike" u="none">
              <a:solidFill>
                <a:srgbClr val="000000"/>
              </a:solidFill>
              <a:effectLst/>
              <a:uFillTx/>
              <a:latin typeface="Arial"/>
            </a:endParaRPr>
          </a:p>
        </p:txBody>
      </p:sp>
      <p:sp>
        <p:nvSpPr>
          <p:cNvPr id="525" name="Text 26"/>
          <p:cNvSpPr/>
          <p:nvPr/>
        </p:nvSpPr>
        <p:spPr>
          <a:xfrm>
            <a:off x="10698480" y="6446520"/>
            <a:ext cx="913320" cy="273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900" strike="noStrike" u="none">
                <a:solidFill>
                  <a:srgbClr val="64748b"/>
                </a:solidFill>
                <a:effectLst/>
                <a:uFillTx/>
                <a:latin typeface="Calibri"/>
                <a:ea typeface="Calibri"/>
              </a:rPr>
              <a:t>21 / 21</a:t>
            </a:r>
            <a:endParaRPr b="0" lang="en-TR"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21</TotalTime>
  <Application>LibreOffice/25.2.1.2$MacOSX_AARCH64 LibreOffice_project/d3abf4aee5fd705e4a92bba33a32f40bc4e56f49</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2026-05-05T11:03:18Z</dcterms:created>
  <dc:creator>Omer Dikyol</dc:creator>
  <dc:description/>
  <dc:language>en-TR</dc:language>
  <cp:lastModifiedBy/>
  <cp:lastPrinted>2026-05-14T14:17:01Z</cp:lastPrinted>
  <dcterms:modified xsi:type="dcterms:W3CDTF">2026-05-14T14:23:08Z</dcterms:modified>
  <cp:revision>10</cp:revision>
  <dc:subject>PptxGenJS Presentation</dc:subject>
  <dc:title>5G RRC Signaling Storm Mitigation via a Proactive Digital Twin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21</vt:i4>
  </property>
  <property fmtid="{D5CDD505-2E9C-101B-9397-08002B2CF9AE}" pid="3" name="PresentationFormat">
    <vt:lpwstr>On-screen Show (16:9)</vt:lpwstr>
  </property>
  <property fmtid="{D5CDD505-2E9C-101B-9397-08002B2CF9AE}" pid="4" name="Slides">
    <vt:i4>21</vt:i4>
  </property>
</Properties>
</file>